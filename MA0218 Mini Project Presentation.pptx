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Inter Heavy" charset="1" panose="02000503000000020004"/>
      <p:regular r:id="rId56"/>
    </p:embeddedFont>
    <p:embeddedFont>
      <p:font typeface="Poppins" charset="1" panose="00000500000000000000"/>
      <p:regular r:id="rId57"/>
    </p:embeddedFont>
    <p:embeddedFont>
      <p:font typeface="Poppins Bold" charset="1" panose="00000800000000000000"/>
      <p:regular r:id="rId58"/>
    </p:embeddedFont>
    <p:embeddedFont>
      <p:font typeface="Inter Bold" charset="1" panose="020B0802030000000004"/>
      <p:regular r:id="rId59"/>
    </p:embeddedFont>
    <p:embeddedFont>
      <p:font typeface="Canva Sans Bold" charset="1" panose="020B0803030501040103"/>
      <p:regular r:id="rId60"/>
    </p:embeddedFont>
    <p:embeddedFont>
      <p:font typeface="Helvetica Now" charset="1" panose="020B0504030202020204"/>
      <p:regular r:id="rId61"/>
    </p:embeddedFont>
    <p:embeddedFont>
      <p:font typeface="Helvetica Now Bold" charset="1" panose="020B0804030202020204"/>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svg" Type="http://schemas.openxmlformats.org/officeDocument/2006/relationships/image"/><Relationship Id="rId2" Target="../media/image39.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4.png" Type="http://schemas.openxmlformats.org/officeDocument/2006/relationships/image"/><Relationship Id="rId5" Target="../media/image55.svg" Type="http://schemas.openxmlformats.org/officeDocument/2006/relationships/image"/><Relationship Id="rId6" Target="../media/image56.png" Type="http://schemas.openxmlformats.org/officeDocument/2006/relationships/image"/><Relationship Id="rId7" Target="../media/image57.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31982" y="-190239"/>
            <a:ext cx="3015641" cy="5228051"/>
            <a:chOff x="0" y="0"/>
            <a:chExt cx="794243" cy="1376935"/>
          </a:xfrm>
        </p:grpSpPr>
        <p:sp>
          <p:nvSpPr>
            <p:cNvPr name="Freeform 3" id="3"/>
            <p:cNvSpPr/>
            <p:nvPr/>
          </p:nvSpPr>
          <p:spPr>
            <a:xfrm flipH="false" flipV="false" rot="0">
              <a:off x="0" y="0"/>
              <a:ext cx="794243" cy="1376935"/>
            </a:xfrm>
            <a:custGeom>
              <a:avLst/>
              <a:gdLst/>
              <a:ahLst/>
              <a:cxnLst/>
              <a:rect r="r" b="b" t="t" l="l"/>
              <a:pathLst>
                <a:path h="1376935" w="794243">
                  <a:moveTo>
                    <a:pt x="0" y="0"/>
                  </a:moveTo>
                  <a:lnTo>
                    <a:pt x="794243" y="0"/>
                  </a:lnTo>
                  <a:lnTo>
                    <a:pt x="794243" y="1376935"/>
                  </a:lnTo>
                  <a:lnTo>
                    <a:pt x="0" y="1376935"/>
                  </a:lnTo>
                  <a:close/>
                </a:path>
              </a:pathLst>
            </a:custGeom>
            <a:solidFill>
              <a:srgbClr val="F7F5FF"/>
            </a:solidFill>
          </p:spPr>
        </p:sp>
        <p:sp>
          <p:nvSpPr>
            <p:cNvPr name="TextBox 4" id="4"/>
            <p:cNvSpPr txBox="true"/>
            <p:nvPr/>
          </p:nvSpPr>
          <p:spPr>
            <a:xfrm>
              <a:off x="0" y="-38100"/>
              <a:ext cx="794243" cy="141503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4148464" y="6418806"/>
            <a:ext cx="3015641" cy="5228051"/>
            <a:chOff x="0" y="0"/>
            <a:chExt cx="794243" cy="1376935"/>
          </a:xfrm>
        </p:grpSpPr>
        <p:sp>
          <p:nvSpPr>
            <p:cNvPr name="Freeform 6" id="6"/>
            <p:cNvSpPr/>
            <p:nvPr/>
          </p:nvSpPr>
          <p:spPr>
            <a:xfrm flipH="false" flipV="false" rot="0">
              <a:off x="0" y="0"/>
              <a:ext cx="794243" cy="1376935"/>
            </a:xfrm>
            <a:custGeom>
              <a:avLst/>
              <a:gdLst/>
              <a:ahLst/>
              <a:cxnLst/>
              <a:rect r="r" b="b" t="t" l="l"/>
              <a:pathLst>
                <a:path h="1376935" w="794243">
                  <a:moveTo>
                    <a:pt x="0" y="0"/>
                  </a:moveTo>
                  <a:lnTo>
                    <a:pt x="794243" y="0"/>
                  </a:lnTo>
                  <a:lnTo>
                    <a:pt x="794243" y="1376935"/>
                  </a:lnTo>
                  <a:lnTo>
                    <a:pt x="0" y="1376935"/>
                  </a:lnTo>
                  <a:close/>
                </a:path>
              </a:pathLst>
            </a:custGeom>
            <a:solidFill>
              <a:srgbClr val="F7F5FF"/>
            </a:solidFill>
          </p:spPr>
        </p:sp>
        <p:sp>
          <p:nvSpPr>
            <p:cNvPr name="TextBox 7" id="7"/>
            <p:cNvSpPr txBox="true"/>
            <p:nvPr/>
          </p:nvSpPr>
          <p:spPr>
            <a:xfrm>
              <a:off x="0" y="-38100"/>
              <a:ext cx="794243" cy="141503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909724" y="2253168"/>
            <a:ext cx="6361116" cy="5780664"/>
          </a:xfrm>
          <a:custGeom>
            <a:avLst/>
            <a:gdLst/>
            <a:ahLst/>
            <a:cxnLst/>
            <a:rect r="r" b="b" t="t" l="l"/>
            <a:pathLst>
              <a:path h="5780664" w="6361116">
                <a:moveTo>
                  <a:pt x="0" y="0"/>
                </a:moveTo>
                <a:lnTo>
                  <a:pt x="6361116" y="0"/>
                </a:lnTo>
                <a:lnTo>
                  <a:pt x="6361116" y="5780664"/>
                </a:lnTo>
                <a:lnTo>
                  <a:pt x="0" y="5780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226107" y="-2994503"/>
            <a:ext cx="4916178" cy="491617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4706016" y="9188768"/>
            <a:ext cx="4916178" cy="49161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8781725" y="6630183"/>
            <a:ext cx="6863778" cy="746864"/>
            <a:chOff x="0" y="0"/>
            <a:chExt cx="1807744" cy="196705"/>
          </a:xfrm>
        </p:grpSpPr>
        <p:sp>
          <p:nvSpPr>
            <p:cNvPr name="Freeform 16" id="16"/>
            <p:cNvSpPr/>
            <p:nvPr/>
          </p:nvSpPr>
          <p:spPr>
            <a:xfrm flipH="false" flipV="false" rot="0">
              <a:off x="0" y="0"/>
              <a:ext cx="1807744" cy="196705"/>
            </a:xfrm>
            <a:custGeom>
              <a:avLst/>
              <a:gdLst/>
              <a:ahLst/>
              <a:cxnLst/>
              <a:rect r="r" b="b" t="t" l="l"/>
              <a:pathLst>
                <a:path h="196705" w="1807744">
                  <a:moveTo>
                    <a:pt x="98353" y="0"/>
                  </a:moveTo>
                  <a:lnTo>
                    <a:pt x="1709392" y="0"/>
                  </a:lnTo>
                  <a:cubicBezTo>
                    <a:pt x="1763710" y="0"/>
                    <a:pt x="1807744" y="44034"/>
                    <a:pt x="1807744" y="98353"/>
                  </a:cubicBezTo>
                  <a:lnTo>
                    <a:pt x="1807744" y="98353"/>
                  </a:lnTo>
                  <a:cubicBezTo>
                    <a:pt x="1807744" y="124437"/>
                    <a:pt x="1797382" y="149454"/>
                    <a:pt x="1778937" y="167898"/>
                  </a:cubicBezTo>
                  <a:cubicBezTo>
                    <a:pt x="1760493" y="186343"/>
                    <a:pt x="1735476" y="196705"/>
                    <a:pt x="1709392" y="196705"/>
                  </a:cubicBezTo>
                  <a:lnTo>
                    <a:pt x="98353" y="196705"/>
                  </a:lnTo>
                  <a:cubicBezTo>
                    <a:pt x="72268" y="196705"/>
                    <a:pt x="47251" y="186343"/>
                    <a:pt x="28807" y="167898"/>
                  </a:cubicBezTo>
                  <a:cubicBezTo>
                    <a:pt x="10362" y="149454"/>
                    <a:pt x="0" y="124437"/>
                    <a:pt x="0" y="98353"/>
                  </a:cubicBezTo>
                  <a:lnTo>
                    <a:pt x="0" y="98353"/>
                  </a:lnTo>
                  <a:cubicBezTo>
                    <a:pt x="0" y="72268"/>
                    <a:pt x="10362" y="47251"/>
                    <a:pt x="28807" y="28807"/>
                  </a:cubicBezTo>
                  <a:cubicBezTo>
                    <a:pt x="47251" y="10362"/>
                    <a:pt x="72268" y="0"/>
                    <a:pt x="98353" y="0"/>
                  </a:cubicBezTo>
                  <a:close/>
                </a:path>
              </a:pathLst>
            </a:custGeom>
            <a:solidFill>
              <a:srgbClr val="FFCC33"/>
            </a:solidFill>
          </p:spPr>
        </p:sp>
        <p:sp>
          <p:nvSpPr>
            <p:cNvPr name="TextBox 17" id="17"/>
            <p:cNvSpPr txBox="true"/>
            <p:nvPr/>
          </p:nvSpPr>
          <p:spPr>
            <a:xfrm>
              <a:off x="0" y="-38100"/>
              <a:ext cx="1807744" cy="234805"/>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4969221" y="1028700"/>
            <a:ext cx="2290079" cy="1173666"/>
          </a:xfrm>
          <a:custGeom>
            <a:avLst/>
            <a:gdLst/>
            <a:ahLst/>
            <a:cxnLst/>
            <a:rect r="r" b="b" t="t" l="l"/>
            <a:pathLst>
              <a:path h="1173666" w="2290079">
                <a:moveTo>
                  <a:pt x="0" y="0"/>
                </a:moveTo>
                <a:lnTo>
                  <a:pt x="2290079" y="0"/>
                </a:lnTo>
                <a:lnTo>
                  <a:pt x="2290079" y="1173666"/>
                </a:lnTo>
                <a:lnTo>
                  <a:pt x="0" y="1173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9" id="19"/>
          <p:cNvSpPr/>
          <p:nvPr/>
        </p:nvSpPr>
        <p:spPr>
          <a:xfrm flipH="false" flipV="false" rot="0">
            <a:off x="774255" y="7849122"/>
            <a:ext cx="508889" cy="1507820"/>
          </a:xfrm>
          <a:custGeom>
            <a:avLst/>
            <a:gdLst/>
            <a:ahLst/>
            <a:cxnLst/>
            <a:rect r="r" b="b" t="t" l="l"/>
            <a:pathLst>
              <a:path h="1507820" w="508889">
                <a:moveTo>
                  <a:pt x="0" y="0"/>
                </a:moveTo>
                <a:lnTo>
                  <a:pt x="508890" y="0"/>
                </a:lnTo>
                <a:lnTo>
                  <a:pt x="508890" y="1507820"/>
                </a:lnTo>
                <a:lnTo>
                  <a:pt x="0" y="15078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0" id="20"/>
          <p:cNvSpPr/>
          <p:nvPr/>
        </p:nvSpPr>
        <p:spPr>
          <a:xfrm flipH="false" flipV="false" rot="0">
            <a:off x="15497330" y="8741668"/>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21" id="21"/>
          <p:cNvSpPr txBox="true"/>
          <p:nvPr/>
        </p:nvSpPr>
        <p:spPr>
          <a:xfrm rot="0">
            <a:off x="8781725" y="3068467"/>
            <a:ext cx="7889352" cy="3561716"/>
          </a:xfrm>
          <a:prstGeom prst="rect">
            <a:avLst/>
          </a:prstGeom>
        </p:spPr>
        <p:txBody>
          <a:bodyPr anchor="t" rtlCol="false" tIns="0" lIns="0" bIns="0" rIns="0">
            <a:spAutoFit/>
          </a:bodyPr>
          <a:lstStyle/>
          <a:p>
            <a:pPr algn="l">
              <a:lnSpc>
                <a:spcPts val="9200"/>
              </a:lnSpc>
            </a:pPr>
            <a:r>
              <a:rPr lang="en-US" sz="9200" b="true">
                <a:solidFill>
                  <a:srgbClr val="6644A8"/>
                </a:solidFill>
                <a:latin typeface="Inter Heavy"/>
                <a:ea typeface="Inter Heavy"/>
                <a:cs typeface="Inter Heavy"/>
                <a:sym typeface="Inter Heavy"/>
              </a:rPr>
              <a:t>CREDIT CARD FRAUD DETECTION</a:t>
            </a:r>
          </a:p>
        </p:txBody>
      </p:sp>
      <p:sp>
        <p:nvSpPr>
          <p:cNvPr name="TextBox 22" id="22"/>
          <p:cNvSpPr txBox="true"/>
          <p:nvPr/>
        </p:nvSpPr>
        <p:spPr>
          <a:xfrm rot="0">
            <a:off x="9260100" y="6749665"/>
            <a:ext cx="5907028" cy="441325"/>
          </a:xfrm>
          <a:prstGeom prst="rect">
            <a:avLst/>
          </a:prstGeom>
        </p:spPr>
        <p:txBody>
          <a:bodyPr anchor="t" rtlCol="false" tIns="0" lIns="0" bIns="0" rIns="0">
            <a:spAutoFit/>
          </a:bodyPr>
          <a:lstStyle/>
          <a:p>
            <a:pPr algn="l">
              <a:lnSpc>
                <a:spcPts val="3499"/>
              </a:lnSpc>
            </a:pPr>
            <a:r>
              <a:rPr lang="en-US" sz="2499">
                <a:solidFill>
                  <a:srgbClr val="000000"/>
                </a:solidFill>
                <a:latin typeface="Poppins"/>
                <a:ea typeface="Poppins"/>
                <a:cs typeface="Poppins"/>
                <a:sym typeface="Poppins"/>
              </a:rPr>
              <a:t>Presented By : Anomaly Detectors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14625" y="-789140"/>
            <a:ext cx="3015641" cy="11865279"/>
            <a:chOff x="0" y="0"/>
            <a:chExt cx="794243" cy="3125012"/>
          </a:xfrm>
        </p:grpSpPr>
        <p:sp>
          <p:nvSpPr>
            <p:cNvPr name="Freeform 3" id="3"/>
            <p:cNvSpPr/>
            <p:nvPr/>
          </p:nvSpPr>
          <p:spPr>
            <a:xfrm flipH="false" flipV="false" rot="0">
              <a:off x="0" y="0"/>
              <a:ext cx="794243" cy="3125012"/>
            </a:xfrm>
            <a:custGeom>
              <a:avLst/>
              <a:gdLst/>
              <a:ahLst/>
              <a:cxnLst/>
              <a:rect r="r" b="b" t="t" l="l"/>
              <a:pathLst>
                <a:path h="3125012" w="794243">
                  <a:moveTo>
                    <a:pt x="0" y="0"/>
                  </a:moveTo>
                  <a:lnTo>
                    <a:pt x="794243" y="0"/>
                  </a:lnTo>
                  <a:lnTo>
                    <a:pt x="794243" y="3125012"/>
                  </a:lnTo>
                  <a:lnTo>
                    <a:pt x="0" y="3125012"/>
                  </a:lnTo>
                  <a:close/>
                </a:path>
              </a:pathLst>
            </a:custGeom>
            <a:solidFill>
              <a:srgbClr val="F7F5FF"/>
            </a:solidFill>
          </p:spPr>
        </p:sp>
        <p:sp>
          <p:nvSpPr>
            <p:cNvPr name="TextBox 4" id="4"/>
            <p:cNvSpPr txBox="true"/>
            <p:nvPr/>
          </p:nvSpPr>
          <p:spPr>
            <a:xfrm>
              <a:off x="0" y="-38100"/>
              <a:ext cx="794243" cy="316311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39438" y="2160492"/>
            <a:ext cx="5966016" cy="596601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497330" y="88112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8301402" y="2499545"/>
            <a:ext cx="775048" cy="77504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4199"/>
                </a:lnSpc>
              </a:pPr>
            </a:p>
          </p:txBody>
        </p:sp>
      </p:grpSp>
      <p:grpSp>
        <p:nvGrpSpPr>
          <p:cNvPr name="Group 12" id="12"/>
          <p:cNvGrpSpPr/>
          <p:nvPr/>
        </p:nvGrpSpPr>
        <p:grpSpPr>
          <a:xfrm rot="0">
            <a:off x="8301402" y="3615243"/>
            <a:ext cx="775048" cy="77504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4199"/>
                </a:lnSpc>
              </a:pPr>
            </a:p>
          </p:txBody>
        </p:sp>
      </p:grpSp>
      <p:sp>
        <p:nvSpPr>
          <p:cNvPr name="Freeform 15" id="15"/>
          <p:cNvSpPr/>
          <p:nvPr/>
        </p:nvSpPr>
        <p:spPr>
          <a:xfrm flipH="false" flipV="false" rot="-5400000">
            <a:off x="16250945" y="417376"/>
            <a:ext cx="508889" cy="1507820"/>
          </a:xfrm>
          <a:custGeom>
            <a:avLst/>
            <a:gdLst/>
            <a:ahLst/>
            <a:cxnLst/>
            <a:rect r="r" b="b" t="t" l="l"/>
            <a:pathLst>
              <a:path h="1507820" w="508889">
                <a:moveTo>
                  <a:pt x="0" y="0"/>
                </a:moveTo>
                <a:lnTo>
                  <a:pt x="508889" y="0"/>
                </a:lnTo>
                <a:lnTo>
                  <a:pt x="508889" y="1507820"/>
                </a:lnTo>
                <a:lnTo>
                  <a:pt x="0" y="1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16" id="16"/>
          <p:cNvGrpSpPr/>
          <p:nvPr/>
        </p:nvGrpSpPr>
        <p:grpSpPr>
          <a:xfrm rot="0">
            <a:off x="8301402" y="4730941"/>
            <a:ext cx="775048" cy="77504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4199"/>
                </a:lnSpc>
              </a:pPr>
            </a:p>
          </p:txBody>
        </p:sp>
      </p:grpSp>
      <p:grpSp>
        <p:nvGrpSpPr>
          <p:cNvPr name="Group 19" id="19"/>
          <p:cNvGrpSpPr/>
          <p:nvPr/>
        </p:nvGrpSpPr>
        <p:grpSpPr>
          <a:xfrm rot="0">
            <a:off x="8301402" y="5846640"/>
            <a:ext cx="775048" cy="77504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4199"/>
                </a:lnSpc>
              </a:pPr>
            </a:p>
          </p:txBody>
        </p:sp>
      </p:grpSp>
      <p:grpSp>
        <p:nvGrpSpPr>
          <p:cNvPr name="Group 22" id="22"/>
          <p:cNvGrpSpPr/>
          <p:nvPr/>
        </p:nvGrpSpPr>
        <p:grpSpPr>
          <a:xfrm rot="0">
            <a:off x="8301402" y="6962338"/>
            <a:ext cx="775048" cy="77504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4199"/>
                </a:lnSpc>
              </a:pPr>
            </a:p>
          </p:txBody>
        </p:sp>
      </p:grpSp>
      <p:sp>
        <p:nvSpPr>
          <p:cNvPr name="Freeform 25" id="25"/>
          <p:cNvSpPr/>
          <p:nvPr/>
        </p:nvSpPr>
        <p:spPr>
          <a:xfrm flipH="false" flipV="false" rot="0">
            <a:off x="1992969" y="1973217"/>
            <a:ext cx="1443312" cy="1599238"/>
          </a:xfrm>
          <a:custGeom>
            <a:avLst/>
            <a:gdLst/>
            <a:ahLst/>
            <a:cxnLst/>
            <a:rect r="r" b="b" t="t" l="l"/>
            <a:pathLst>
              <a:path h="1599238" w="1443312">
                <a:moveTo>
                  <a:pt x="0" y="0"/>
                </a:moveTo>
                <a:lnTo>
                  <a:pt x="1443312" y="0"/>
                </a:lnTo>
                <a:lnTo>
                  <a:pt x="1443312" y="1599237"/>
                </a:lnTo>
                <a:lnTo>
                  <a:pt x="0" y="15992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6" id="26"/>
          <p:cNvSpPr txBox="true"/>
          <p:nvPr/>
        </p:nvSpPr>
        <p:spPr>
          <a:xfrm rot="0">
            <a:off x="1239438" y="4217068"/>
            <a:ext cx="5966016" cy="1995740"/>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TABLE OF CONTENT</a:t>
            </a:r>
          </a:p>
        </p:txBody>
      </p:sp>
      <p:sp>
        <p:nvSpPr>
          <p:cNvPr name="TextBox 27" id="27"/>
          <p:cNvSpPr txBox="true"/>
          <p:nvPr/>
        </p:nvSpPr>
        <p:spPr>
          <a:xfrm rot="0">
            <a:off x="9323056" y="2508926"/>
            <a:ext cx="8277449"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DATA PREPARATION</a:t>
            </a:r>
          </a:p>
        </p:txBody>
      </p:sp>
      <p:sp>
        <p:nvSpPr>
          <p:cNvPr name="TextBox 28" id="28"/>
          <p:cNvSpPr txBox="true"/>
          <p:nvPr/>
        </p:nvSpPr>
        <p:spPr>
          <a:xfrm rot="0">
            <a:off x="8441034" y="2508926"/>
            <a:ext cx="495784"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1</a:t>
            </a:r>
          </a:p>
        </p:txBody>
      </p:sp>
      <p:sp>
        <p:nvSpPr>
          <p:cNvPr name="TextBox 29" id="29"/>
          <p:cNvSpPr txBox="true"/>
          <p:nvPr/>
        </p:nvSpPr>
        <p:spPr>
          <a:xfrm rot="0">
            <a:off x="8441034" y="3624624"/>
            <a:ext cx="495784"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2</a:t>
            </a:r>
          </a:p>
        </p:txBody>
      </p:sp>
      <p:sp>
        <p:nvSpPr>
          <p:cNvPr name="TextBox 30" id="30"/>
          <p:cNvSpPr txBox="true"/>
          <p:nvPr/>
        </p:nvSpPr>
        <p:spPr>
          <a:xfrm rot="0">
            <a:off x="9323056" y="3624624"/>
            <a:ext cx="5907028"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DATA VISUALISATION</a:t>
            </a:r>
          </a:p>
        </p:txBody>
      </p:sp>
      <p:sp>
        <p:nvSpPr>
          <p:cNvPr name="TextBox 31" id="31"/>
          <p:cNvSpPr txBox="true"/>
          <p:nvPr/>
        </p:nvSpPr>
        <p:spPr>
          <a:xfrm rot="0">
            <a:off x="9323056" y="4740322"/>
            <a:ext cx="5907028"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MODEL SELECTION</a:t>
            </a:r>
          </a:p>
        </p:txBody>
      </p:sp>
      <p:sp>
        <p:nvSpPr>
          <p:cNvPr name="TextBox 32" id="32"/>
          <p:cNvSpPr txBox="true"/>
          <p:nvPr/>
        </p:nvSpPr>
        <p:spPr>
          <a:xfrm rot="0">
            <a:off x="9323056" y="5856021"/>
            <a:ext cx="7936244"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HYPER-PARAMETER TUNING</a:t>
            </a:r>
          </a:p>
        </p:txBody>
      </p:sp>
      <p:sp>
        <p:nvSpPr>
          <p:cNvPr name="TextBox 33" id="33"/>
          <p:cNvSpPr txBox="true"/>
          <p:nvPr/>
        </p:nvSpPr>
        <p:spPr>
          <a:xfrm rot="0">
            <a:off x="9323056" y="6964588"/>
            <a:ext cx="5907028"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EVALUATION AND RESULTS</a:t>
            </a:r>
          </a:p>
        </p:txBody>
      </p:sp>
      <p:sp>
        <p:nvSpPr>
          <p:cNvPr name="TextBox 34" id="34"/>
          <p:cNvSpPr txBox="true"/>
          <p:nvPr/>
        </p:nvSpPr>
        <p:spPr>
          <a:xfrm rot="0">
            <a:off x="8441034" y="4742716"/>
            <a:ext cx="495784"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3</a:t>
            </a:r>
          </a:p>
        </p:txBody>
      </p:sp>
      <p:sp>
        <p:nvSpPr>
          <p:cNvPr name="TextBox 35" id="35"/>
          <p:cNvSpPr txBox="true"/>
          <p:nvPr/>
        </p:nvSpPr>
        <p:spPr>
          <a:xfrm rot="0">
            <a:off x="8441034" y="5858414"/>
            <a:ext cx="495784"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4</a:t>
            </a:r>
          </a:p>
        </p:txBody>
      </p:sp>
      <p:sp>
        <p:nvSpPr>
          <p:cNvPr name="TextBox 36" id="36"/>
          <p:cNvSpPr txBox="true"/>
          <p:nvPr/>
        </p:nvSpPr>
        <p:spPr>
          <a:xfrm rot="0">
            <a:off x="8441034" y="6964588"/>
            <a:ext cx="495784"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5</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472" y="6742738"/>
            <a:ext cx="5402345" cy="540234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716676" y="-5098893"/>
            <a:ext cx="9249401" cy="924940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5497330" y="88112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1028700" y="1171575"/>
            <a:ext cx="10334468" cy="102425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PROBLEM </a:t>
            </a:r>
          </a:p>
        </p:txBody>
      </p:sp>
      <p:sp>
        <p:nvSpPr>
          <p:cNvPr name="TextBox 10" id="10"/>
          <p:cNvSpPr txBox="true"/>
          <p:nvPr/>
        </p:nvSpPr>
        <p:spPr>
          <a:xfrm rot="0">
            <a:off x="1028700" y="2257055"/>
            <a:ext cx="10524006" cy="3171826"/>
          </a:xfrm>
          <a:prstGeom prst="rect">
            <a:avLst/>
          </a:prstGeom>
        </p:spPr>
        <p:txBody>
          <a:bodyPr anchor="t" rtlCol="false" tIns="0" lIns="0" bIns="0" rIns="0">
            <a:spAutoFit/>
          </a:bodyPr>
          <a:lstStyle/>
          <a:p>
            <a:pPr algn="just">
              <a:lnSpc>
                <a:spcPts val="6299"/>
              </a:lnSpc>
            </a:pPr>
            <a:r>
              <a:rPr lang="en-US" sz="4499">
                <a:solidFill>
                  <a:srgbClr val="000000"/>
                </a:solidFill>
                <a:latin typeface="Poppins"/>
                <a:ea typeface="Poppins"/>
                <a:cs typeface="Poppins"/>
                <a:sym typeface="Poppins"/>
              </a:rPr>
              <a:t>Can we detect potentially </a:t>
            </a:r>
            <a:r>
              <a:rPr lang="en-US" sz="4499" b="true">
                <a:solidFill>
                  <a:srgbClr val="000000"/>
                </a:solidFill>
                <a:latin typeface="Poppins Bold"/>
                <a:ea typeface="Poppins Bold"/>
                <a:cs typeface="Poppins Bold"/>
                <a:sym typeface="Poppins Bold"/>
              </a:rPr>
              <a:t>fraudulent transactions</a:t>
            </a:r>
            <a:r>
              <a:rPr lang="en-US" sz="4499">
                <a:solidFill>
                  <a:srgbClr val="000000"/>
                </a:solidFill>
                <a:latin typeface="Poppins"/>
                <a:ea typeface="Poppins"/>
                <a:cs typeface="Poppins"/>
                <a:sym typeface="Poppins"/>
              </a:rPr>
              <a:t> based on customer profiles and transaction behavior?</a:t>
            </a:r>
          </a:p>
        </p:txBody>
      </p:sp>
      <p:sp>
        <p:nvSpPr>
          <p:cNvPr name="TextBox 11" id="11"/>
          <p:cNvSpPr txBox="true"/>
          <p:nvPr/>
        </p:nvSpPr>
        <p:spPr>
          <a:xfrm rot="0">
            <a:off x="3413949" y="5722809"/>
            <a:ext cx="12964366" cy="3721101"/>
          </a:xfrm>
          <a:prstGeom prst="rect">
            <a:avLst/>
          </a:prstGeom>
        </p:spPr>
        <p:txBody>
          <a:bodyPr anchor="t" rtlCol="false" tIns="0" lIns="0" bIns="0" rIns="0">
            <a:spAutoFit/>
          </a:bodyPr>
          <a:lstStyle/>
          <a:p>
            <a:pPr algn="just" marL="755644" indent="-377822" lvl="1">
              <a:lnSpc>
                <a:spcPts val="4899"/>
              </a:lnSpc>
              <a:buFont typeface="Arial"/>
              <a:buChar char="•"/>
            </a:pPr>
            <a:r>
              <a:rPr lang="en-US" sz="3499">
                <a:solidFill>
                  <a:srgbClr val="000000"/>
                </a:solidFill>
                <a:latin typeface="Poppins"/>
                <a:ea typeface="Poppins"/>
                <a:cs typeface="Poppins"/>
                <a:sym typeface="Poppins"/>
              </a:rPr>
              <a:t>The objective is to flag suspicious transactions as fraudulent.</a:t>
            </a:r>
          </a:p>
          <a:p>
            <a:pPr algn="just" marL="755644" indent="-377822" lvl="1">
              <a:lnSpc>
                <a:spcPts val="4899"/>
              </a:lnSpc>
              <a:buFont typeface="Arial"/>
              <a:buChar char="•"/>
            </a:pPr>
            <a:r>
              <a:rPr lang="en-US" sz="3499">
                <a:solidFill>
                  <a:srgbClr val="000000"/>
                </a:solidFill>
                <a:latin typeface="Poppins"/>
                <a:ea typeface="Poppins"/>
                <a:cs typeface="Poppins"/>
                <a:sym typeface="Poppins"/>
              </a:rPr>
              <a:t>Use available features such as </a:t>
            </a:r>
            <a:r>
              <a:rPr lang="en-US" b="true" sz="3499">
                <a:solidFill>
                  <a:srgbClr val="000000"/>
                </a:solidFill>
                <a:latin typeface="Poppins Bold"/>
                <a:ea typeface="Poppins Bold"/>
                <a:cs typeface="Poppins Bold"/>
                <a:sym typeface="Poppins Bold"/>
              </a:rPr>
              <a:t>transaction amount, income category, demographic attributes</a:t>
            </a:r>
            <a:r>
              <a:rPr lang="en-US" sz="3499">
                <a:solidFill>
                  <a:srgbClr val="000000"/>
                </a:solidFill>
                <a:latin typeface="Poppins"/>
                <a:ea typeface="Poppins"/>
                <a:cs typeface="Poppins"/>
                <a:sym typeface="Poppins"/>
              </a:rPr>
              <a:t> (e.g., age, gender).</a:t>
            </a:r>
          </a:p>
          <a:p>
            <a:pPr algn="just">
              <a:lnSpc>
                <a:spcPts val="48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81275" y="-5426920"/>
            <a:ext cx="8453215" cy="8453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927920" y="8955591"/>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2579542" y="8955591"/>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4264796" y="8955591"/>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5950050" y="8955591"/>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705279" y="2764706"/>
            <a:ext cx="14591021" cy="5801361"/>
          </a:xfrm>
          <a:prstGeom prst="rect">
            <a:avLst/>
          </a:prstGeom>
        </p:spPr>
        <p:txBody>
          <a:bodyPr anchor="t" rtlCol="false" tIns="0" lIns="0" bIns="0" rIns="0">
            <a:spAutoFit/>
          </a:bodyPr>
          <a:lstStyle/>
          <a:p>
            <a:pPr algn="just">
              <a:lnSpc>
                <a:spcPts val="5739"/>
              </a:lnSpc>
            </a:pPr>
            <a:r>
              <a:rPr lang="en-US" sz="4099">
                <a:solidFill>
                  <a:srgbClr val="000000"/>
                </a:solidFill>
                <a:latin typeface="Poppins"/>
                <a:ea typeface="Poppins"/>
                <a:cs typeface="Poppins"/>
                <a:sym typeface="Poppins"/>
              </a:rPr>
              <a:t>Combine dataset</a:t>
            </a:r>
          </a:p>
          <a:p>
            <a:pPr algn="just" marL="885181" indent="-442590" lvl="1">
              <a:lnSpc>
                <a:spcPts val="5739"/>
              </a:lnSpc>
              <a:buFont typeface="Arial"/>
              <a:buChar char="•"/>
            </a:pPr>
            <a:r>
              <a:rPr lang="en-US" sz="4099">
                <a:solidFill>
                  <a:srgbClr val="000000"/>
                </a:solidFill>
                <a:latin typeface="Poppins"/>
                <a:ea typeface="Poppins"/>
                <a:cs typeface="Poppins"/>
                <a:sym typeface="Poppins"/>
              </a:rPr>
              <a:t>Merged Finance, Revenue Target, and Customer Info using </a:t>
            </a:r>
            <a:r>
              <a:rPr lang="en-US" b="true" sz="4099" u="sng">
                <a:solidFill>
                  <a:srgbClr val="000000"/>
                </a:solidFill>
                <a:latin typeface="Poppins Bold"/>
                <a:ea typeface="Poppins Bold"/>
                <a:cs typeface="Poppins Bold"/>
                <a:sym typeface="Poppins Bold"/>
              </a:rPr>
              <a:t>CLIENTNUM</a:t>
            </a:r>
            <a:r>
              <a:rPr lang="en-US" sz="4099">
                <a:solidFill>
                  <a:srgbClr val="000000"/>
                </a:solidFill>
                <a:latin typeface="Poppins"/>
                <a:ea typeface="Poppins"/>
                <a:cs typeface="Poppins"/>
                <a:sym typeface="Poppins"/>
              </a:rPr>
              <a:t> as the unique identifier.</a:t>
            </a:r>
          </a:p>
          <a:p>
            <a:pPr algn="just">
              <a:lnSpc>
                <a:spcPts val="5739"/>
              </a:lnSpc>
            </a:pPr>
          </a:p>
          <a:p>
            <a:pPr algn="just">
              <a:lnSpc>
                <a:spcPts val="5739"/>
              </a:lnSpc>
            </a:pPr>
            <a:r>
              <a:rPr lang="en-US" sz="4099">
                <a:solidFill>
                  <a:srgbClr val="000000"/>
                </a:solidFill>
                <a:latin typeface="Poppins"/>
                <a:ea typeface="Poppins"/>
                <a:cs typeface="Poppins"/>
                <a:sym typeface="Poppins"/>
              </a:rPr>
              <a:t>Drop Irrelevant Columns</a:t>
            </a:r>
          </a:p>
          <a:p>
            <a:pPr algn="just" marL="885181" indent="-442590" lvl="1">
              <a:lnSpc>
                <a:spcPts val="5739"/>
              </a:lnSpc>
              <a:buFont typeface="Arial"/>
              <a:buChar char="•"/>
            </a:pPr>
            <a:r>
              <a:rPr lang="en-US" sz="4099">
                <a:solidFill>
                  <a:srgbClr val="000000"/>
                </a:solidFill>
                <a:latin typeface="Poppins"/>
                <a:ea typeface="Poppins"/>
                <a:cs typeface="Poppins"/>
                <a:sym typeface="Poppins"/>
              </a:rPr>
              <a:t>Year, Date, credit limit.</a:t>
            </a:r>
          </a:p>
          <a:p>
            <a:pPr algn="just">
              <a:lnSpc>
                <a:spcPts val="5739"/>
              </a:lnSpc>
            </a:pPr>
          </a:p>
          <a:p>
            <a:pPr algn="just">
              <a:lnSpc>
                <a:spcPts val="5739"/>
              </a:lnSpc>
            </a:pPr>
            <a:r>
              <a:rPr lang="en-US" sz="4099">
                <a:solidFill>
                  <a:srgbClr val="000000"/>
                </a:solidFill>
                <a:latin typeface="Poppins"/>
                <a:ea typeface="Poppins"/>
                <a:cs typeface="Poppins"/>
                <a:sym typeface="Poppins"/>
              </a:rPr>
              <a:t>Check for missing variables</a:t>
            </a:r>
          </a:p>
        </p:txBody>
      </p:sp>
      <p:sp>
        <p:nvSpPr>
          <p:cNvPr name="Freeform 10" id="10"/>
          <p:cNvSpPr/>
          <p:nvPr/>
        </p:nvSpPr>
        <p:spPr>
          <a:xfrm flipH="false" flipV="false" rot="0">
            <a:off x="13644146" y="5594702"/>
            <a:ext cx="3615154" cy="4114800"/>
          </a:xfrm>
          <a:custGeom>
            <a:avLst/>
            <a:gdLst/>
            <a:ahLst/>
            <a:cxnLst/>
            <a:rect r="r" b="b" t="t" l="l"/>
            <a:pathLst>
              <a:path h="4114800" w="3615154">
                <a:moveTo>
                  <a:pt x="0" y="0"/>
                </a:moveTo>
                <a:lnTo>
                  <a:pt x="3615154" y="0"/>
                </a:lnTo>
                <a:lnTo>
                  <a:pt x="361515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705279" y="965761"/>
            <a:ext cx="11105423" cy="102425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DATA PREPARATION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77143" y="7097171"/>
            <a:ext cx="5402345" cy="540234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1028700" y="3018593"/>
            <a:ext cx="9912069" cy="7565171"/>
          </a:xfrm>
          <a:prstGeom prst="rect">
            <a:avLst/>
          </a:prstGeom>
        </p:spPr>
        <p:txBody>
          <a:bodyPr anchor="t" rtlCol="false" tIns="0" lIns="0" bIns="0" rIns="0">
            <a:spAutoFit/>
          </a:bodyPr>
          <a:lstStyle/>
          <a:p>
            <a:pPr algn="just">
              <a:lnSpc>
                <a:spcPts val="5040"/>
              </a:lnSpc>
            </a:pPr>
            <a:r>
              <a:rPr lang="en-US" sz="3600" b="true">
                <a:solidFill>
                  <a:srgbClr val="000000"/>
                </a:solidFill>
                <a:latin typeface="Poppins Bold"/>
                <a:ea typeface="Poppins Bold"/>
                <a:cs typeface="Poppins Bold"/>
                <a:sym typeface="Poppins Bold"/>
              </a:rPr>
              <a:t>Customer_Age:</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0-16 → 0</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17-32 → 1</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33-48 → 2</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49-64 → 3</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More than 64 → 4</a:t>
            </a:r>
          </a:p>
          <a:p>
            <a:pPr algn="just">
              <a:lnSpc>
                <a:spcPts val="5040"/>
              </a:lnSpc>
            </a:pPr>
          </a:p>
          <a:p>
            <a:pPr algn="just">
              <a:lnSpc>
                <a:spcPts val="5040"/>
              </a:lnSpc>
            </a:pPr>
            <a:r>
              <a:rPr lang="en-US" sz="3600" b="true">
                <a:solidFill>
                  <a:srgbClr val="000000"/>
                </a:solidFill>
                <a:latin typeface="Poppins Bold"/>
                <a:ea typeface="Poppins Bold"/>
                <a:cs typeface="Poppins Bold"/>
                <a:sym typeface="Poppins Bold"/>
              </a:rPr>
              <a:t>Marital_Status:</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Single → 0</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Married → 1</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Divorced → 2</a:t>
            </a:r>
          </a:p>
          <a:p>
            <a:pPr algn="just">
              <a:lnSpc>
                <a:spcPts val="4154"/>
              </a:lnSpc>
            </a:pPr>
          </a:p>
        </p:txBody>
      </p:sp>
      <p:sp>
        <p:nvSpPr>
          <p:cNvPr name="TextBox 7" id="7"/>
          <p:cNvSpPr txBox="true"/>
          <p:nvPr/>
        </p:nvSpPr>
        <p:spPr>
          <a:xfrm rot="0">
            <a:off x="822886" y="877556"/>
            <a:ext cx="13598082" cy="19958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LABELING CATEGORICAL VARIABLES INTO INTEGERS</a:t>
            </a:r>
          </a:p>
        </p:txBody>
      </p:sp>
      <p:sp>
        <p:nvSpPr>
          <p:cNvPr name="TextBox 8" id="8"/>
          <p:cNvSpPr txBox="true"/>
          <p:nvPr/>
        </p:nvSpPr>
        <p:spPr>
          <a:xfrm rot="0">
            <a:off x="9144000" y="3018593"/>
            <a:ext cx="9912069" cy="2566035"/>
          </a:xfrm>
          <a:prstGeom prst="rect">
            <a:avLst/>
          </a:prstGeom>
        </p:spPr>
        <p:txBody>
          <a:bodyPr anchor="t" rtlCol="false" tIns="0" lIns="0" bIns="0" rIns="0">
            <a:spAutoFit/>
          </a:bodyPr>
          <a:lstStyle/>
          <a:p>
            <a:pPr algn="just">
              <a:lnSpc>
                <a:spcPts val="5040"/>
              </a:lnSpc>
            </a:pPr>
            <a:r>
              <a:rPr lang="en-US" sz="3600" b="true">
                <a:solidFill>
                  <a:srgbClr val="000000"/>
                </a:solidFill>
                <a:latin typeface="Poppins Bold"/>
                <a:ea typeface="Poppins Bold"/>
                <a:cs typeface="Poppins Bold"/>
                <a:sym typeface="Poppins Bold"/>
              </a:rPr>
              <a:t>Gender</a:t>
            </a:r>
            <a:r>
              <a:rPr lang="en-US" sz="3600">
                <a:solidFill>
                  <a:srgbClr val="000000"/>
                </a:solidFill>
                <a:latin typeface="Poppins"/>
                <a:ea typeface="Poppins"/>
                <a:cs typeface="Poppins"/>
                <a:sym typeface="Poppins"/>
              </a:rPr>
              <a:t>:</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M → 1</a:t>
            </a:r>
          </a:p>
          <a:p>
            <a:pPr algn="just" marL="777240" indent="-388620" lvl="1">
              <a:lnSpc>
                <a:spcPts val="5040"/>
              </a:lnSpc>
              <a:buFont typeface="Arial"/>
              <a:buChar char="•"/>
            </a:pPr>
            <a:r>
              <a:rPr lang="en-US" sz="3600">
                <a:solidFill>
                  <a:srgbClr val="000000"/>
                </a:solidFill>
                <a:latin typeface="Poppins"/>
                <a:ea typeface="Poppins"/>
                <a:cs typeface="Poppins"/>
                <a:sym typeface="Poppins"/>
              </a:rPr>
              <a:t>F → 0</a:t>
            </a:r>
          </a:p>
          <a:p>
            <a:pPr algn="just">
              <a:lnSpc>
                <a:spcPts val="50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822886" y="877556"/>
            <a:ext cx="13598082" cy="19958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LABELING CATEGORICAL VARIABLES INTO INTEGERS</a:t>
            </a:r>
          </a:p>
        </p:txBody>
      </p:sp>
      <p:sp>
        <p:nvSpPr>
          <p:cNvPr name="TextBox 4" id="4"/>
          <p:cNvSpPr txBox="true"/>
          <p:nvPr/>
        </p:nvSpPr>
        <p:spPr>
          <a:xfrm rot="0">
            <a:off x="1028700" y="2768586"/>
            <a:ext cx="13753554" cy="7976016"/>
          </a:xfrm>
          <a:prstGeom prst="rect">
            <a:avLst/>
          </a:prstGeom>
        </p:spPr>
        <p:txBody>
          <a:bodyPr anchor="t" rtlCol="false" tIns="0" lIns="0" bIns="0" rIns="0">
            <a:spAutoFit/>
          </a:bodyPr>
          <a:lstStyle/>
          <a:p>
            <a:pPr algn="just">
              <a:lnSpc>
                <a:spcPts val="4900"/>
              </a:lnSpc>
            </a:pPr>
            <a:r>
              <a:rPr lang="en-US" sz="3500" b="true">
                <a:solidFill>
                  <a:srgbClr val="000000"/>
                </a:solidFill>
                <a:latin typeface="Poppins Bold"/>
                <a:ea typeface="Poppins Bold"/>
                <a:cs typeface="Poppins Bold"/>
                <a:sym typeface="Poppins Bold"/>
              </a:rPr>
              <a:t>Income_Category:</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Less than $40K → 0</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$40K - $60K → 1</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$60K - $80K → 2</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$80K - $120K → 3</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Greater than $120K → 4</a:t>
            </a:r>
          </a:p>
          <a:p>
            <a:pPr algn="just">
              <a:lnSpc>
                <a:spcPts val="4900"/>
              </a:lnSpc>
            </a:pPr>
          </a:p>
          <a:p>
            <a:pPr algn="just">
              <a:lnSpc>
                <a:spcPts val="4900"/>
              </a:lnSpc>
            </a:pPr>
            <a:r>
              <a:rPr lang="en-US" sz="3500" b="true">
                <a:solidFill>
                  <a:srgbClr val="000000"/>
                </a:solidFill>
                <a:latin typeface="Poppins Bold"/>
                <a:ea typeface="Poppins Bold"/>
                <a:cs typeface="Poppins Bold"/>
                <a:sym typeface="Poppins Bold"/>
              </a:rPr>
              <a:t>C</a:t>
            </a:r>
            <a:r>
              <a:rPr lang="en-US" sz="3500" b="true">
                <a:solidFill>
                  <a:srgbClr val="000000"/>
                </a:solidFill>
                <a:latin typeface="Poppins Bold"/>
                <a:ea typeface="Poppins Bold"/>
                <a:cs typeface="Poppins Bold"/>
                <a:sym typeface="Poppins Bold"/>
              </a:rPr>
              <a:t>ard categories:</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Blue → 0</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Silver → 1</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Gold → 2</a:t>
            </a:r>
          </a:p>
          <a:p>
            <a:pPr algn="just" marL="755651" indent="-377825" lvl="1">
              <a:lnSpc>
                <a:spcPts val="4900"/>
              </a:lnSpc>
              <a:buFont typeface="Arial"/>
              <a:buChar char="•"/>
            </a:pPr>
            <a:r>
              <a:rPr lang="en-US" sz="3500">
                <a:solidFill>
                  <a:srgbClr val="000000"/>
                </a:solidFill>
                <a:latin typeface="Poppins"/>
                <a:ea typeface="Poppins"/>
                <a:cs typeface="Poppins"/>
                <a:sym typeface="Poppins"/>
              </a:rPr>
              <a:t>Platinum → 3</a:t>
            </a:r>
          </a:p>
          <a:p>
            <a:pPr algn="just">
              <a:lnSpc>
                <a:spcPts val="4154"/>
              </a:lnSpc>
            </a:pPr>
          </a:p>
        </p:txBody>
      </p:sp>
      <p:grpSp>
        <p:nvGrpSpPr>
          <p:cNvPr name="Group 5" id="5"/>
          <p:cNvGrpSpPr/>
          <p:nvPr/>
        </p:nvGrpSpPr>
        <p:grpSpPr>
          <a:xfrm rot="0">
            <a:off x="13677143" y="7097171"/>
            <a:ext cx="5402345" cy="540234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2472" y="6742738"/>
            <a:ext cx="5402345" cy="540234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815988" y="556799"/>
            <a:ext cx="1443312" cy="1599238"/>
          </a:xfrm>
          <a:custGeom>
            <a:avLst/>
            <a:gdLst/>
            <a:ahLst/>
            <a:cxnLst/>
            <a:rect r="r" b="b" t="t" l="l"/>
            <a:pathLst>
              <a:path h="1599238" w="1443312">
                <a:moveTo>
                  <a:pt x="0" y="0"/>
                </a:moveTo>
                <a:lnTo>
                  <a:pt x="1443312" y="0"/>
                </a:lnTo>
                <a:lnTo>
                  <a:pt x="1443312" y="1599238"/>
                </a:lnTo>
                <a:lnTo>
                  <a:pt x="0" y="15992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055967" y="944391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822886" y="877556"/>
            <a:ext cx="13598082" cy="19958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DEFINING FRAUDULENT BEHAVIOR USING IQR</a:t>
            </a:r>
          </a:p>
        </p:txBody>
      </p:sp>
      <p:sp>
        <p:nvSpPr>
          <p:cNvPr name="TextBox 8" id="8"/>
          <p:cNvSpPr txBox="true"/>
          <p:nvPr/>
        </p:nvSpPr>
        <p:spPr>
          <a:xfrm rot="0">
            <a:off x="822886" y="3090633"/>
            <a:ext cx="14591021" cy="2181861"/>
          </a:xfrm>
          <a:prstGeom prst="rect">
            <a:avLst/>
          </a:prstGeom>
        </p:spPr>
        <p:txBody>
          <a:bodyPr anchor="t" rtlCol="false" tIns="0" lIns="0" bIns="0" rIns="0">
            <a:spAutoFit/>
          </a:bodyPr>
          <a:lstStyle/>
          <a:p>
            <a:pPr algn="just">
              <a:lnSpc>
                <a:spcPts val="5739"/>
              </a:lnSpc>
            </a:pPr>
            <a:r>
              <a:rPr lang="en-US" sz="4099">
                <a:solidFill>
                  <a:srgbClr val="000000"/>
                </a:solidFill>
                <a:latin typeface="Poppins"/>
                <a:ea typeface="Poppins"/>
                <a:cs typeface="Poppins"/>
                <a:sym typeface="Poppins"/>
              </a:rPr>
              <a:t>We flag a transaction as </a:t>
            </a:r>
            <a:r>
              <a:rPr lang="en-US" sz="4099">
                <a:solidFill>
                  <a:srgbClr val="FF3131"/>
                </a:solidFill>
                <a:latin typeface="Poppins"/>
                <a:ea typeface="Poppins"/>
                <a:cs typeface="Poppins"/>
                <a:sym typeface="Poppins"/>
              </a:rPr>
              <a:t>fraudulent</a:t>
            </a:r>
            <a:r>
              <a:rPr lang="en-US" sz="4099">
                <a:solidFill>
                  <a:srgbClr val="000000"/>
                </a:solidFill>
                <a:latin typeface="Poppins"/>
                <a:ea typeface="Poppins"/>
                <a:cs typeface="Poppins"/>
                <a:sym typeface="Poppins"/>
              </a:rPr>
              <a:t> (Attrition_Flag = 1) if its </a:t>
            </a:r>
            <a:r>
              <a:rPr lang="en-US" sz="4099" b="true">
                <a:solidFill>
                  <a:srgbClr val="000000"/>
                </a:solidFill>
                <a:latin typeface="Poppins Bold"/>
                <a:ea typeface="Poppins Bold"/>
                <a:cs typeface="Poppins Bold"/>
                <a:sym typeface="Poppins Bold"/>
              </a:rPr>
              <a:t>Trans_Amount</a:t>
            </a:r>
            <a:r>
              <a:rPr lang="en-US" sz="4099">
                <a:solidFill>
                  <a:srgbClr val="000000"/>
                </a:solidFill>
                <a:latin typeface="Poppins"/>
                <a:ea typeface="Poppins"/>
                <a:cs typeface="Poppins"/>
                <a:sym typeface="Poppins"/>
              </a:rPr>
              <a:t> is unusually high </a:t>
            </a:r>
            <a:r>
              <a:rPr lang="en-US" sz="4099">
                <a:solidFill>
                  <a:srgbClr val="000000"/>
                </a:solidFill>
                <a:latin typeface="Poppins"/>
                <a:ea typeface="Poppins"/>
                <a:cs typeface="Poppins"/>
                <a:sym typeface="Poppins"/>
              </a:rPr>
              <a:t>f</a:t>
            </a:r>
            <a:r>
              <a:rPr lang="en-US" sz="4099">
                <a:solidFill>
                  <a:srgbClr val="000000"/>
                </a:solidFill>
                <a:latin typeface="Poppins"/>
                <a:ea typeface="Poppins"/>
                <a:cs typeface="Poppins"/>
                <a:sym typeface="Poppins"/>
              </a:rPr>
              <a:t>o</a:t>
            </a:r>
            <a:r>
              <a:rPr lang="en-US" sz="4099">
                <a:solidFill>
                  <a:srgbClr val="000000"/>
                </a:solidFill>
                <a:latin typeface="Poppins"/>
                <a:ea typeface="Poppins"/>
                <a:cs typeface="Poppins"/>
                <a:sym typeface="Poppins"/>
              </a:rPr>
              <a:t>r</a:t>
            </a:r>
            <a:r>
              <a:rPr lang="en-US" sz="4099">
                <a:solidFill>
                  <a:srgbClr val="000000"/>
                </a:solidFill>
                <a:latin typeface="Poppins"/>
                <a:ea typeface="Poppins"/>
                <a:cs typeface="Poppins"/>
                <a:sym typeface="Poppins"/>
              </a:rPr>
              <a:t> its incom</a:t>
            </a:r>
            <a:r>
              <a:rPr lang="en-US" sz="4099">
                <a:solidFill>
                  <a:srgbClr val="000000"/>
                </a:solidFill>
                <a:latin typeface="Poppins"/>
                <a:ea typeface="Poppins"/>
                <a:cs typeface="Poppins"/>
                <a:sym typeface="Poppins"/>
              </a:rPr>
              <a:t>e </a:t>
            </a:r>
            <a:r>
              <a:rPr lang="en-US" sz="4099">
                <a:solidFill>
                  <a:srgbClr val="000000"/>
                </a:solidFill>
                <a:latin typeface="Poppins"/>
                <a:ea typeface="Poppins"/>
                <a:cs typeface="Poppins"/>
                <a:sym typeface="Poppins"/>
              </a:rPr>
              <a:t>g</a:t>
            </a:r>
            <a:r>
              <a:rPr lang="en-US" sz="4099">
                <a:solidFill>
                  <a:srgbClr val="000000"/>
                </a:solidFill>
                <a:latin typeface="Poppins"/>
                <a:ea typeface="Poppins"/>
                <a:cs typeface="Poppins"/>
                <a:sym typeface="Poppins"/>
              </a:rPr>
              <a:t>r</a:t>
            </a:r>
            <a:r>
              <a:rPr lang="en-US" sz="4099">
                <a:solidFill>
                  <a:srgbClr val="000000"/>
                </a:solidFill>
                <a:latin typeface="Poppins"/>
                <a:ea typeface="Poppins"/>
                <a:cs typeface="Poppins"/>
                <a:sym typeface="Poppins"/>
              </a:rPr>
              <a:t>oup.</a:t>
            </a:r>
          </a:p>
        </p:txBody>
      </p:sp>
      <p:sp>
        <p:nvSpPr>
          <p:cNvPr name="TextBox 9" id="9"/>
          <p:cNvSpPr txBox="true"/>
          <p:nvPr/>
        </p:nvSpPr>
        <p:spPr>
          <a:xfrm rot="0">
            <a:off x="3729872" y="5177244"/>
            <a:ext cx="14591021" cy="6399531"/>
          </a:xfrm>
          <a:prstGeom prst="rect">
            <a:avLst/>
          </a:prstGeom>
        </p:spPr>
        <p:txBody>
          <a:bodyPr anchor="t" rtlCol="false" tIns="0" lIns="0" bIns="0" rIns="0">
            <a:spAutoFit/>
          </a:bodyPr>
          <a:lstStyle/>
          <a:p>
            <a:pPr algn="just">
              <a:lnSpc>
                <a:spcPts val="4899"/>
              </a:lnSpc>
            </a:pPr>
            <a:r>
              <a:rPr lang="en-US" sz="3499">
                <a:solidFill>
                  <a:srgbClr val="000000"/>
                </a:solidFill>
                <a:latin typeface="Poppins"/>
                <a:ea typeface="Poppins"/>
                <a:cs typeface="Poppins"/>
                <a:sym typeface="Poppins"/>
              </a:rPr>
              <a:t>For each Income group, calculate:</a:t>
            </a:r>
          </a:p>
          <a:p>
            <a:pPr algn="just" marL="755644" indent="-377822" lvl="1">
              <a:lnSpc>
                <a:spcPts val="4899"/>
              </a:lnSpc>
              <a:buFont typeface="Arial"/>
              <a:buChar char="•"/>
            </a:pPr>
            <a:r>
              <a:rPr lang="en-US" sz="3499">
                <a:solidFill>
                  <a:srgbClr val="000000"/>
                </a:solidFill>
                <a:latin typeface="Poppins"/>
                <a:ea typeface="Poppins"/>
                <a:cs typeface="Poppins"/>
                <a:sym typeface="Poppins"/>
              </a:rPr>
              <a:t>Q1 = 25th percentile</a:t>
            </a:r>
          </a:p>
          <a:p>
            <a:pPr algn="just" marL="755644" indent="-377822" lvl="1">
              <a:lnSpc>
                <a:spcPts val="4899"/>
              </a:lnSpc>
              <a:buFont typeface="Arial"/>
              <a:buChar char="•"/>
            </a:pPr>
            <a:r>
              <a:rPr lang="en-US" sz="3499">
                <a:solidFill>
                  <a:srgbClr val="000000"/>
                </a:solidFill>
                <a:latin typeface="Poppins"/>
                <a:ea typeface="Poppins"/>
                <a:cs typeface="Poppins"/>
                <a:sym typeface="Poppins"/>
              </a:rPr>
              <a:t>Q3 = 75th percentile</a:t>
            </a:r>
          </a:p>
          <a:p>
            <a:pPr algn="just" marL="755644" indent="-377822" lvl="1">
              <a:lnSpc>
                <a:spcPts val="4899"/>
              </a:lnSpc>
              <a:buFont typeface="Arial"/>
              <a:buChar char="•"/>
            </a:pPr>
            <a:r>
              <a:rPr lang="en-US" sz="3499">
                <a:solidFill>
                  <a:srgbClr val="000000"/>
                </a:solidFill>
                <a:latin typeface="Poppins"/>
                <a:ea typeface="Poppins"/>
                <a:cs typeface="Poppins"/>
                <a:sym typeface="Poppins"/>
              </a:rPr>
              <a:t>IQR = Q3 -</a:t>
            </a:r>
            <a:r>
              <a:rPr lang="en-US" sz="3499">
                <a:solidFill>
                  <a:srgbClr val="000000"/>
                </a:solidFill>
                <a:latin typeface="Poppins"/>
                <a:ea typeface="Poppins"/>
                <a:cs typeface="Poppins"/>
                <a:sym typeface="Poppins"/>
              </a:rPr>
              <a:t> Q1</a:t>
            </a:r>
          </a:p>
          <a:p>
            <a:pPr algn="just">
              <a:lnSpc>
                <a:spcPts val="4899"/>
              </a:lnSpc>
            </a:pPr>
          </a:p>
          <a:p>
            <a:pPr algn="just">
              <a:lnSpc>
                <a:spcPts val="4899"/>
              </a:lnSpc>
            </a:pPr>
            <a:r>
              <a:rPr lang="en-US" sz="3499">
                <a:solidFill>
                  <a:srgbClr val="000000"/>
                </a:solidFill>
                <a:latin typeface="Poppins"/>
                <a:ea typeface="Poppins"/>
                <a:cs typeface="Poppins"/>
                <a:sym typeface="Poppins"/>
              </a:rPr>
              <a:t>Upper Bound = Q3 + 1.5 × IQR</a:t>
            </a:r>
          </a:p>
          <a:p>
            <a:pPr algn="just" marL="755644" indent="-377822" lvl="1">
              <a:lnSpc>
                <a:spcPts val="4899"/>
              </a:lnSpc>
              <a:buFont typeface="Arial"/>
              <a:buChar char="•"/>
            </a:pPr>
            <a:r>
              <a:rPr lang="en-US" sz="3499">
                <a:solidFill>
                  <a:srgbClr val="000000"/>
                </a:solidFill>
                <a:latin typeface="Poppins"/>
                <a:ea typeface="Poppins"/>
                <a:cs typeface="Poppins"/>
                <a:sym typeface="Poppins"/>
              </a:rPr>
              <a:t>If Trans_Amount &gt; Upper Bound → Attrition_Flag = 1</a:t>
            </a:r>
          </a:p>
          <a:p>
            <a:pPr algn="just" marL="755644" indent="-377822" lvl="1">
              <a:lnSpc>
                <a:spcPts val="4899"/>
              </a:lnSpc>
              <a:buFont typeface="Arial"/>
              <a:buChar char="•"/>
            </a:pPr>
            <a:r>
              <a:rPr lang="en-US" sz="3499">
                <a:solidFill>
                  <a:srgbClr val="000000"/>
                </a:solidFill>
                <a:latin typeface="Poppins"/>
                <a:ea typeface="Poppins"/>
                <a:cs typeface="Poppins"/>
                <a:sym typeface="Poppins"/>
              </a:rPr>
              <a:t>Else → Attrition_Flag = 0</a:t>
            </a:r>
          </a:p>
          <a:p>
            <a:pPr algn="just">
              <a:lnSpc>
                <a:spcPts val="5739"/>
              </a:lnSpc>
            </a:pPr>
          </a:p>
          <a:p>
            <a:pPr algn="just">
              <a:lnSpc>
                <a:spcPts val="573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74253" y="3887218"/>
            <a:ext cx="835432" cy="447100"/>
          </a:xfrm>
          <a:custGeom>
            <a:avLst/>
            <a:gdLst/>
            <a:ahLst/>
            <a:cxnLst/>
            <a:rect r="r" b="b" t="t" l="l"/>
            <a:pathLst>
              <a:path h="447100" w="835432">
                <a:moveTo>
                  <a:pt x="0" y="0"/>
                </a:moveTo>
                <a:lnTo>
                  <a:pt x="835432" y="0"/>
                </a:lnTo>
                <a:lnTo>
                  <a:pt x="835432"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110905" t="0" r="0" b="0"/>
            </a:stretch>
          </a:blipFill>
          <a:ln cap="sq">
            <a:noFill/>
            <a:prstDash val="solid"/>
            <a:miter/>
          </a:ln>
        </p:spPr>
      </p:sp>
      <p:sp>
        <p:nvSpPr>
          <p:cNvPr name="Freeform 3" id="3"/>
          <p:cNvSpPr/>
          <p:nvPr/>
        </p:nvSpPr>
        <p:spPr>
          <a:xfrm flipH="false" flipV="false" rot="-5400000">
            <a:off x="11953643" y="8984993"/>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5400000">
            <a:off x="13605266" y="8984993"/>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5400000">
            <a:off x="15290519" y="8984993"/>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400000">
            <a:off x="16975773" y="8984993"/>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3651582" y="2320812"/>
            <a:ext cx="10533588" cy="7163647"/>
          </a:xfrm>
          <a:custGeom>
            <a:avLst/>
            <a:gdLst/>
            <a:ahLst/>
            <a:cxnLst/>
            <a:rect r="r" b="b" t="t" l="l"/>
            <a:pathLst>
              <a:path h="7163647" w="10533588">
                <a:moveTo>
                  <a:pt x="0" y="0"/>
                </a:moveTo>
                <a:lnTo>
                  <a:pt x="10533587" y="0"/>
                </a:lnTo>
                <a:lnTo>
                  <a:pt x="10533587" y="7163647"/>
                </a:lnTo>
                <a:lnTo>
                  <a:pt x="0" y="7163647"/>
                </a:lnTo>
                <a:lnTo>
                  <a:pt x="0" y="0"/>
                </a:lnTo>
                <a:close/>
              </a:path>
            </a:pathLst>
          </a:custGeom>
          <a:blipFill>
            <a:blip r:embed="rId6"/>
            <a:stretch>
              <a:fillRect l="0" t="0" r="0" b="0"/>
            </a:stretch>
          </a:blipFill>
        </p:spPr>
      </p:sp>
      <p:sp>
        <p:nvSpPr>
          <p:cNvPr name="TextBox 8" id="8"/>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grpSp>
        <p:nvGrpSpPr>
          <p:cNvPr name="Group 9" id="9"/>
          <p:cNvGrpSpPr/>
          <p:nvPr/>
        </p:nvGrpSpPr>
        <p:grpSpPr>
          <a:xfrm rot="0">
            <a:off x="-3325912" y="9258300"/>
            <a:ext cx="9249401" cy="924940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81072" y="1165165"/>
            <a:ext cx="835432" cy="447100"/>
          </a:xfrm>
          <a:custGeom>
            <a:avLst/>
            <a:gdLst/>
            <a:ahLst/>
            <a:cxnLst/>
            <a:rect r="r" b="b" t="t" l="l"/>
            <a:pathLst>
              <a:path h="447100" w="835432">
                <a:moveTo>
                  <a:pt x="0" y="0"/>
                </a:moveTo>
                <a:lnTo>
                  <a:pt x="835432" y="0"/>
                </a:lnTo>
                <a:lnTo>
                  <a:pt x="835432"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110905" t="0" r="0" b="0"/>
            </a:stretch>
          </a:blipFill>
          <a:ln cap="sq">
            <a:noFill/>
            <a:prstDash val="solid"/>
            <a:miter/>
          </a:ln>
        </p:spPr>
      </p:sp>
      <p:sp>
        <p:nvSpPr>
          <p:cNvPr name="Freeform 3" id="3"/>
          <p:cNvSpPr/>
          <p:nvPr/>
        </p:nvSpPr>
        <p:spPr>
          <a:xfrm flipH="false" flipV="false" rot="-5400000">
            <a:off x="11953643" y="8984993"/>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5400000">
            <a:off x="13605266" y="8984993"/>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5400000">
            <a:off x="15290519" y="8984993"/>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400000">
            <a:off x="16975773" y="8984993"/>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ATTRITION_FLAG RATE</a:t>
            </a:r>
          </a:p>
        </p:txBody>
      </p:sp>
      <p:grpSp>
        <p:nvGrpSpPr>
          <p:cNvPr name="Group 8" id="8"/>
          <p:cNvGrpSpPr/>
          <p:nvPr/>
        </p:nvGrpSpPr>
        <p:grpSpPr>
          <a:xfrm rot="0">
            <a:off x="-3325912" y="9258300"/>
            <a:ext cx="9249401" cy="92494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940334" y="3024187"/>
            <a:ext cx="16407331" cy="4698366"/>
          </a:xfrm>
          <a:prstGeom prst="rect">
            <a:avLst/>
          </a:prstGeom>
        </p:spPr>
        <p:txBody>
          <a:bodyPr anchor="t" rtlCol="false" tIns="0" lIns="0" bIns="0" rIns="0">
            <a:spAutoFit/>
          </a:bodyPr>
          <a:lstStyle/>
          <a:p>
            <a:pPr algn="just">
              <a:lnSpc>
                <a:spcPts val="6159"/>
              </a:lnSpc>
            </a:pPr>
            <a:r>
              <a:rPr lang="en-US" sz="4399" b="true">
                <a:solidFill>
                  <a:srgbClr val="000000"/>
                </a:solidFill>
                <a:latin typeface="Poppins Bold"/>
                <a:ea typeface="Poppins Bold"/>
                <a:cs typeface="Poppins Bold"/>
                <a:sym typeface="Poppins Bold"/>
              </a:rPr>
              <a:t>Number of fraudulent transactions</a:t>
            </a:r>
            <a:r>
              <a:rPr lang="en-US" sz="4399">
                <a:solidFill>
                  <a:srgbClr val="000000"/>
                </a:solidFill>
                <a:latin typeface="Poppins"/>
                <a:ea typeface="Poppins"/>
                <a:cs typeface="Poppins"/>
                <a:sym typeface="Poppins"/>
              </a:rPr>
              <a:t> (Attrition_Flag = 1): 50451</a:t>
            </a:r>
          </a:p>
          <a:p>
            <a:pPr algn="just">
              <a:lnSpc>
                <a:spcPts val="6159"/>
              </a:lnSpc>
            </a:pPr>
            <a:r>
              <a:rPr lang="en-US" sz="4399" b="true">
                <a:solidFill>
                  <a:srgbClr val="000000"/>
                </a:solidFill>
                <a:latin typeface="Poppins Bold"/>
                <a:ea typeface="Poppins Bold"/>
                <a:cs typeface="Poppins Bold"/>
                <a:sym typeface="Poppins Bold"/>
              </a:rPr>
              <a:t>Number of non-</a:t>
            </a:r>
            <a:r>
              <a:rPr lang="en-US" sz="4399" b="true">
                <a:solidFill>
                  <a:srgbClr val="000000"/>
                </a:solidFill>
                <a:latin typeface="Poppins Bold"/>
                <a:ea typeface="Poppins Bold"/>
                <a:cs typeface="Poppins Bold"/>
                <a:sym typeface="Poppins Bold"/>
              </a:rPr>
              <a:t>fraudulent</a:t>
            </a:r>
            <a:r>
              <a:rPr lang="en-US" sz="4399" b="true">
                <a:solidFill>
                  <a:srgbClr val="000000"/>
                </a:solidFill>
                <a:latin typeface="Poppins Bold"/>
                <a:ea typeface="Poppins Bold"/>
                <a:cs typeface="Poppins Bold"/>
                <a:sym typeface="Poppins Bold"/>
              </a:rPr>
              <a:t> transactions</a:t>
            </a:r>
            <a:r>
              <a:rPr lang="en-US" sz="4399">
                <a:solidFill>
                  <a:srgbClr val="000000"/>
                </a:solidFill>
                <a:latin typeface="Poppins"/>
                <a:ea typeface="Poppins"/>
                <a:cs typeface="Poppins"/>
                <a:sym typeface="Poppins"/>
              </a:rPr>
              <a:t> (Attrition_Flag = 0): 522553</a:t>
            </a:r>
          </a:p>
          <a:p>
            <a:pPr algn="just">
              <a:lnSpc>
                <a:spcPts val="6159"/>
              </a:lnSpc>
            </a:pPr>
            <a:r>
              <a:rPr lang="en-US" sz="4399" b="true">
                <a:solidFill>
                  <a:srgbClr val="000000"/>
                </a:solidFill>
                <a:latin typeface="Poppins Bold"/>
                <a:ea typeface="Poppins Bold"/>
                <a:cs typeface="Poppins Bold"/>
                <a:sym typeface="Poppins Bold"/>
              </a:rPr>
              <a:t>Total transactions</a:t>
            </a:r>
            <a:r>
              <a:rPr lang="en-US" sz="4399">
                <a:solidFill>
                  <a:srgbClr val="000000"/>
                </a:solidFill>
                <a:latin typeface="Poppins"/>
                <a:ea typeface="Poppins"/>
                <a:cs typeface="Poppins"/>
                <a:sym typeface="Poppins"/>
              </a:rPr>
              <a:t>: 573004</a:t>
            </a:r>
          </a:p>
          <a:p>
            <a:pPr algn="just">
              <a:lnSpc>
                <a:spcPts val="6159"/>
              </a:lnSpc>
            </a:pPr>
            <a:r>
              <a:rPr lang="en-US" sz="4399" b="true">
                <a:solidFill>
                  <a:srgbClr val="000000"/>
                </a:solidFill>
                <a:latin typeface="Poppins Bold"/>
                <a:ea typeface="Poppins Bold"/>
                <a:cs typeface="Poppins Bold"/>
                <a:sym typeface="Poppins Bold"/>
              </a:rPr>
              <a:t>Fraudulent percentage</a:t>
            </a:r>
            <a:r>
              <a:rPr lang="en-US" sz="4399">
                <a:solidFill>
                  <a:srgbClr val="000000"/>
                </a:solidFill>
                <a:latin typeface="Poppins"/>
                <a:ea typeface="Poppins"/>
                <a:cs typeface="Poppins"/>
                <a:sym typeface="Poppins"/>
              </a:rPr>
              <a:t>: 8.80%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25912" y="9258300"/>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63356" y="805150"/>
            <a:ext cx="835432" cy="447100"/>
          </a:xfrm>
          <a:custGeom>
            <a:avLst/>
            <a:gdLst/>
            <a:ahLst/>
            <a:cxnLst/>
            <a:rect r="r" b="b" t="t" l="l"/>
            <a:pathLst>
              <a:path h="447100" w="835432">
                <a:moveTo>
                  <a:pt x="0" y="0"/>
                </a:moveTo>
                <a:lnTo>
                  <a:pt x="835432" y="0"/>
                </a:lnTo>
                <a:lnTo>
                  <a:pt x="835432"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110905" t="0" r="0" b="0"/>
            </a:stretch>
          </a:blipFill>
          <a:ln cap="sq">
            <a:noFill/>
            <a:prstDash val="solid"/>
            <a:miter/>
          </a:ln>
        </p:spPr>
      </p:sp>
      <p:sp>
        <p:nvSpPr>
          <p:cNvPr name="Freeform 6" id="6"/>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0" id="10"/>
          <p:cNvSpPr/>
          <p:nvPr/>
        </p:nvSpPr>
        <p:spPr>
          <a:xfrm flipH="false" flipV="false" rot="0">
            <a:off x="463356" y="2937334"/>
            <a:ext cx="8352047" cy="5606344"/>
          </a:xfrm>
          <a:custGeom>
            <a:avLst/>
            <a:gdLst/>
            <a:ahLst/>
            <a:cxnLst/>
            <a:rect r="r" b="b" t="t" l="l"/>
            <a:pathLst>
              <a:path h="5606344" w="8352047">
                <a:moveTo>
                  <a:pt x="0" y="0"/>
                </a:moveTo>
                <a:lnTo>
                  <a:pt x="8352048" y="0"/>
                </a:lnTo>
                <a:lnTo>
                  <a:pt x="8352048" y="5606344"/>
                </a:lnTo>
                <a:lnTo>
                  <a:pt x="0" y="5606344"/>
                </a:lnTo>
                <a:lnTo>
                  <a:pt x="0" y="0"/>
                </a:lnTo>
                <a:close/>
              </a:path>
            </a:pathLst>
          </a:custGeom>
          <a:blipFill>
            <a:blip r:embed="rId6"/>
            <a:stretch>
              <a:fillRect l="0" t="0" r="0" b="0"/>
            </a:stretch>
          </a:blipFill>
        </p:spPr>
      </p:sp>
      <p:sp>
        <p:nvSpPr>
          <p:cNvPr name="Freeform 11" id="11"/>
          <p:cNvSpPr/>
          <p:nvPr/>
        </p:nvSpPr>
        <p:spPr>
          <a:xfrm flipH="false" flipV="false" rot="0">
            <a:off x="9144000" y="2964215"/>
            <a:ext cx="8447410" cy="5579462"/>
          </a:xfrm>
          <a:custGeom>
            <a:avLst/>
            <a:gdLst/>
            <a:ahLst/>
            <a:cxnLst/>
            <a:rect r="r" b="b" t="t" l="l"/>
            <a:pathLst>
              <a:path h="5579462" w="8447410">
                <a:moveTo>
                  <a:pt x="0" y="0"/>
                </a:moveTo>
                <a:lnTo>
                  <a:pt x="8447410" y="0"/>
                </a:lnTo>
                <a:lnTo>
                  <a:pt x="8447410" y="5579463"/>
                </a:lnTo>
                <a:lnTo>
                  <a:pt x="0" y="5579463"/>
                </a:lnTo>
                <a:lnTo>
                  <a:pt x="0" y="0"/>
                </a:lnTo>
                <a:close/>
              </a:path>
            </a:pathLst>
          </a:custGeom>
          <a:blipFill>
            <a:blip r:embed="rId7"/>
            <a:stretch>
              <a:fillRect l="0" t="0" r="0" b="0"/>
            </a:stretch>
          </a:blipFill>
        </p:spPr>
      </p:sp>
      <p:sp>
        <p:nvSpPr>
          <p:cNvPr name="TextBox 12" id="12"/>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5215" y="2937334"/>
            <a:ext cx="8408302" cy="5579462"/>
          </a:xfrm>
          <a:custGeom>
            <a:avLst/>
            <a:gdLst/>
            <a:ahLst/>
            <a:cxnLst/>
            <a:rect r="r" b="b" t="t" l="l"/>
            <a:pathLst>
              <a:path h="5579462" w="8408302">
                <a:moveTo>
                  <a:pt x="0" y="0"/>
                </a:moveTo>
                <a:lnTo>
                  <a:pt x="8408302" y="0"/>
                </a:lnTo>
                <a:lnTo>
                  <a:pt x="8408302" y="5579463"/>
                </a:lnTo>
                <a:lnTo>
                  <a:pt x="0" y="5579463"/>
                </a:lnTo>
                <a:lnTo>
                  <a:pt x="0" y="0"/>
                </a:lnTo>
                <a:close/>
              </a:path>
            </a:pathLst>
          </a:custGeom>
          <a:blipFill>
            <a:blip r:embed="rId2"/>
            <a:stretch>
              <a:fillRect l="0" t="0" r="0" b="0"/>
            </a:stretch>
          </a:blipFill>
        </p:spPr>
      </p:sp>
      <p:sp>
        <p:nvSpPr>
          <p:cNvPr name="Freeform 3" id="3"/>
          <p:cNvSpPr/>
          <p:nvPr/>
        </p:nvSpPr>
        <p:spPr>
          <a:xfrm flipH="false" flipV="false" rot="0">
            <a:off x="8918375" y="2937334"/>
            <a:ext cx="9097462" cy="5750608"/>
          </a:xfrm>
          <a:custGeom>
            <a:avLst/>
            <a:gdLst/>
            <a:ahLst/>
            <a:cxnLst/>
            <a:rect r="r" b="b" t="t" l="l"/>
            <a:pathLst>
              <a:path h="5750608" w="9097462">
                <a:moveTo>
                  <a:pt x="0" y="0"/>
                </a:moveTo>
                <a:lnTo>
                  <a:pt x="9097462" y="0"/>
                </a:lnTo>
                <a:lnTo>
                  <a:pt x="9097462" y="5750608"/>
                </a:lnTo>
                <a:lnTo>
                  <a:pt x="0" y="5750608"/>
                </a:lnTo>
                <a:lnTo>
                  <a:pt x="0" y="0"/>
                </a:lnTo>
                <a:close/>
              </a:path>
            </a:pathLst>
          </a:custGeom>
          <a:blipFill>
            <a:blip r:embed="rId3"/>
            <a:stretch>
              <a:fillRect l="0" t="0" r="0" b="0"/>
            </a:stretch>
          </a:blipFill>
        </p:spPr>
      </p:sp>
      <p:sp>
        <p:nvSpPr>
          <p:cNvPr name="TextBox 4" id="4"/>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grpSp>
        <p:nvGrpSpPr>
          <p:cNvPr name="Group 5" id="5"/>
          <p:cNvGrpSpPr/>
          <p:nvPr/>
        </p:nvGrpSpPr>
        <p:grpSpPr>
          <a:xfrm rot="0">
            <a:off x="-3325912" y="9258300"/>
            <a:ext cx="9249401" cy="924940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0" id="10"/>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25912" y="9258300"/>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4133018" y="2536827"/>
            <a:ext cx="9570714" cy="6380476"/>
          </a:xfrm>
          <a:custGeom>
            <a:avLst/>
            <a:gdLst/>
            <a:ahLst/>
            <a:cxnLst/>
            <a:rect r="r" b="b" t="t" l="l"/>
            <a:pathLst>
              <a:path h="6380476" w="9570714">
                <a:moveTo>
                  <a:pt x="0" y="0"/>
                </a:moveTo>
                <a:lnTo>
                  <a:pt x="9570715" y="0"/>
                </a:lnTo>
                <a:lnTo>
                  <a:pt x="9570715" y="6380476"/>
                </a:lnTo>
                <a:lnTo>
                  <a:pt x="0" y="6380476"/>
                </a:lnTo>
                <a:lnTo>
                  <a:pt x="0" y="0"/>
                </a:lnTo>
                <a:close/>
              </a:path>
            </a:pathLst>
          </a:custGeom>
          <a:blipFill>
            <a:blip r:embed="rId4"/>
            <a:stretch>
              <a:fillRect l="0" t="0" r="0" b="0"/>
            </a:stretch>
          </a:blipFill>
        </p:spPr>
      </p:sp>
      <p:sp>
        <p:nvSpPr>
          <p:cNvPr name="TextBox 10" id="10"/>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25912" y="9258300"/>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289387" y="2867738"/>
            <a:ext cx="10131998" cy="5433284"/>
          </a:xfrm>
          <a:custGeom>
            <a:avLst/>
            <a:gdLst/>
            <a:ahLst/>
            <a:cxnLst/>
            <a:rect r="r" b="b" t="t" l="l"/>
            <a:pathLst>
              <a:path h="5433284" w="10131998">
                <a:moveTo>
                  <a:pt x="0" y="0"/>
                </a:moveTo>
                <a:lnTo>
                  <a:pt x="10131997" y="0"/>
                </a:lnTo>
                <a:lnTo>
                  <a:pt x="10131997" y="5433284"/>
                </a:lnTo>
                <a:lnTo>
                  <a:pt x="0" y="5433284"/>
                </a:lnTo>
                <a:lnTo>
                  <a:pt x="0" y="0"/>
                </a:lnTo>
                <a:close/>
              </a:path>
            </a:pathLst>
          </a:custGeom>
          <a:blipFill>
            <a:blip r:embed="rId4"/>
            <a:stretch>
              <a:fillRect l="0" t="0" r="0" b="0"/>
            </a:stretch>
          </a:blipFill>
        </p:spPr>
      </p:sp>
      <p:sp>
        <p:nvSpPr>
          <p:cNvPr name="Freeform 10" id="10"/>
          <p:cNvSpPr/>
          <p:nvPr/>
        </p:nvSpPr>
        <p:spPr>
          <a:xfrm flipH="false" flipV="false" rot="0">
            <a:off x="10071393" y="2867738"/>
            <a:ext cx="7942137" cy="5433284"/>
          </a:xfrm>
          <a:custGeom>
            <a:avLst/>
            <a:gdLst/>
            <a:ahLst/>
            <a:cxnLst/>
            <a:rect r="r" b="b" t="t" l="l"/>
            <a:pathLst>
              <a:path h="5433284" w="7942137">
                <a:moveTo>
                  <a:pt x="0" y="0"/>
                </a:moveTo>
                <a:lnTo>
                  <a:pt x="7942137" y="0"/>
                </a:lnTo>
                <a:lnTo>
                  <a:pt x="7942137" y="5433284"/>
                </a:lnTo>
                <a:lnTo>
                  <a:pt x="0" y="5433284"/>
                </a:lnTo>
                <a:lnTo>
                  <a:pt x="0" y="0"/>
                </a:lnTo>
                <a:close/>
              </a:path>
            </a:pathLst>
          </a:custGeom>
          <a:blipFill>
            <a:blip r:embed="rId5"/>
            <a:stretch>
              <a:fillRect l="0" t="0" r="0" b="0"/>
            </a:stretch>
          </a:blipFill>
        </p:spPr>
      </p:sp>
      <p:sp>
        <p:nvSpPr>
          <p:cNvPr name="TextBox 11" id="11"/>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25912" y="9258300"/>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0" y="2830081"/>
            <a:ext cx="7822092" cy="5397701"/>
          </a:xfrm>
          <a:custGeom>
            <a:avLst/>
            <a:gdLst/>
            <a:ahLst/>
            <a:cxnLst/>
            <a:rect r="r" b="b" t="t" l="l"/>
            <a:pathLst>
              <a:path h="5397701" w="7822092">
                <a:moveTo>
                  <a:pt x="0" y="0"/>
                </a:moveTo>
                <a:lnTo>
                  <a:pt x="7822092" y="0"/>
                </a:lnTo>
                <a:lnTo>
                  <a:pt x="7822092" y="5397701"/>
                </a:lnTo>
                <a:lnTo>
                  <a:pt x="0" y="5397701"/>
                </a:lnTo>
                <a:lnTo>
                  <a:pt x="0" y="0"/>
                </a:lnTo>
                <a:close/>
              </a:path>
            </a:pathLst>
          </a:custGeom>
          <a:blipFill>
            <a:blip r:embed="rId4"/>
            <a:stretch>
              <a:fillRect l="0" t="0" r="0" b="0"/>
            </a:stretch>
          </a:blipFill>
        </p:spPr>
      </p:sp>
      <p:sp>
        <p:nvSpPr>
          <p:cNvPr name="Freeform 10" id="10"/>
          <p:cNvSpPr/>
          <p:nvPr/>
        </p:nvSpPr>
        <p:spPr>
          <a:xfrm flipH="false" flipV="false" rot="0">
            <a:off x="8127622" y="2830081"/>
            <a:ext cx="10160378" cy="5397701"/>
          </a:xfrm>
          <a:custGeom>
            <a:avLst/>
            <a:gdLst/>
            <a:ahLst/>
            <a:cxnLst/>
            <a:rect r="r" b="b" t="t" l="l"/>
            <a:pathLst>
              <a:path h="5397701" w="10160378">
                <a:moveTo>
                  <a:pt x="0" y="0"/>
                </a:moveTo>
                <a:lnTo>
                  <a:pt x="10160378" y="0"/>
                </a:lnTo>
                <a:lnTo>
                  <a:pt x="10160378" y="5397701"/>
                </a:lnTo>
                <a:lnTo>
                  <a:pt x="0" y="5397701"/>
                </a:lnTo>
                <a:lnTo>
                  <a:pt x="0" y="0"/>
                </a:lnTo>
                <a:close/>
              </a:path>
            </a:pathLst>
          </a:custGeom>
          <a:blipFill>
            <a:blip r:embed="rId5"/>
            <a:stretch>
              <a:fillRect l="0" t="0" r="0" b="0"/>
            </a:stretch>
          </a:blipFill>
        </p:spPr>
      </p:sp>
      <p:sp>
        <p:nvSpPr>
          <p:cNvPr name="TextBox 11" id="11"/>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513836" y="2627865"/>
            <a:ext cx="12809079" cy="6884880"/>
          </a:xfrm>
          <a:custGeom>
            <a:avLst/>
            <a:gdLst/>
            <a:ahLst/>
            <a:cxnLst/>
            <a:rect r="r" b="b" t="t" l="l"/>
            <a:pathLst>
              <a:path h="6884880" w="12809079">
                <a:moveTo>
                  <a:pt x="0" y="0"/>
                </a:moveTo>
                <a:lnTo>
                  <a:pt x="12809079" y="0"/>
                </a:lnTo>
                <a:lnTo>
                  <a:pt x="12809079" y="6884880"/>
                </a:lnTo>
                <a:lnTo>
                  <a:pt x="0" y="6884880"/>
                </a:lnTo>
                <a:lnTo>
                  <a:pt x="0" y="0"/>
                </a:lnTo>
                <a:close/>
              </a:path>
            </a:pathLst>
          </a:custGeom>
          <a:blipFill>
            <a:blip r:embed="rId4"/>
            <a:stretch>
              <a:fillRect l="0" t="0" r="0" b="0"/>
            </a:stretch>
          </a:blipFill>
        </p:spPr>
      </p:sp>
      <p:sp>
        <p:nvSpPr>
          <p:cNvPr name="TextBox 7" id="7"/>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grpSp>
        <p:nvGrpSpPr>
          <p:cNvPr name="Group 8" id="8"/>
          <p:cNvGrpSpPr/>
          <p:nvPr/>
        </p:nvGrpSpPr>
        <p:grpSpPr>
          <a:xfrm rot="0">
            <a:off x="-4624700" y="9512745"/>
            <a:ext cx="9249401" cy="92494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951596" y="2417238"/>
            <a:ext cx="13933558" cy="7349952"/>
          </a:xfrm>
          <a:custGeom>
            <a:avLst/>
            <a:gdLst/>
            <a:ahLst/>
            <a:cxnLst/>
            <a:rect r="r" b="b" t="t" l="l"/>
            <a:pathLst>
              <a:path h="7349952" w="13933558">
                <a:moveTo>
                  <a:pt x="0" y="0"/>
                </a:moveTo>
                <a:lnTo>
                  <a:pt x="13933558" y="0"/>
                </a:lnTo>
                <a:lnTo>
                  <a:pt x="13933558" y="7349951"/>
                </a:lnTo>
                <a:lnTo>
                  <a:pt x="0" y="7349951"/>
                </a:lnTo>
                <a:lnTo>
                  <a:pt x="0" y="0"/>
                </a:lnTo>
                <a:close/>
              </a:path>
            </a:pathLst>
          </a:custGeom>
          <a:blipFill>
            <a:blip r:embed="rId4"/>
            <a:stretch>
              <a:fillRect l="0" t="0" r="0" b="0"/>
            </a:stretch>
          </a:blipFill>
        </p:spPr>
      </p:sp>
      <p:sp>
        <p:nvSpPr>
          <p:cNvPr name="TextBox 10" id="10"/>
          <p:cNvSpPr txBox="true"/>
          <p:nvPr/>
        </p:nvSpPr>
        <p:spPr>
          <a:xfrm rot="0">
            <a:off x="1028700" y="1171575"/>
            <a:ext cx="15779351" cy="1024256"/>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DATA VISUALISATION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1028700" y="1162050"/>
            <a:ext cx="15779351" cy="942342"/>
          </a:xfrm>
          <a:prstGeom prst="rect">
            <a:avLst/>
          </a:prstGeom>
        </p:spPr>
        <p:txBody>
          <a:bodyPr anchor="t" rtlCol="false" tIns="0" lIns="0" bIns="0" rIns="0">
            <a:spAutoFit/>
          </a:bodyPr>
          <a:lstStyle/>
          <a:p>
            <a:pPr algn="ctr">
              <a:lnSpc>
                <a:spcPts val="7100"/>
              </a:lnSpc>
            </a:pPr>
            <a:r>
              <a:rPr lang="en-US" b="true" sz="7100">
                <a:solidFill>
                  <a:srgbClr val="6644A8"/>
                </a:solidFill>
                <a:latin typeface="Inter Heavy"/>
                <a:ea typeface="Inter Heavy"/>
                <a:cs typeface="Inter Heavy"/>
                <a:sym typeface="Inter Heavy"/>
              </a:rPr>
              <a:t>MODEL </a:t>
            </a:r>
          </a:p>
        </p:txBody>
      </p:sp>
      <p:grpSp>
        <p:nvGrpSpPr>
          <p:cNvPr name="Group 10" id="10"/>
          <p:cNvGrpSpPr/>
          <p:nvPr/>
        </p:nvGrpSpPr>
        <p:grpSpPr>
          <a:xfrm rot="0">
            <a:off x="1944653" y="2351978"/>
            <a:ext cx="833559" cy="775048"/>
            <a:chOff x="0" y="0"/>
            <a:chExt cx="874161" cy="812800"/>
          </a:xfrm>
        </p:grpSpPr>
        <p:sp>
          <p:nvSpPr>
            <p:cNvPr name="Freeform 11" id="11"/>
            <p:cNvSpPr/>
            <p:nvPr/>
          </p:nvSpPr>
          <p:spPr>
            <a:xfrm flipH="false" flipV="false" rot="0">
              <a:off x="0" y="0"/>
              <a:ext cx="874161" cy="812800"/>
            </a:xfrm>
            <a:custGeom>
              <a:avLst/>
              <a:gdLst/>
              <a:ahLst/>
              <a:cxnLst/>
              <a:rect r="r" b="b" t="t" l="l"/>
              <a:pathLst>
                <a:path h="812800" w="874161">
                  <a:moveTo>
                    <a:pt x="437081" y="0"/>
                  </a:moveTo>
                  <a:cubicBezTo>
                    <a:pt x="195688" y="0"/>
                    <a:pt x="0" y="181951"/>
                    <a:pt x="0" y="406400"/>
                  </a:cubicBezTo>
                  <a:cubicBezTo>
                    <a:pt x="0" y="630849"/>
                    <a:pt x="195688" y="812800"/>
                    <a:pt x="437081" y="812800"/>
                  </a:cubicBezTo>
                  <a:cubicBezTo>
                    <a:pt x="678474" y="812800"/>
                    <a:pt x="874161" y="630849"/>
                    <a:pt x="874161" y="406400"/>
                  </a:cubicBezTo>
                  <a:cubicBezTo>
                    <a:pt x="874161" y="181951"/>
                    <a:pt x="678474" y="0"/>
                    <a:pt x="437081" y="0"/>
                  </a:cubicBezTo>
                  <a:close/>
                </a:path>
              </a:pathLst>
            </a:custGeom>
            <a:solidFill>
              <a:srgbClr val="6644A8"/>
            </a:solidFill>
          </p:spPr>
        </p:sp>
        <p:sp>
          <p:nvSpPr>
            <p:cNvPr name="TextBox 12" id="12"/>
            <p:cNvSpPr txBox="true"/>
            <p:nvPr/>
          </p:nvSpPr>
          <p:spPr>
            <a:xfrm>
              <a:off x="81953" y="28575"/>
              <a:ext cx="710256" cy="708025"/>
            </a:xfrm>
            <a:prstGeom prst="rect">
              <a:avLst/>
            </a:prstGeom>
          </p:spPr>
          <p:txBody>
            <a:bodyPr anchor="ctr" rtlCol="false" tIns="50800" lIns="50800" bIns="50800" rIns="50800"/>
            <a:lstStyle/>
            <a:p>
              <a:pPr algn="ctr">
                <a:lnSpc>
                  <a:spcPts val="4199"/>
                </a:lnSpc>
              </a:pPr>
            </a:p>
          </p:txBody>
        </p:sp>
      </p:grpSp>
      <p:grpSp>
        <p:nvGrpSpPr>
          <p:cNvPr name="Group 13" id="13"/>
          <p:cNvGrpSpPr/>
          <p:nvPr/>
        </p:nvGrpSpPr>
        <p:grpSpPr>
          <a:xfrm rot="0">
            <a:off x="1946572" y="3467721"/>
            <a:ext cx="833559" cy="775048"/>
            <a:chOff x="0" y="0"/>
            <a:chExt cx="874161" cy="812800"/>
          </a:xfrm>
        </p:grpSpPr>
        <p:sp>
          <p:nvSpPr>
            <p:cNvPr name="Freeform 14" id="14"/>
            <p:cNvSpPr/>
            <p:nvPr/>
          </p:nvSpPr>
          <p:spPr>
            <a:xfrm flipH="false" flipV="false" rot="0">
              <a:off x="0" y="0"/>
              <a:ext cx="874161" cy="812800"/>
            </a:xfrm>
            <a:custGeom>
              <a:avLst/>
              <a:gdLst/>
              <a:ahLst/>
              <a:cxnLst/>
              <a:rect r="r" b="b" t="t" l="l"/>
              <a:pathLst>
                <a:path h="812800" w="874161">
                  <a:moveTo>
                    <a:pt x="437081" y="0"/>
                  </a:moveTo>
                  <a:cubicBezTo>
                    <a:pt x="195688" y="0"/>
                    <a:pt x="0" y="181951"/>
                    <a:pt x="0" y="406400"/>
                  </a:cubicBezTo>
                  <a:cubicBezTo>
                    <a:pt x="0" y="630849"/>
                    <a:pt x="195688" y="812800"/>
                    <a:pt x="437081" y="812800"/>
                  </a:cubicBezTo>
                  <a:cubicBezTo>
                    <a:pt x="678474" y="812800"/>
                    <a:pt x="874161" y="630849"/>
                    <a:pt x="874161" y="406400"/>
                  </a:cubicBezTo>
                  <a:cubicBezTo>
                    <a:pt x="874161" y="181951"/>
                    <a:pt x="678474" y="0"/>
                    <a:pt x="437081" y="0"/>
                  </a:cubicBezTo>
                  <a:close/>
                </a:path>
              </a:pathLst>
            </a:custGeom>
            <a:solidFill>
              <a:srgbClr val="6644A8"/>
            </a:solidFill>
          </p:spPr>
        </p:sp>
        <p:sp>
          <p:nvSpPr>
            <p:cNvPr name="TextBox 15" id="15"/>
            <p:cNvSpPr txBox="true"/>
            <p:nvPr/>
          </p:nvSpPr>
          <p:spPr>
            <a:xfrm>
              <a:off x="81953" y="28575"/>
              <a:ext cx="710256" cy="708025"/>
            </a:xfrm>
            <a:prstGeom prst="rect">
              <a:avLst/>
            </a:prstGeom>
          </p:spPr>
          <p:txBody>
            <a:bodyPr anchor="ctr" rtlCol="false" tIns="50800" lIns="50800" bIns="50800" rIns="50800"/>
            <a:lstStyle/>
            <a:p>
              <a:pPr algn="ctr">
                <a:lnSpc>
                  <a:spcPts val="4199"/>
                </a:lnSpc>
              </a:pPr>
            </a:p>
          </p:txBody>
        </p:sp>
      </p:grpSp>
      <p:grpSp>
        <p:nvGrpSpPr>
          <p:cNvPr name="Group 16" id="16"/>
          <p:cNvGrpSpPr/>
          <p:nvPr/>
        </p:nvGrpSpPr>
        <p:grpSpPr>
          <a:xfrm rot="0">
            <a:off x="1948490" y="4583464"/>
            <a:ext cx="833559" cy="775048"/>
            <a:chOff x="0" y="0"/>
            <a:chExt cx="874161" cy="812800"/>
          </a:xfrm>
        </p:grpSpPr>
        <p:sp>
          <p:nvSpPr>
            <p:cNvPr name="Freeform 17" id="17"/>
            <p:cNvSpPr/>
            <p:nvPr/>
          </p:nvSpPr>
          <p:spPr>
            <a:xfrm flipH="false" flipV="false" rot="0">
              <a:off x="0" y="0"/>
              <a:ext cx="874161" cy="812800"/>
            </a:xfrm>
            <a:custGeom>
              <a:avLst/>
              <a:gdLst/>
              <a:ahLst/>
              <a:cxnLst/>
              <a:rect r="r" b="b" t="t" l="l"/>
              <a:pathLst>
                <a:path h="812800" w="874161">
                  <a:moveTo>
                    <a:pt x="437081" y="0"/>
                  </a:moveTo>
                  <a:cubicBezTo>
                    <a:pt x="195688" y="0"/>
                    <a:pt x="0" y="181951"/>
                    <a:pt x="0" y="406400"/>
                  </a:cubicBezTo>
                  <a:cubicBezTo>
                    <a:pt x="0" y="630849"/>
                    <a:pt x="195688" y="812800"/>
                    <a:pt x="437081" y="812800"/>
                  </a:cubicBezTo>
                  <a:cubicBezTo>
                    <a:pt x="678474" y="812800"/>
                    <a:pt x="874161" y="630849"/>
                    <a:pt x="874161" y="406400"/>
                  </a:cubicBezTo>
                  <a:cubicBezTo>
                    <a:pt x="874161" y="181951"/>
                    <a:pt x="678474" y="0"/>
                    <a:pt x="437081" y="0"/>
                  </a:cubicBezTo>
                  <a:close/>
                </a:path>
              </a:pathLst>
            </a:custGeom>
            <a:solidFill>
              <a:srgbClr val="6644A8"/>
            </a:solidFill>
          </p:spPr>
        </p:sp>
        <p:sp>
          <p:nvSpPr>
            <p:cNvPr name="TextBox 18" id="18"/>
            <p:cNvSpPr txBox="true"/>
            <p:nvPr/>
          </p:nvSpPr>
          <p:spPr>
            <a:xfrm>
              <a:off x="81953" y="28575"/>
              <a:ext cx="710256" cy="708025"/>
            </a:xfrm>
            <a:prstGeom prst="rect">
              <a:avLst/>
            </a:prstGeom>
          </p:spPr>
          <p:txBody>
            <a:bodyPr anchor="ctr" rtlCol="false" tIns="50800" lIns="50800" bIns="50800" rIns="50800"/>
            <a:lstStyle/>
            <a:p>
              <a:pPr algn="ctr">
                <a:lnSpc>
                  <a:spcPts val="4199"/>
                </a:lnSpc>
              </a:pPr>
            </a:p>
          </p:txBody>
        </p:sp>
      </p:grpSp>
      <p:grpSp>
        <p:nvGrpSpPr>
          <p:cNvPr name="Group 19" id="19"/>
          <p:cNvGrpSpPr/>
          <p:nvPr/>
        </p:nvGrpSpPr>
        <p:grpSpPr>
          <a:xfrm rot="0">
            <a:off x="1950409" y="5699207"/>
            <a:ext cx="833559" cy="775048"/>
            <a:chOff x="0" y="0"/>
            <a:chExt cx="874161" cy="812800"/>
          </a:xfrm>
        </p:grpSpPr>
        <p:sp>
          <p:nvSpPr>
            <p:cNvPr name="Freeform 20" id="20"/>
            <p:cNvSpPr/>
            <p:nvPr/>
          </p:nvSpPr>
          <p:spPr>
            <a:xfrm flipH="false" flipV="false" rot="0">
              <a:off x="0" y="0"/>
              <a:ext cx="874161" cy="812800"/>
            </a:xfrm>
            <a:custGeom>
              <a:avLst/>
              <a:gdLst/>
              <a:ahLst/>
              <a:cxnLst/>
              <a:rect r="r" b="b" t="t" l="l"/>
              <a:pathLst>
                <a:path h="812800" w="874161">
                  <a:moveTo>
                    <a:pt x="437081" y="0"/>
                  </a:moveTo>
                  <a:cubicBezTo>
                    <a:pt x="195688" y="0"/>
                    <a:pt x="0" y="181951"/>
                    <a:pt x="0" y="406400"/>
                  </a:cubicBezTo>
                  <a:cubicBezTo>
                    <a:pt x="0" y="630849"/>
                    <a:pt x="195688" y="812800"/>
                    <a:pt x="437081" y="812800"/>
                  </a:cubicBezTo>
                  <a:cubicBezTo>
                    <a:pt x="678474" y="812800"/>
                    <a:pt x="874161" y="630849"/>
                    <a:pt x="874161" y="406400"/>
                  </a:cubicBezTo>
                  <a:cubicBezTo>
                    <a:pt x="874161" y="181951"/>
                    <a:pt x="678474" y="0"/>
                    <a:pt x="437081" y="0"/>
                  </a:cubicBezTo>
                  <a:close/>
                </a:path>
              </a:pathLst>
            </a:custGeom>
            <a:solidFill>
              <a:srgbClr val="6644A8"/>
            </a:solidFill>
          </p:spPr>
        </p:sp>
        <p:sp>
          <p:nvSpPr>
            <p:cNvPr name="TextBox 21" id="21"/>
            <p:cNvSpPr txBox="true"/>
            <p:nvPr/>
          </p:nvSpPr>
          <p:spPr>
            <a:xfrm>
              <a:off x="81953" y="28575"/>
              <a:ext cx="710256" cy="708025"/>
            </a:xfrm>
            <a:prstGeom prst="rect">
              <a:avLst/>
            </a:prstGeom>
          </p:spPr>
          <p:txBody>
            <a:bodyPr anchor="ctr" rtlCol="false" tIns="50800" lIns="50800" bIns="50800" rIns="50800"/>
            <a:lstStyle/>
            <a:p>
              <a:pPr algn="ctr">
                <a:lnSpc>
                  <a:spcPts val="4199"/>
                </a:lnSpc>
              </a:pPr>
            </a:p>
          </p:txBody>
        </p:sp>
      </p:grpSp>
      <p:sp>
        <p:nvSpPr>
          <p:cNvPr name="TextBox 22" id="22"/>
          <p:cNvSpPr txBox="true"/>
          <p:nvPr/>
        </p:nvSpPr>
        <p:spPr>
          <a:xfrm rot="0">
            <a:off x="3041683" y="2369566"/>
            <a:ext cx="8889046"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RANDOM FOREST CLASSIFIER</a:t>
            </a:r>
          </a:p>
        </p:txBody>
      </p:sp>
      <p:sp>
        <p:nvSpPr>
          <p:cNvPr name="TextBox 23" id="23"/>
          <p:cNvSpPr txBox="true"/>
          <p:nvPr/>
        </p:nvSpPr>
        <p:spPr>
          <a:xfrm rot="0">
            <a:off x="2094783" y="2361359"/>
            <a:ext cx="533300"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1</a:t>
            </a:r>
          </a:p>
        </p:txBody>
      </p:sp>
      <p:sp>
        <p:nvSpPr>
          <p:cNvPr name="TextBox 24" id="24"/>
          <p:cNvSpPr txBox="true"/>
          <p:nvPr/>
        </p:nvSpPr>
        <p:spPr>
          <a:xfrm rot="0">
            <a:off x="2096701" y="3477102"/>
            <a:ext cx="533300"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2</a:t>
            </a:r>
          </a:p>
        </p:txBody>
      </p:sp>
      <p:sp>
        <p:nvSpPr>
          <p:cNvPr name="TextBox 25" id="25"/>
          <p:cNvSpPr txBox="true"/>
          <p:nvPr/>
        </p:nvSpPr>
        <p:spPr>
          <a:xfrm rot="0">
            <a:off x="3043649" y="3483271"/>
            <a:ext cx="6343750"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DECISION TREE CLASSIFIER</a:t>
            </a:r>
          </a:p>
        </p:txBody>
      </p:sp>
      <p:sp>
        <p:nvSpPr>
          <p:cNvPr name="TextBox 26" id="26"/>
          <p:cNvSpPr txBox="true"/>
          <p:nvPr/>
        </p:nvSpPr>
        <p:spPr>
          <a:xfrm rot="0">
            <a:off x="3045568" y="4599014"/>
            <a:ext cx="6343750"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LOGISTIC REGRESSION</a:t>
            </a:r>
          </a:p>
        </p:txBody>
      </p:sp>
      <p:sp>
        <p:nvSpPr>
          <p:cNvPr name="TextBox 27" id="27"/>
          <p:cNvSpPr txBox="true"/>
          <p:nvPr/>
        </p:nvSpPr>
        <p:spPr>
          <a:xfrm rot="0">
            <a:off x="3047446" y="5716502"/>
            <a:ext cx="8522668" cy="651511"/>
          </a:xfrm>
          <a:prstGeom prst="rect">
            <a:avLst/>
          </a:prstGeom>
        </p:spPr>
        <p:txBody>
          <a:bodyPr anchor="t" rtlCol="false" tIns="0" lIns="0" bIns="0" rIns="0">
            <a:spAutoFit/>
          </a:bodyPr>
          <a:lstStyle/>
          <a:p>
            <a:pPr algn="l">
              <a:lnSpc>
                <a:spcPts val="5039"/>
              </a:lnSpc>
            </a:pPr>
            <a:r>
              <a:rPr lang="en-US" sz="3599">
                <a:solidFill>
                  <a:srgbClr val="000000"/>
                </a:solidFill>
                <a:latin typeface="Poppins"/>
                <a:ea typeface="Poppins"/>
                <a:cs typeface="Poppins"/>
                <a:sym typeface="Poppins"/>
              </a:rPr>
              <a:t>NAIVE BAYES</a:t>
            </a:r>
          </a:p>
        </p:txBody>
      </p:sp>
      <p:sp>
        <p:nvSpPr>
          <p:cNvPr name="TextBox 28" id="28"/>
          <p:cNvSpPr txBox="true"/>
          <p:nvPr/>
        </p:nvSpPr>
        <p:spPr>
          <a:xfrm rot="0">
            <a:off x="2098624" y="4595239"/>
            <a:ext cx="533300"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3</a:t>
            </a:r>
          </a:p>
        </p:txBody>
      </p:sp>
      <p:sp>
        <p:nvSpPr>
          <p:cNvPr name="TextBox 29" id="29"/>
          <p:cNvSpPr txBox="true"/>
          <p:nvPr/>
        </p:nvSpPr>
        <p:spPr>
          <a:xfrm rot="0">
            <a:off x="2100542" y="5710982"/>
            <a:ext cx="533300" cy="651511"/>
          </a:xfrm>
          <a:prstGeom prst="rect">
            <a:avLst/>
          </a:prstGeom>
        </p:spPr>
        <p:txBody>
          <a:bodyPr anchor="t" rtlCol="false" tIns="0" lIns="0" bIns="0" rIns="0">
            <a:spAutoFit/>
          </a:bodyPr>
          <a:lstStyle/>
          <a:p>
            <a:pPr algn="ctr">
              <a:lnSpc>
                <a:spcPts val="5039"/>
              </a:lnSpc>
            </a:pPr>
            <a:r>
              <a:rPr lang="en-US" b="true" sz="3599">
                <a:solidFill>
                  <a:srgbClr val="FFCC33"/>
                </a:solidFill>
                <a:latin typeface="Poppins Bold"/>
                <a:ea typeface="Poppins Bold"/>
                <a:cs typeface="Poppins Bold"/>
                <a:sym typeface="Poppins Bold"/>
              </a:rPr>
              <a:t>4</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5064149" y="1123950"/>
            <a:ext cx="8159702" cy="1331851"/>
          </a:xfrm>
          <a:prstGeom prst="rect">
            <a:avLst/>
          </a:prstGeom>
        </p:spPr>
        <p:txBody>
          <a:bodyPr anchor="t" rtlCol="false" tIns="0" lIns="0" bIns="0" rIns="0">
            <a:spAutoFit/>
          </a:bodyPr>
          <a:lstStyle/>
          <a:p>
            <a:pPr algn="ctr">
              <a:lnSpc>
                <a:spcPts val="5138"/>
              </a:lnSpc>
            </a:pPr>
            <a:r>
              <a:rPr lang="en-US" b="true" sz="5138">
                <a:solidFill>
                  <a:srgbClr val="6644A8"/>
                </a:solidFill>
                <a:latin typeface="Inter Heavy"/>
                <a:ea typeface="Inter Heavy"/>
                <a:cs typeface="Inter Heavy"/>
                <a:sym typeface="Inter Heavy"/>
              </a:rPr>
              <a:t>UNBALANCED AND BALANCED DATA</a:t>
            </a:r>
          </a:p>
        </p:txBody>
      </p:sp>
      <p:sp>
        <p:nvSpPr>
          <p:cNvPr name="TextBox 10" id="10"/>
          <p:cNvSpPr txBox="true"/>
          <p:nvPr/>
        </p:nvSpPr>
        <p:spPr>
          <a:xfrm rot="0">
            <a:off x="1028700" y="3556823"/>
            <a:ext cx="16230600" cy="5950274"/>
          </a:xfrm>
          <a:prstGeom prst="rect">
            <a:avLst/>
          </a:prstGeom>
        </p:spPr>
        <p:txBody>
          <a:bodyPr anchor="t" rtlCol="false" tIns="0" lIns="0" bIns="0" rIns="0">
            <a:spAutoFit/>
          </a:bodyPr>
          <a:lstStyle/>
          <a:p>
            <a:pPr algn="just" marL="720510" indent="-360255" lvl="1">
              <a:lnSpc>
                <a:spcPts val="4672"/>
              </a:lnSpc>
              <a:buFont typeface="Arial"/>
              <a:buChar char="•"/>
            </a:pPr>
            <a:r>
              <a:rPr lang="en-US" sz="3337">
                <a:solidFill>
                  <a:srgbClr val="000000"/>
                </a:solidFill>
                <a:latin typeface="Poppins"/>
                <a:ea typeface="Poppins"/>
                <a:cs typeface="Poppins"/>
                <a:sym typeface="Poppins"/>
              </a:rPr>
              <a:t>Unbalanced Data: Biased towards the majority class because it has many more examples to learn from. Poor in detecting the minority class leading to low recall and misleading accuracy.</a:t>
            </a:r>
          </a:p>
          <a:p>
            <a:pPr algn="just">
              <a:lnSpc>
                <a:spcPts val="4672"/>
              </a:lnSpc>
            </a:pPr>
          </a:p>
          <a:p>
            <a:pPr algn="just" marL="720510" indent="-360255" lvl="1">
              <a:lnSpc>
                <a:spcPts val="4672"/>
              </a:lnSpc>
              <a:buFont typeface="Arial"/>
              <a:buChar char="•"/>
            </a:pPr>
            <a:r>
              <a:rPr lang="en-US" sz="3337">
                <a:solidFill>
                  <a:srgbClr val="000000"/>
                </a:solidFill>
                <a:latin typeface="Poppins"/>
                <a:ea typeface="Poppins"/>
                <a:cs typeface="Poppins"/>
                <a:sym typeface="Poppins"/>
              </a:rPr>
              <a:t>Balanced Data: SMOTE is used to train the model to have equal number from both classes. Improve recall and precision for the minority class. As a result, the model is better at detecting fraud and generalizes better.</a:t>
            </a:r>
          </a:p>
          <a:p>
            <a:pPr algn="just">
              <a:lnSpc>
                <a:spcPts val="4672"/>
              </a:lnSpc>
            </a:pPr>
          </a:p>
          <a:p>
            <a:pPr algn="just">
              <a:lnSpc>
                <a:spcPts val="4672"/>
              </a:lnSpc>
            </a:pPr>
          </a:p>
          <a:p>
            <a:pPr algn="just">
              <a:lnSpc>
                <a:spcPts val="5092"/>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1028700" y="1143000"/>
            <a:ext cx="15779351" cy="869953"/>
          </a:xfrm>
          <a:prstGeom prst="rect">
            <a:avLst/>
          </a:prstGeom>
        </p:spPr>
        <p:txBody>
          <a:bodyPr anchor="t" rtlCol="false" tIns="0" lIns="0" bIns="0" rIns="0">
            <a:spAutoFit/>
          </a:bodyPr>
          <a:lstStyle/>
          <a:p>
            <a:pPr algn="ctr">
              <a:lnSpc>
                <a:spcPts val="6500"/>
              </a:lnSpc>
            </a:pPr>
            <a:r>
              <a:rPr lang="en-US" b="true" sz="6500">
                <a:solidFill>
                  <a:srgbClr val="6644A8"/>
                </a:solidFill>
                <a:latin typeface="Inter Heavy"/>
                <a:ea typeface="Inter Heavy"/>
                <a:cs typeface="Inter Heavy"/>
                <a:sym typeface="Inter Heavy"/>
              </a:rPr>
              <a:t>PERFORMANCE</a:t>
            </a:r>
          </a:p>
        </p:txBody>
      </p:sp>
      <p:sp>
        <p:nvSpPr>
          <p:cNvPr name="TextBox 10" id="10"/>
          <p:cNvSpPr txBox="true"/>
          <p:nvPr/>
        </p:nvSpPr>
        <p:spPr>
          <a:xfrm rot="0">
            <a:off x="1019175" y="3547298"/>
            <a:ext cx="16230600" cy="5108264"/>
          </a:xfrm>
          <a:prstGeom prst="rect">
            <a:avLst/>
          </a:prstGeom>
        </p:spPr>
        <p:txBody>
          <a:bodyPr anchor="t" rtlCol="false" tIns="0" lIns="0" bIns="0" rIns="0">
            <a:spAutoFit/>
          </a:bodyPr>
          <a:lstStyle/>
          <a:p>
            <a:pPr algn="just">
              <a:lnSpc>
                <a:spcPts val="5092"/>
              </a:lnSpc>
            </a:pPr>
            <a:r>
              <a:rPr lang="en-US" sz="3637">
                <a:solidFill>
                  <a:srgbClr val="000000"/>
                </a:solidFill>
                <a:latin typeface="Poppins"/>
                <a:ea typeface="Poppins"/>
                <a:cs typeface="Poppins"/>
                <a:sym typeface="Poppins"/>
              </a:rPr>
              <a:t>The performance is evaluated using:</a:t>
            </a:r>
          </a:p>
          <a:p>
            <a:pPr algn="just" marL="785278" indent="-392639" lvl="1">
              <a:lnSpc>
                <a:spcPts val="5092"/>
              </a:lnSpc>
              <a:buFont typeface="Arial"/>
              <a:buChar char="•"/>
            </a:pPr>
            <a:r>
              <a:rPr lang="en-US" sz="3637">
                <a:solidFill>
                  <a:srgbClr val="000000"/>
                </a:solidFill>
                <a:latin typeface="Poppins"/>
                <a:ea typeface="Poppins"/>
                <a:cs typeface="Poppins"/>
                <a:sym typeface="Poppins"/>
              </a:rPr>
              <a:t>Accuracy: Overall correctness of the model.</a:t>
            </a:r>
          </a:p>
          <a:p>
            <a:pPr algn="just" marL="785278" indent="-392639" lvl="1">
              <a:lnSpc>
                <a:spcPts val="5092"/>
              </a:lnSpc>
              <a:buFont typeface="Arial"/>
              <a:buChar char="•"/>
            </a:pPr>
            <a:r>
              <a:rPr lang="en-US" sz="3637">
                <a:solidFill>
                  <a:srgbClr val="000000"/>
                </a:solidFill>
                <a:latin typeface="Poppins"/>
                <a:ea typeface="Poppins"/>
                <a:cs typeface="Poppins"/>
                <a:sym typeface="Poppins"/>
              </a:rPr>
              <a:t>Confusion Matrix: To examine True Positives (TP), True Negatives (TN), False Positives (FP), and False Negatives (FN).</a:t>
            </a:r>
          </a:p>
          <a:p>
            <a:pPr algn="just" marL="785278" indent="-392639" lvl="1">
              <a:lnSpc>
                <a:spcPts val="5092"/>
              </a:lnSpc>
              <a:buFont typeface="Arial"/>
              <a:buChar char="•"/>
            </a:pPr>
            <a:r>
              <a:rPr lang="en-US" sz="3637">
                <a:solidFill>
                  <a:srgbClr val="000000"/>
                </a:solidFill>
                <a:latin typeface="Poppins"/>
                <a:ea typeface="Poppins"/>
                <a:cs typeface="Poppins"/>
                <a:sym typeface="Poppins"/>
              </a:rPr>
              <a:t>Classification Report: Includes precision, recall and F1-score.</a:t>
            </a:r>
          </a:p>
          <a:p>
            <a:pPr algn="just">
              <a:lnSpc>
                <a:spcPts val="5092"/>
              </a:lnSpc>
            </a:pPr>
          </a:p>
          <a:p>
            <a:pPr algn="just">
              <a:lnSpc>
                <a:spcPts val="5092"/>
              </a:lnSpc>
            </a:pPr>
          </a:p>
          <a:p>
            <a:pPr algn="just">
              <a:lnSpc>
                <a:spcPts val="5092"/>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254325" y="1575391"/>
            <a:ext cx="6697281" cy="5891514"/>
          </a:xfrm>
          <a:custGeom>
            <a:avLst/>
            <a:gdLst/>
            <a:ahLst/>
            <a:cxnLst/>
            <a:rect r="r" b="b" t="t" l="l"/>
            <a:pathLst>
              <a:path h="5891514" w="6697281">
                <a:moveTo>
                  <a:pt x="0" y="0"/>
                </a:moveTo>
                <a:lnTo>
                  <a:pt x="6697281" y="0"/>
                </a:lnTo>
                <a:lnTo>
                  <a:pt x="6697281" y="5891514"/>
                </a:lnTo>
                <a:lnTo>
                  <a:pt x="0" y="5891514"/>
                </a:lnTo>
                <a:lnTo>
                  <a:pt x="0" y="0"/>
                </a:lnTo>
                <a:close/>
              </a:path>
            </a:pathLst>
          </a:custGeom>
          <a:blipFill>
            <a:blip r:embed="rId4"/>
            <a:stretch>
              <a:fillRect l="0" t="0" r="0" b="0"/>
            </a:stretch>
          </a:blipFill>
        </p:spPr>
      </p:sp>
      <p:sp>
        <p:nvSpPr>
          <p:cNvPr name="Freeform 10" id="10"/>
          <p:cNvSpPr/>
          <p:nvPr/>
        </p:nvSpPr>
        <p:spPr>
          <a:xfrm flipH="false" flipV="false" rot="0">
            <a:off x="10614341" y="1575391"/>
            <a:ext cx="6644959" cy="5891514"/>
          </a:xfrm>
          <a:custGeom>
            <a:avLst/>
            <a:gdLst/>
            <a:ahLst/>
            <a:cxnLst/>
            <a:rect r="r" b="b" t="t" l="l"/>
            <a:pathLst>
              <a:path h="5891514" w="6644959">
                <a:moveTo>
                  <a:pt x="0" y="0"/>
                </a:moveTo>
                <a:lnTo>
                  <a:pt x="6644959" y="0"/>
                </a:lnTo>
                <a:lnTo>
                  <a:pt x="6644959" y="5891514"/>
                </a:lnTo>
                <a:lnTo>
                  <a:pt x="0" y="5891514"/>
                </a:lnTo>
                <a:lnTo>
                  <a:pt x="0" y="0"/>
                </a:lnTo>
                <a:close/>
              </a:path>
            </a:pathLst>
          </a:custGeom>
          <a:blipFill>
            <a:blip r:embed="rId5"/>
            <a:stretch>
              <a:fillRect l="0" t="0" r="0" b="0"/>
            </a:stretch>
          </a:blipFill>
        </p:spPr>
      </p:sp>
      <p:sp>
        <p:nvSpPr>
          <p:cNvPr name="TextBox 11" id="11"/>
          <p:cNvSpPr txBox="true"/>
          <p:nvPr/>
        </p:nvSpPr>
        <p:spPr>
          <a:xfrm rot="0">
            <a:off x="1254325" y="410821"/>
            <a:ext cx="15779351" cy="891542"/>
          </a:xfrm>
          <a:prstGeom prst="rect">
            <a:avLst/>
          </a:prstGeom>
        </p:spPr>
        <p:txBody>
          <a:bodyPr anchor="t" rtlCol="false" tIns="0" lIns="0" bIns="0" rIns="0">
            <a:spAutoFit/>
          </a:bodyPr>
          <a:lstStyle/>
          <a:p>
            <a:pPr algn="ctr">
              <a:lnSpc>
                <a:spcPts val="6600"/>
              </a:lnSpc>
            </a:pPr>
            <a:r>
              <a:rPr lang="en-US" b="true" sz="6600">
                <a:solidFill>
                  <a:srgbClr val="6644A8"/>
                </a:solidFill>
                <a:latin typeface="Inter Heavy"/>
                <a:ea typeface="Inter Heavy"/>
                <a:cs typeface="Inter Heavy"/>
                <a:sym typeface="Inter Heavy"/>
              </a:rPr>
              <a:t>MODEL </a:t>
            </a:r>
          </a:p>
        </p:txBody>
      </p:sp>
      <p:sp>
        <p:nvSpPr>
          <p:cNvPr name="TextBox 12" id="12"/>
          <p:cNvSpPr txBox="true"/>
          <p:nvPr/>
        </p:nvSpPr>
        <p:spPr>
          <a:xfrm rot="0">
            <a:off x="1488911" y="7803607"/>
            <a:ext cx="16230600" cy="3831914"/>
          </a:xfrm>
          <a:prstGeom prst="rect">
            <a:avLst/>
          </a:prstGeom>
        </p:spPr>
        <p:txBody>
          <a:bodyPr anchor="t" rtlCol="false" tIns="0" lIns="0" bIns="0" rIns="0">
            <a:spAutoFit/>
          </a:bodyPr>
          <a:lstStyle/>
          <a:p>
            <a:pPr algn="just">
              <a:lnSpc>
                <a:spcPts val="5092"/>
              </a:lnSpc>
            </a:pPr>
            <a:r>
              <a:rPr lang="en-US" sz="3637">
                <a:solidFill>
                  <a:srgbClr val="000000"/>
                </a:solidFill>
                <a:latin typeface="Poppins"/>
                <a:ea typeface="Poppins"/>
                <a:cs typeface="Poppins"/>
                <a:sym typeface="Poppins"/>
              </a:rPr>
              <a:t>Precision 1.00</a:t>
            </a:r>
          </a:p>
          <a:p>
            <a:pPr algn="just">
              <a:lnSpc>
                <a:spcPts val="5092"/>
              </a:lnSpc>
            </a:pPr>
            <a:r>
              <a:rPr lang="en-US" sz="3637">
                <a:solidFill>
                  <a:srgbClr val="000000"/>
                </a:solidFill>
                <a:latin typeface="Poppins"/>
                <a:ea typeface="Poppins"/>
                <a:cs typeface="Poppins"/>
                <a:sym typeface="Poppins"/>
              </a:rPr>
              <a:t>R</a:t>
            </a:r>
            <a:r>
              <a:rPr lang="en-US" sz="3637">
                <a:solidFill>
                  <a:srgbClr val="000000"/>
                </a:solidFill>
                <a:latin typeface="Poppins"/>
                <a:ea typeface="Poppins"/>
                <a:cs typeface="Poppins"/>
                <a:sym typeface="Poppins"/>
              </a:rPr>
              <a:t>ecall 1.00        →         Data Leakage/Overfitting</a:t>
            </a:r>
          </a:p>
          <a:p>
            <a:pPr algn="just">
              <a:lnSpc>
                <a:spcPts val="5092"/>
              </a:lnSpc>
            </a:pPr>
            <a:r>
              <a:rPr lang="en-US" sz="3637">
                <a:solidFill>
                  <a:srgbClr val="000000"/>
                </a:solidFill>
                <a:latin typeface="Poppins"/>
                <a:ea typeface="Poppins"/>
                <a:cs typeface="Poppins"/>
                <a:sym typeface="Poppins"/>
              </a:rPr>
              <a:t>F1-score 1.00</a:t>
            </a:r>
          </a:p>
          <a:p>
            <a:pPr algn="just">
              <a:lnSpc>
                <a:spcPts val="5092"/>
              </a:lnSpc>
            </a:pPr>
          </a:p>
          <a:p>
            <a:pPr algn="just">
              <a:lnSpc>
                <a:spcPts val="5092"/>
              </a:lnSpc>
            </a:pPr>
          </a:p>
          <a:p>
            <a:pPr algn="just">
              <a:lnSpc>
                <a:spcPts val="5092"/>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5400000">
            <a:off x="1168902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13340648" y="8758834"/>
            <a:ext cx="508889" cy="1507820"/>
          </a:xfrm>
          <a:custGeom>
            <a:avLst/>
            <a:gdLst/>
            <a:ahLst/>
            <a:cxnLst/>
            <a:rect r="r" b="b" t="t" l="l"/>
            <a:pathLst>
              <a:path h="1507820" w="508889">
                <a:moveTo>
                  <a:pt x="0" y="0"/>
                </a:moveTo>
                <a:lnTo>
                  <a:pt x="508890" y="0"/>
                </a:lnTo>
                <a:lnTo>
                  <a:pt x="508890"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5400000">
            <a:off x="15025902"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5400000">
            <a:off x="16711156" y="8758834"/>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9" id="9"/>
          <p:cNvSpPr txBox="true"/>
          <p:nvPr/>
        </p:nvSpPr>
        <p:spPr>
          <a:xfrm rot="0">
            <a:off x="1254325" y="831824"/>
            <a:ext cx="15779351" cy="800103"/>
          </a:xfrm>
          <a:prstGeom prst="rect">
            <a:avLst/>
          </a:prstGeom>
        </p:spPr>
        <p:txBody>
          <a:bodyPr anchor="t" rtlCol="false" tIns="0" lIns="0" bIns="0" rIns="0">
            <a:spAutoFit/>
          </a:bodyPr>
          <a:lstStyle/>
          <a:p>
            <a:pPr algn="ctr">
              <a:lnSpc>
                <a:spcPts val="6000"/>
              </a:lnSpc>
            </a:pPr>
            <a:r>
              <a:rPr lang="en-US" b="true" sz="6000">
                <a:solidFill>
                  <a:srgbClr val="6644A8"/>
                </a:solidFill>
                <a:latin typeface="Inter Bold"/>
                <a:ea typeface="Inter Bold"/>
                <a:cs typeface="Inter Bold"/>
                <a:sym typeface="Inter Bold"/>
              </a:rPr>
              <a:t>CROSS VALIDATION</a:t>
            </a:r>
          </a:p>
        </p:txBody>
      </p:sp>
      <p:sp>
        <p:nvSpPr>
          <p:cNvPr name="TextBox 10" id="10"/>
          <p:cNvSpPr txBox="true"/>
          <p:nvPr/>
        </p:nvSpPr>
        <p:spPr>
          <a:xfrm rot="0">
            <a:off x="1254325" y="5899118"/>
            <a:ext cx="16230600" cy="4125919"/>
          </a:xfrm>
          <a:prstGeom prst="rect">
            <a:avLst/>
          </a:prstGeom>
        </p:spPr>
        <p:txBody>
          <a:bodyPr anchor="t" rtlCol="false" tIns="0" lIns="0" bIns="0" rIns="0">
            <a:spAutoFit/>
          </a:bodyPr>
          <a:lstStyle/>
          <a:p>
            <a:pPr algn="just">
              <a:lnSpc>
                <a:spcPts val="4112"/>
              </a:lnSpc>
            </a:pPr>
            <a:r>
              <a:rPr lang="en-US" sz="2937">
                <a:solidFill>
                  <a:srgbClr val="000000"/>
                </a:solidFill>
                <a:latin typeface="Poppins"/>
                <a:ea typeface="Poppins"/>
                <a:cs typeface="Poppins"/>
                <a:sym typeface="Poppins"/>
              </a:rPr>
              <a:t>Results:</a:t>
            </a:r>
          </a:p>
          <a:p>
            <a:pPr algn="just">
              <a:lnSpc>
                <a:spcPts val="4112"/>
              </a:lnSpc>
            </a:pPr>
            <a:r>
              <a:rPr lang="en-US" sz="2937">
                <a:solidFill>
                  <a:srgbClr val="000000"/>
                </a:solidFill>
                <a:latin typeface="Poppins"/>
                <a:ea typeface="Poppins"/>
                <a:cs typeface="Poppins"/>
                <a:sym typeface="Poppins"/>
              </a:rPr>
              <a:t>Random Forest CV scores: [0.99832462 0.99965096 0.99993892 0.99994764 0.99942408] </a:t>
            </a:r>
          </a:p>
          <a:p>
            <a:pPr algn="just">
              <a:lnSpc>
                <a:spcPts val="4112"/>
              </a:lnSpc>
            </a:pPr>
          </a:p>
          <a:p>
            <a:pPr algn="just">
              <a:lnSpc>
                <a:spcPts val="4112"/>
              </a:lnSpc>
            </a:pPr>
            <a:r>
              <a:rPr lang="en-US" sz="2937">
                <a:solidFill>
                  <a:srgbClr val="000000"/>
                </a:solidFill>
                <a:latin typeface="Poppins"/>
                <a:ea typeface="Poppins"/>
                <a:cs typeface="Poppins"/>
                <a:sym typeface="Poppins"/>
              </a:rPr>
              <a:t>Decision Tree CV scores: [0.99990401 0.9999651 0.99998255 1. 1. ]</a:t>
            </a:r>
          </a:p>
          <a:p>
            <a:pPr algn="just">
              <a:lnSpc>
                <a:spcPts val="4112"/>
              </a:lnSpc>
            </a:pPr>
          </a:p>
          <a:p>
            <a:pPr algn="just">
              <a:lnSpc>
                <a:spcPts val="4112"/>
              </a:lnSpc>
            </a:pPr>
          </a:p>
          <a:p>
            <a:pPr algn="just">
              <a:lnSpc>
                <a:spcPts val="4112"/>
              </a:lnSpc>
            </a:pPr>
          </a:p>
        </p:txBody>
      </p:sp>
      <p:sp>
        <p:nvSpPr>
          <p:cNvPr name="TextBox 11" id="11"/>
          <p:cNvSpPr txBox="true"/>
          <p:nvPr/>
        </p:nvSpPr>
        <p:spPr>
          <a:xfrm rot="0">
            <a:off x="1028700" y="2166865"/>
            <a:ext cx="16230600" cy="2555564"/>
          </a:xfrm>
          <a:prstGeom prst="rect">
            <a:avLst/>
          </a:prstGeom>
        </p:spPr>
        <p:txBody>
          <a:bodyPr anchor="t" rtlCol="false" tIns="0" lIns="0" bIns="0" rIns="0">
            <a:spAutoFit/>
          </a:bodyPr>
          <a:lstStyle/>
          <a:p>
            <a:pPr algn="just" marL="785278" indent="-392639" lvl="1">
              <a:lnSpc>
                <a:spcPts val="5092"/>
              </a:lnSpc>
              <a:buFont typeface="Arial"/>
              <a:buChar char="•"/>
            </a:pPr>
            <a:r>
              <a:rPr lang="en-US" sz="3637">
                <a:solidFill>
                  <a:srgbClr val="000000"/>
                </a:solidFill>
                <a:latin typeface="Poppins"/>
                <a:ea typeface="Poppins"/>
                <a:cs typeface="Poppins"/>
                <a:sym typeface="Poppins"/>
              </a:rPr>
              <a:t>5 fold cross validation to evaluate the performance</a:t>
            </a:r>
          </a:p>
          <a:p>
            <a:pPr algn="just" marL="785278" indent="-392639" lvl="1">
              <a:lnSpc>
                <a:spcPts val="5092"/>
              </a:lnSpc>
              <a:buFont typeface="Arial"/>
              <a:buChar char="•"/>
            </a:pPr>
            <a:r>
              <a:rPr lang="en-US" sz="3637">
                <a:solidFill>
                  <a:srgbClr val="000000"/>
                </a:solidFill>
                <a:latin typeface="Poppins"/>
                <a:ea typeface="Poppins"/>
                <a:cs typeface="Poppins"/>
                <a:sym typeface="Poppins"/>
              </a:rPr>
              <a:t>Both models perform well but the Random Forest is slightly more stable while the Decision Tree is more prone to overfitting</a:t>
            </a:r>
          </a:p>
          <a:p>
            <a:pPr algn="just">
              <a:lnSpc>
                <a:spcPts val="5092"/>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24700" y="9512745"/>
            <a:ext cx="9249401" cy="9249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92299" y="1901325"/>
            <a:ext cx="6664804" cy="5889339"/>
          </a:xfrm>
          <a:custGeom>
            <a:avLst/>
            <a:gdLst/>
            <a:ahLst/>
            <a:cxnLst/>
            <a:rect r="r" b="b" t="t" l="l"/>
            <a:pathLst>
              <a:path h="5889339" w="6664804">
                <a:moveTo>
                  <a:pt x="0" y="0"/>
                </a:moveTo>
                <a:lnTo>
                  <a:pt x="6664803" y="0"/>
                </a:lnTo>
                <a:lnTo>
                  <a:pt x="6664803" y="5889339"/>
                </a:lnTo>
                <a:lnTo>
                  <a:pt x="0" y="5889339"/>
                </a:lnTo>
                <a:lnTo>
                  <a:pt x="0" y="0"/>
                </a:lnTo>
                <a:close/>
              </a:path>
            </a:pathLst>
          </a:custGeom>
          <a:blipFill>
            <a:blip r:embed="rId2"/>
            <a:stretch>
              <a:fillRect l="0" t="0" r="0" b="0"/>
            </a:stretch>
          </a:blipFill>
        </p:spPr>
      </p:sp>
      <p:sp>
        <p:nvSpPr>
          <p:cNvPr name="Freeform 6" id="6"/>
          <p:cNvSpPr/>
          <p:nvPr/>
        </p:nvSpPr>
        <p:spPr>
          <a:xfrm flipH="false" flipV="false" rot="0">
            <a:off x="10394653" y="1901325"/>
            <a:ext cx="6639022" cy="5900197"/>
          </a:xfrm>
          <a:custGeom>
            <a:avLst/>
            <a:gdLst/>
            <a:ahLst/>
            <a:cxnLst/>
            <a:rect r="r" b="b" t="t" l="l"/>
            <a:pathLst>
              <a:path h="5900197" w="6639022">
                <a:moveTo>
                  <a:pt x="0" y="0"/>
                </a:moveTo>
                <a:lnTo>
                  <a:pt x="6639022" y="0"/>
                </a:lnTo>
                <a:lnTo>
                  <a:pt x="6639022" y="5900197"/>
                </a:lnTo>
                <a:lnTo>
                  <a:pt x="0" y="5900197"/>
                </a:lnTo>
                <a:lnTo>
                  <a:pt x="0" y="0"/>
                </a:lnTo>
                <a:close/>
              </a:path>
            </a:pathLst>
          </a:custGeom>
          <a:blipFill>
            <a:blip r:embed="rId3"/>
            <a:stretch>
              <a:fillRect l="0" t="0" r="0" b="0"/>
            </a:stretch>
          </a:blipFill>
        </p:spPr>
      </p:sp>
      <p:sp>
        <p:nvSpPr>
          <p:cNvPr name="TextBox 7" id="7"/>
          <p:cNvSpPr txBox="true"/>
          <p:nvPr/>
        </p:nvSpPr>
        <p:spPr>
          <a:xfrm rot="0">
            <a:off x="1254325" y="493564"/>
            <a:ext cx="15779351" cy="939802"/>
          </a:xfrm>
          <a:prstGeom prst="rect">
            <a:avLst/>
          </a:prstGeom>
        </p:spPr>
        <p:txBody>
          <a:bodyPr anchor="t" rtlCol="false" tIns="0" lIns="0" bIns="0" rIns="0">
            <a:spAutoFit/>
          </a:bodyPr>
          <a:lstStyle/>
          <a:p>
            <a:pPr algn="ctr">
              <a:lnSpc>
                <a:spcPts val="7000"/>
              </a:lnSpc>
            </a:pPr>
            <a:r>
              <a:rPr lang="en-US" b="true" sz="7000">
                <a:solidFill>
                  <a:srgbClr val="6644A8"/>
                </a:solidFill>
                <a:latin typeface="Inter Heavy"/>
                <a:ea typeface="Inter Heavy"/>
                <a:cs typeface="Inter Heavy"/>
                <a:sym typeface="Inter Heavy"/>
              </a:rPr>
              <a:t>MODEL</a:t>
            </a:r>
          </a:p>
        </p:txBody>
      </p:sp>
      <p:sp>
        <p:nvSpPr>
          <p:cNvPr name="TextBox 8" id="8"/>
          <p:cNvSpPr txBox="true"/>
          <p:nvPr/>
        </p:nvSpPr>
        <p:spPr>
          <a:xfrm rot="0">
            <a:off x="2513268" y="7803607"/>
            <a:ext cx="4222865" cy="3831914"/>
          </a:xfrm>
          <a:prstGeom prst="rect">
            <a:avLst/>
          </a:prstGeom>
        </p:spPr>
        <p:txBody>
          <a:bodyPr anchor="t" rtlCol="false" tIns="0" lIns="0" bIns="0" rIns="0">
            <a:spAutoFit/>
          </a:bodyPr>
          <a:lstStyle/>
          <a:p>
            <a:pPr algn="just">
              <a:lnSpc>
                <a:spcPts val="5092"/>
              </a:lnSpc>
            </a:pPr>
            <a:r>
              <a:rPr lang="en-US" sz="3637">
                <a:solidFill>
                  <a:srgbClr val="000000"/>
                </a:solidFill>
                <a:latin typeface="Poppins"/>
                <a:ea typeface="Poppins"/>
                <a:cs typeface="Poppins"/>
                <a:sym typeface="Poppins"/>
              </a:rPr>
              <a:t>Precision: 0.8919 </a:t>
            </a:r>
          </a:p>
          <a:p>
            <a:pPr algn="just">
              <a:lnSpc>
                <a:spcPts val="5092"/>
              </a:lnSpc>
            </a:pPr>
            <a:r>
              <a:rPr lang="en-US" sz="3637">
                <a:solidFill>
                  <a:srgbClr val="000000"/>
                </a:solidFill>
                <a:latin typeface="Poppins"/>
                <a:ea typeface="Poppins"/>
                <a:cs typeface="Poppins"/>
                <a:sym typeface="Poppins"/>
              </a:rPr>
              <a:t>Recall: 0.8637 </a:t>
            </a:r>
          </a:p>
          <a:p>
            <a:pPr algn="just">
              <a:lnSpc>
                <a:spcPts val="5092"/>
              </a:lnSpc>
            </a:pPr>
            <a:r>
              <a:rPr lang="en-US" sz="3637">
                <a:solidFill>
                  <a:srgbClr val="000000"/>
                </a:solidFill>
                <a:latin typeface="Poppins"/>
                <a:ea typeface="Poppins"/>
                <a:cs typeface="Poppins"/>
                <a:sym typeface="Poppins"/>
              </a:rPr>
              <a:t>F1-Score: 0.8776</a:t>
            </a:r>
          </a:p>
          <a:p>
            <a:pPr algn="just">
              <a:lnSpc>
                <a:spcPts val="5092"/>
              </a:lnSpc>
            </a:pPr>
          </a:p>
          <a:p>
            <a:pPr algn="just">
              <a:lnSpc>
                <a:spcPts val="5092"/>
              </a:lnSpc>
            </a:pPr>
          </a:p>
          <a:p>
            <a:pPr algn="just">
              <a:lnSpc>
                <a:spcPts val="5092"/>
              </a:lnSpc>
            </a:pPr>
          </a:p>
        </p:txBody>
      </p:sp>
      <p:sp>
        <p:nvSpPr>
          <p:cNvPr name="TextBox 9" id="9"/>
          <p:cNvSpPr txBox="true"/>
          <p:nvPr/>
        </p:nvSpPr>
        <p:spPr>
          <a:xfrm rot="0">
            <a:off x="11483660" y="7956007"/>
            <a:ext cx="4863522" cy="3831914"/>
          </a:xfrm>
          <a:prstGeom prst="rect">
            <a:avLst/>
          </a:prstGeom>
        </p:spPr>
        <p:txBody>
          <a:bodyPr anchor="t" rtlCol="false" tIns="0" lIns="0" bIns="0" rIns="0">
            <a:spAutoFit/>
          </a:bodyPr>
          <a:lstStyle/>
          <a:p>
            <a:pPr algn="just">
              <a:lnSpc>
                <a:spcPts val="5092"/>
              </a:lnSpc>
            </a:pPr>
            <a:r>
              <a:rPr lang="en-US" sz="3637">
                <a:solidFill>
                  <a:srgbClr val="000000"/>
                </a:solidFill>
                <a:latin typeface="Poppins"/>
                <a:ea typeface="Poppins"/>
                <a:cs typeface="Poppins"/>
                <a:sym typeface="Poppins"/>
              </a:rPr>
              <a:t>Precision: 0.6187</a:t>
            </a:r>
          </a:p>
          <a:p>
            <a:pPr algn="just">
              <a:lnSpc>
                <a:spcPts val="5092"/>
              </a:lnSpc>
            </a:pPr>
            <a:r>
              <a:rPr lang="en-US" sz="3637">
                <a:solidFill>
                  <a:srgbClr val="000000"/>
                </a:solidFill>
                <a:latin typeface="Poppins"/>
                <a:ea typeface="Poppins"/>
                <a:cs typeface="Poppins"/>
                <a:sym typeface="Poppins"/>
              </a:rPr>
              <a:t>Recall: 0.7731 </a:t>
            </a:r>
          </a:p>
          <a:p>
            <a:pPr algn="just">
              <a:lnSpc>
                <a:spcPts val="5092"/>
              </a:lnSpc>
            </a:pPr>
            <a:r>
              <a:rPr lang="en-US" sz="3637">
                <a:solidFill>
                  <a:srgbClr val="000000"/>
                </a:solidFill>
                <a:latin typeface="Poppins"/>
                <a:ea typeface="Poppins"/>
                <a:cs typeface="Poppins"/>
                <a:sym typeface="Poppins"/>
              </a:rPr>
              <a:t>F1-Score: 0.6873</a:t>
            </a:r>
          </a:p>
          <a:p>
            <a:pPr algn="just">
              <a:lnSpc>
                <a:spcPts val="5092"/>
              </a:lnSpc>
            </a:pPr>
          </a:p>
          <a:p>
            <a:pPr algn="just">
              <a:lnSpc>
                <a:spcPts val="5092"/>
              </a:lnSpc>
            </a:pPr>
          </a:p>
          <a:p>
            <a:pPr algn="just">
              <a:lnSpc>
                <a:spcPts val="5092"/>
              </a:lnSpc>
            </a:pP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815148" y="4198303"/>
            <a:ext cx="8657704" cy="2189502"/>
          </a:xfrm>
          <a:prstGeom prst="rect">
            <a:avLst/>
          </a:prstGeom>
        </p:spPr>
        <p:txBody>
          <a:bodyPr anchor="t" rtlCol="false" tIns="0" lIns="0" bIns="0" rIns="0">
            <a:spAutoFit/>
          </a:bodyPr>
          <a:lstStyle/>
          <a:p>
            <a:pPr algn="ctr">
              <a:lnSpc>
                <a:spcPts val="17918"/>
              </a:lnSpc>
            </a:pPr>
            <a:r>
              <a:rPr lang="en-US" sz="12799" b="true">
                <a:solidFill>
                  <a:srgbClr val="6644A8"/>
                </a:solidFill>
                <a:latin typeface="Canva Sans Bold"/>
                <a:ea typeface="Canva Sans Bold"/>
                <a:cs typeface="Canva Sans Bold"/>
                <a:sym typeface="Canva Sans Bold"/>
              </a:rPr>
              <a:t>Regression</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608168"/>
            <a:ext cx="18288000" cy="8827932"/>
          </a:xfrm>
          <a:prstGeom prst="rect">
            <a:avLst/>
          </a:prstGeom>
        </p:spPr>
        <p:txBody>
          <a:bodyPr anchor="t" rtlCol="false" tIns="0" lIns="0" bIns="0" rIns="0">
            <a:spAutoFit/>
          </a:bodyPr>
          <a:lstStyle/>
          <a:p>
            <a:pPr algn="ctr">
              <a:lnSpc>
                <a:spcPts val="5599"/>
              </a:lnSpc>
            </a:pPr>
            <a:r>
              <a:rPr lang="en-US" sz="3999" b="true">
                <a:solidFill>
                  <a:srgbClr val="6644A8"/>
                </a:solidFill>
                <a:latin typeface="Poppins Bold"/>
                <a:ea typeface="Poppins Bold"/>
                <a:cs typeface="Poppins Bold"/>
                <a:sym typeface="Poppins Bold"/>
              </a:rPr>
              <a:t>How is regression going to help us with fraud detection:</a:t>
            </a:r>
          </a:p>
          <a:p>
            <a:pPr algn="ctr">
              <a:lnSpc>
                <a:spcPts val="4200"/>
              </a:lnSpc>
            </a:pPr>
          </a:p>
          <a:p>
            <a:pPr algn="ctr">
              <a:lnSpc>
                <a:spcPts val="4200"/>
              </a:lnSpc>
              <a:spcBef>
                <a:spcPct val="0"/>
              </a:spcBef>
            </a:pPr>
            <a:r>
              <a:rPr lang="en-US" b="true" sz="3000">
                <a:solidFill>
                  <a:srgbClr val="6644A8"/>
                </a:solidFill>
                <a:latin typeface="Poppins Bold"/>
                <a:ea typeface="Poppins Bold"/>
                <a:cs typeface="Poppins Bold"/>
                <a:sym typeface="Poppins Bold"/>
              </a:rPr>
              <a:t>1) Train regression m</a:t>
            </a:r>
            <a:r>
              <a:rPr lang="en-US" b="true" sz="3000">
                <a:solidFill>
                  <a:srgbClr val="6644A8"/>
                </a:solidFill>
                <a:latin typeface="Poppins Bold"/>
                <a:ea typeface="Poppins Bold"/>
                <a:cs typeface="Poppins Bold"/>
                <a:sym typeface="Poppins Bold"/>
              </a:rPr>
              <a:t>odel using the data. Using Transaction amount as the response variable(target) and the features in regression model. </a:t>
            </a:r>
          </a:p>
          <a:p>
            <a:pPr algn="ctr">
              <a:lnSpc>
                <a:spcPts val="4200"/>
              </a:lnSpc>
              <a:spcBef>
                <a:spcPct val="0"/>
              </a:spcBef>
            </a:pPr>
          </a:p>
          <a:p>
            <a:pPr algn="ctr">
              <a:lnSpc>
                <a:spcPts val="4200"/>
              </a:lnSpc>
              <a:spcBef>
                <a:spcPct val="0"/>
              </a:spcBef>
            </a:pPr>
          </a:p>
          <a:p>
            <a:pPr algn="ctr">
              <a:lnSpc>
                <a:spcPts val="4200"/>
              </a:lnSpc>
              <a:spcBef>
                <a:spcPct val="0"/>
              </a:spcBef>
            </a:pPr>
            <a:r>
              <a:rPr lang="en-US" b="true" sz="3000">
                <a:solidFill>
                  <a:srgbClr val="6644A8"/>
                </a:solidFill>
                <a:latin typeface="Poppins Bold"/>
                <a:ea typeface="Poppins Bold"/>
                <a:cs typeface="Poppins Bold"/>
                <a:sym typeface="Poppins Bold"/>
              </a:rPr>
              <a:t>2) Make predictions for new incoming transactions. Predict the expected new transaction(with the relevant features) using the model. </a:t>
            </a:r>
          </a:p>
          <a:p>
            <a:pPr algn="ctr">
              <a:lnSpc>
                <a:spcPts val="4200"/>
              </a:lnSpc>
              <a:spcBef>
                <a:spcPct val="0"/>
              </a:spcBef>
            </a:pPr>
          </a:p>
          <a:p>
            <a:pPr algn="ctr">
              <a:lnSpc>
                <a:spcPts val="4200"/>
              </a:lnSpc>
              <a:spcBef>
                <a:spcPct val="0"/>
              </a:spcBef>
            </a:pPr>
          </a:p>
          <a:p>
            <a:pPr algn="ctr">
              <a:lnSpc>
                <a:spcPts val="4200"/>
              </a:lnSpc>
              <a:spcBef>
                <a:spcPct val="0"/>
              </a:spcBef>
            </a:pPr>
            <a:r>
              <a:rPr lang="en-US" b="true" sz="3000">
                <a:solidFill>
                  <a:srgbClr val="6644A8"/>
                </a:solidFill>
                <a:latin typeface="Poppins Bold"/>
                <a:ea typeface="Poppins Bold"/>
                <a:cs typeface="Poppins Bold"/>
                <a:sym typeface="Poppins Bold"/>
              </a:rPr>
              <a:t>3) After generating the predicted values based on the features, can check to see if that predicted transaction amount actually exceeds the upper bound.</a:t>
            </a:r>
          </a:p>
          <a:p>
            <a:pPr algn="ctr">
              <a:lnSpc>
                <a:spcPts val="4200"/>
              </a:lnSpc>
              <a:spcBef>
                <a:spcPct val="0"/>
              </a:spcBef>
            </a:pPr>
          </a:p>
          <a:p>
            <a:pPr algn="ctr">
              <a:lnSpc>
                <a:spcPts val="4200"/>
              </a:lnSpc>
              <a:spcBef>
                <a:spcPct val="0"/>
              </a:spcBef>
            </a:pPr>
          </a:p>
          <a:p>
            <a:pPr algn="ctr">
              <a:lnSpc>
                <a:spcPts val="4200"/>
              </a:lnSpc>
              <a:spcBef>
                <a:spcPct val="0"/>
              </a:spcBef>
            </a:pPr>
            <a:r>
              <a:rPr lang="en-US" b="true" sz="3000">
                <a:solidFill>
                  <a:srgbClr val="6644A8"/>
                </a:solidFill>
                <a:latin typeface="Poppins Bold"/>
                <a:ea typeface="Poppins Bold"/>
                <a:cs typeface="Poppins Bold"/>
                <a:sym typeface="Poppins Bold"/>
              </a:rPr>
              <a:t>4) Flag accordingly if Predicted Transaction is higher than upper bound.</a:t>
            </a:r>
          </a:p>
          <a:p>
            <a:pPr algn="ctr">
              <a:lnSpc>
                <a:spcPts val="5092"/>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53050" y="923925"/>
            <a:ext cx="17581900" cy="8454552"/>
          </a:xfrm>
          <a:prstGeom prst="rect">
            <a:avLst/>
          </a:prstGeom>
        </p:spPr>
        <p:txBody>
          <a:bodyPr anchor="t" rtlCol="false" tIns="0" lIns="0" bIns="0" rIns="0">
            <a:spAutoFit/>
          </a:bodyPr>
          <a:lstStyle/>
          <a:p>
            <a:pPr algn="ctr">
              <a:lnSpc>
                <a:spcPts val="4759"/>
              </a:lnSpc>
              <a:spcBef>
                <a:spcPct val="0"/>
              </a:spcBef>
            </a:pPr>
            <a:r>
              <a:rPr lang="en-US" b="true" sz="3399">
                <a:solidFill>
                  <a:srgbClr val="6644A8"/>
                </a:solidFill>
                <a:latin typeface="Poppins Bold"/>
                <a:ea typeface="Poppins Bold"/>
                <a:cs typeface="Poppins Bold"/>
                <a:sym typeface="Poppins Bold"/>
              </a:rPr>
              <a:t>Key P</a:t>
            </a:r>
            <a:r>
              <a:rPr lang="en-US" b="true" sz="3399">
                <a:solidFill>
                  <a:srgbClr val="6644A8"/>
                </a:solidFill>
                <a:latin typeface="Poppins Bold"/>
                <a:ea typeface="Poppins Bold"/>
                <a:cs typeface="Poppins Bold"/>
                <a:sym typeface="Poppins Bold"/>
              </a:rPr>
              <a:t>oints:</a:t>
            </a:r>
          </a:p>
          <a:p>
            <a:pPr algn="ctr">
              <a:lnSpc>
                <a:spcPts val="4759"/>
              </a:lnSpc>
              <a:spcBef>
                <a:spcPct val="0"/>
              </a:spcBef>
            </a:pPr>
          </a:p>
          <a:p>
            <a:pPr algn="ctr">
              <a:lnSpc>
                <a:spcPts val="4759"/>
              </a:lnSpc>
              <a:spcBef>
                <a:spcPct val="0"/>
              </a:spcBef>
            </a:pPr>
            <a:r>
              <a:rPr lang="en-US" b="true" sz="3399">
                <a:solidFill>
                  <a:srgbClr val="6644A8"/>
                </a:solidFill>
                <a:latin typeface="Poppins Bold"/>
                <a:ea typeface="Poppins Bold"/>
                <a:cs typeface="Poppins Bold"/>
                <a:sym typeface="Poppins Bold"/>
              </a:rPr>
              <a:t>Must ensure that regression model is not biased and has a great matching capability.</a:t>
            </a:r>
          </a:p>
          <a:p>
            <a:pPr algn="ctr">
              <a:lnSpc>
                <a:spcPts val="4759"/>
              </a:lnSpc>
              <a:spcBef>
                <a:spcPct val="0"/>
              </a:spcBef>
            </a:pPr>
          </a:p>
          <a:p>
            <a:pPr algn="ctr">
              <a:lnSpc>
                <a:spcPts val="4759"/>
              </a:lnSpc>
              <a:spcBef>
                <a:spcPct val="0"/>
              </a:spcBef>
            </a:pPr>
            <a:r>
              <a:rPr lang="en-US" b="true" sz="3399">
                <a:solidFill>
                  <a:srgbClr val="6644A8"/>
                </a:solidFill>
                <a:latin typeface="Poppins Bold"/>
                <a:ea typeface="Poppins Bold"/>
                <a:cs typeface="Poppins Bold"/>
                <a:sym typeface="Poppins Bold"/>
              </a:rPr>
              <a:t>It would be excellent if the predicted values based on the features perfectly(or almost) perfectly match the actual future values. Can use both MSE and R^2 to determine this.</a:t>
            </a:r>
          </a:p>
          <a:p>
            <a:pPr algn="ctr">
              <a:lnSpc>
                <a:spcPts val="4759"/>
              </a:lnSpc>
              <a:spcBef>
                <a:spcPct val="0"/>
              </a:spcBef>
            </a:pPr>
          </a:p>
          <a:p>
            <a:pPr algn="ctr">
              <a:lnSpc>
                <a:spcPts val="4759"/>
              </a:lnSpc>
              <a:spcBef>
                <a:spcPct val="0"/>
              </a:spcBef>
            </a:pPr>
            <a:r>
              <a:rPr lang="en-US" b="true" sz="3399">
                <a:solidFill>
                  <a:srgbClr val="6644A8"/>
                </a:solidFill>
                <a:latin typeface="Poppins Bold"/>
                <a:ea typeface="Poppins Bold"/>
                <a:cs typeface="Poppins Bold"/>
                <a:sym typeface="Poppins Bold"/>
              </a:rPr>
              <a:t>R² = 1(closer to 1): A perfect fit.</a:t>
            </a:r>
          </a:p>
          <a:p>
            <a:pPr algn="ctr">
              <a:lnSpc>
                <a:spcPts val="4759"/>
              </a:lnSpc>
              <a:spcBef>
                <a:spcPct val="0"/>
              </a:spcBef>
            </a:pPr>
          </a:p>
          <a:p>
            <a:pPr algn="ctr">
              <a:lnSpc>
                <a:spcPts val="4759"/>
              </a:lnSpc>
              <a:spcBef>
                <a:spcPct val="0"/>
              </a:spcBef>
            </a:pPr>
            <a:r>
              <a:rPr lang="en-US" b="true" sz="3399">
                <a:solidFill>
                  <a:srgbClr val="6644A8"/>
                </a:solidFill>
                <a:latin typeface="Poppins Bold"/>
                <a:ea typeface="Poppins Bold"/>
                <a:cs typeface="Poppins Bold"/>
                <a:sym typeface="Poppins Bold"/>
              </a:rPr>
              <a:t>A lower MSE indicates that the predictions are closer to the actual values, meaning the model is performing well.</a:t>
            </a:r>
          </a:p>
          <a:p>
            <a:pPr algn="ctr">
              <a:lnSpc>
                <a:spcPts val="5092"/>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3525" y="483040"/>
            <a:ext cx="17680951" cy="8322945"/>
          </a:xfrm>
          <a:prstGeom prst="rect">
            <a:avLst/>
          </a:prstGeom>
        </p:spPr>
        <p:txBody>
          <a:bodyPr anchor="t" rtlCol="false" tIns="0" lIns="0" bIns="0" rIns="0">
            <a:spAutoFit/>
          </a:bodyPr>
          <a:lstStyle/>
          <a:p>
            <a:pPr algn="ctr">
              <a:lnSpc>
                <a:spcPts val="7000"/>
              </a:lnSpc>
              <a:spcBef>
                <a:spcPct val="0"/>
              </a:spcBef>
            </a:pPr>
            <a:r>
              <a:rPr lang="en-US" b="true" sz="5000">
                <a:solidFill>
                  <a:srgbClr val="6644A8"/>
                </a:solidFill>
                <a:latin typeface="Canva Sans Bold"/>
                <a:ea typeface="Canva Sans Bold"/>
                <a:cs typeface="Canva Sans Bold"/>
                <a:sym typeface="Canva Sans Bold"/>
              </a:rPr>
              <a:t>3 Regression M</a:t>
            </a:r>
            <a:r>
              <a:rPr lang="en-US" b="true" sz="5000">
                <a:solidFill>
                  <a:srgbClr val="6644A8"/>
                </a:solidFill>
                <a:latin typeface="Canva Sans Bold"/>
                <a:ea typeface="Canva Sans Bold"/>
                <a:cs typeface="Canva Sans Bold"/>
                <a:sym typeface="Canva Sans Bold"/>
              </a:rPr>
              <a:t>odels considered in project:</a:t>
            </a:r>
          </a:p>
          <a:p>
            <a:pPr algn="ctr">
              <a:lnSpc>
                <a:spcPts val="7000"/>
              </a:lnSpc>
              <a:spcBef>
                <a:spcPct val="0"/>
              </a:spcBef>
            </a:pPr>
          </a:p>
          <a:p>
            <a:pPr algn="ctr">
              <a:lnSpc>
                <a:spcPts val="7000"/>
              </a:lnSpc>
              <a:spcBef>
                <a:spcPct val="0"/>
              </a:spcBef>
            </a:pPr>
            <a:r>
              <a:rPr lang="en-US" b="true" sz="5000">
                <a:solidFill>
                  <a:srgbClr val="6644A8"/>
                </a:solidFill>
                <a:latin typeface="Canva Sans Bold"/>
                <a:ea typeface="Canva Sans Bold"/>
                <a:cs typeface="Canva Sans Bold"/>
                <a:sym typeface="Canva Sans Bold"/>
              </a:rPr>
              <a:t>1) Linear regression</a:t>
            </a:r>
          </a:p>
          <a:p>
            <a:pPr algn="ctr">
              <a:lnSpc>
                <a:spcPts val="7000"/>
              </a:lnSpc>
              <a:spcBef>
                <a:spcPct val="0"/>
              </a:spcBef>
            </a:pPr>
          </a:p>
          <a:p>
            <a:pPr algn="ctr">
              <a:lnSpc>
                <a:spcPts val="7000"/>
              </a:lnSpc>
              <a:spcBef>
                <a:spcPct val="0"/>
              </a:spcBef>
            </a:pPr>
            <a:r>
              <a:rPr lang="en-US" b="true" sz="5000">
                <a:solidFill>
                  <a:srgbClr val="6644A8"/>
                </a:solidFill>
                <a:latin typeface="Canva Sans Bold"/>
                <a:ea typeface="Canva Sans Bold"/>
                <a:cs typeface="Canva Sans Bold"/>
                <a:sym typeface="Canva Sans Bold"/>
              </a:rPr>
              <a:t>2) Support Vector Regression</a:t>
            </a:r>
          </a:p>
          <a:p>
            <a:pPr algn="ctr">
              <a:lnSpc>
                <a:spcPts val="7000"/>
              </a:lnSpc>
              <a:spcBef>
                <a:spcPct val="0"/>
              </a:spcBef>
            </a:pPr>
            <a:r>
              <a:rPr lang="en-US" b="true" sz="5000">
                <a:solidFill>
                  <a:srgbClr val="6644A8"/>
                </a:solidFill>
                <a:latin typeface="Canva Sans Bold"/>
                <a:ea typeface="Canva Sans Bold"/>
                <a:cs typeface="Canva Sans Bold"/>
                <a:sym typeface="Canva Sans Bold"/>
              </a:rPr>
              <a:t>- Linear model (Non-Linear not used)</a:t>
            </a:r>
          </a:p>
          <a:p>
            <a:pPr algn="ctr">
              <a:lnSpc>
                <a:spcPts val="7000"/>
              </a:lnSpc>
              <a:spcBef>
                <a:spcPct val="0"/>
              </a:spcBef>
            </a:pPr>
          </a:p>
          <a:p>
            <a:pPr algn="ctr">
              <a:lnSpc>
                <a:spcPts val="7000"/>
              </a:lnSpc>
              <a:spcBef>
                <a:spcPct val="0"/>
              </a:spcBef>
            </a:pPr>
          </a:p>
          <a:p>
            <a:pPr algn="ctr">
              <a:lnSpc>
                <a:spcPts val="7000"/>
              </a:lnSpc>
              <a:spcBef>
                <a:spcPct val="0"/>
              </a:spcBef>
            </a:pPr>
            <a:r>
              <a:rPr lang="en-US" b="true" sz="5000">
                <a:solidFill>
                  <a:srgbClr val="6644A8"/>
                </a:solidFill>
                <a:latin typeface="Canva Sans Bold"/>
                <a:ea typeface="Canva Sans Bold"/>
                <a:cs typeface="Canva Sans Bold"/>
                <a:sym typeface="Canva Sans Bold"/>
              </a:rPr>
              <a:t>3) Random Forest Regression</a:t>
            </a:r>
          </a:p>
          <a:p>
            <a:pPr algn="ctr">
              <a:lnSpc>
                <a:spcPts val="2659"/>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22345" y="353050"/>
            <a:ext cx="8687757" cy="8005982"/>
          </a:xfrm>
          <a:custGeom>
            <a:avLst/>
            <a:gdLst/>
            <a:ahLst/>
            <a:cxnLst/>
            <a:rect r="r" b="b" t="t" l="l"/>
            <a:pathLst>
              <a:path h="8005982" w="8687757">
                <a:moveTo>
                  <a:pt x="0" y="0"/>
                </a:moveTo>
                <a:lnTo>
                  <a:pt x="8687757" y="0"/>
                </a:lnTo>
                <a:lnTo>
                  <a:pt x="8687757" y="8005982"/>
                </a:lnTo>
                <a:lnTo>
                  <a:pt x="0" y="8005982"/>
                </a:lnTo>
                <a:lnTo>
                  <a:pt x="0" y="0"/>
                </a:lnTo>
                <a:close/>
              </a:path>
            </a:pathLst>
          </a:custGeom>
          <a:blipFill>
            <a:blip r:embed="rId2"/>
            <a:stretch>
              <a:fillRect l="0" t="0" r="0" b="0"/>
            </a:stretch>
          </a:blipFill>
        </p:spPr>
      </p:sp>
      <p:sp>
        <p:nvSpPr>
          <p:cNvPr name="TextBox 3" id="3"/>
          <p:cNvSpPr txBox="true"/>
          <p:nvPr/>
        </p:nvSpPr>
        <p:spPr>
          <a:xfrm rot="0">
            <a:off x="1028700" y="295900"/>
            <a:ext cx="5375670" cy="3714750"/>
          </a:xfrm>
          <a:prstGeom prst="rect">
            <a:avLst/>
          </a:prstGeom>
        </p:spPr>
        <p:txBody>
          <a:bodyPr anchor="t" rtlCol="false" tIns="0" lIns="0" bIns="0" rIns="0">
            <a:spAutoFit/>
          </a:bodyPr>
          <a:lstStyle/>
          <a:p>
            <a:pPr algn="ctr">
              <a:lnSpc>
                <a:spcPts val="4200"/>
              </a:lnSpc>
              <a:spcBef>
                <a:spcPct val="0"/>
              </a:spcBef>
            </a:pPr>
            <a:r>
              <a:rPr lang="en-US" b="true" sz="3000">
                <a:solidFill>
                  <a:srgbClr val="6644A8"/>
                </a:solidFill>
                <a:latin typeface="Canva Sans Bold"/>
                <a:ea typeface="Canva Sans Bold"/>
                <a:cs typeface="Canva Sans Bold"/>
                <a:sym typeface="Canva Sans Bold"/>
              </a:rPr>
              <a:t>C</a:t>
            </a:r>
            <a:r>
              <a:rPr lang="en-US" b="true" sz="3000">
                <a:solidFill>
                  <a:srgbClr val="6644A8"/>
                </a:solidFill>
                <a:latin typeface="Canva Sans Bold"/>
                <a:ea typeface="Canva Sans Bold"/>
                <a:cs typeface="Canva Sans Bold"/>
                <a:sym typeface="Canva Sans Bold"/>
              </a:rPr>
              <a:t>orrelation Heatmap (linear):</a:t>
            </a:r>
          </a:p>
          <a:p>
            <a:pPr algn="ctr">
              <a:lnSpc>
                <a:spcPts val="4200"/>
              </a:lnSpc>
              <a:spcBef>
                <a:spcPct val="0"/>
              </a:spcBef>
            </a:pPr>
          </a:p>
          <a:p>
            <a:pPr algn="ctr">
              <a:lnSpc>
                <a:spcPts val="4200"/>
              </a:lnSpc>
              <a:spcBef>
                <a:spcPct val="0"/>
              </a:spcBef>
            </a:pPr>
            <a:r>
              <a:rPr lang="en-US" b="true" sz="3000">
                <a:solidFill>
                  <a:srgbClr val="6644A8"/>
                </a:solidFill>
                <a:latin typeface="Canva Sans Bold"/>
                <a:ea typeface="Canva Sans Bold"/>
                <a:cs typeface="Canva Sans Bold"/>
                <a:sym typeface="Canva Sans Bold"/>
              </a:rPr>
              <a:t>To see which features are mostly related to the transaction amount</a:t>
            </a:r>
          </a:p>
          <a:p>
            <a:pPr algn="ctr">
              <a:lnSpc>
                <a:spcPts val="4200"/>
              </a:lnSpc>
              <a:spcBef>
                <a:spcPct val="0"/>
              </a:spcBef>
            </a:pPr>
          </a:p>
        </p:txBody>
      </p:sp>
      <p:sp>
        <p:nvSpPr>
          <p:cNvPr name="TextBox 4" id="4"/>
          <p:cNvSpPr txBox="true"/>
          <p:nvPr/>
        </p:nvSpPr>
        <p:spPr>
          <a:xfrm rot="0">
            <a:off x="8316331" y="8616950"/>
            <a:ext cx="8488859" cy="1216025"/>
          </a:xfrm>
          <a:prstGeom prst="rect">
            <a:avLst/>
          </a:prstGeom>
        </p:spPr>
        <p:txBody>
          <a:bodyPr anchor="t" rtlCol="false" tIns="0" lIns="0" bIns="0" rIns="0">
            <a:spAutoFit/>
          </a:bodyPr>
          <a:lstStyle/>
          <a:p>
            <a:pPr algn="ctr">
              <a:lnSpc>
                <a:spcPts val="4900"/>
              </a:lnSpc>
              <a:spcBef>
                <a:spcPct val="0"/>
              </a:spcBef>
            </a:pPr>
            <a:r>
              <a:rPr lang="en-US" b="true" sz="3500">
                <a:solidFill>
                  <a:srgbClr val="6644A8"/>
                </a:solidFill>
                <a:latin typeface="Canva Sans Bold"/>
                <a:ea typeface="Canva Sans Bold"/>
                <a:cs typeface="Canva Sans Bold"/>
                <a:sym typeface="Canva Sans Bold"/>
              </a:rPr>
              <a:t>(Ign</a:t>
            </a:r>
            <a:r>
              <a:rPr lang="en-US" b="true" sz="3500">
                <a:solidFill>
                  <a:srgbClr val="6644A8"/>
                </a:solidFill>
                <a:latin typeface="Canva Sans Bold"/>
                <a:ea typeface="Canva Sans Bold"/>
                <a:cs typeface="Canva Sans Bold"/>
                <a:sym typeface="Canva Sans Bold"/>
              </a:rPr>
              <a:t>oring the attrition flag column/row)</a:t>
            </a:r>
          </a:p>
          <a:p>
            <a:pPr algn="ctr">
              <a:lnSpc>
                <a:spcPts val="4900"/>
              </a:lnSpc>
              <a:spcBef>
                <a:spcPct val="0"/>
              </a:spcBef>
            </a:pPr>
          </a:p>
        </p:txBody>
      </p:sp>
      <p:sp>
        <p:nvSpPr>
          <p:cNvPr name="TextBox 5" id="5"/>
          <p:cNvSpPr txBox="true"/>
          <p:nvPr/>
        </p:nvSpPr>
        <p:spPr>
          <a:xfrm rot="0">
            <a:off x="250943" y="5076825"/>
            <a:ext cx="6931184" cy="3073400"/>
          </a:xfrm>
          <a:prstGeom prst="rect">
            <a:avLst/>
          </a:prstGeom>
        </p:spPr>
        <p:txBody>
          <a:bodyPr anchor="t" rtlCol="false" tIns="0" lIns="0" bIns="0" rIns="0">
            <a:spAutoFit/>
          </a:bodyPr>
          <a:lstStyle/>
          <a:p>
            <a:pPr algn="ctr">
              <a:lnSpc>
                <a:spcPts val="4900"/>
              </a:lnSpc>
              <a:spcBef>
                <a:spcPct val="0"/>
              </a:spcBef>
            </a:pPr>
            <a:r>
              <a:rPr lang="en-US" b="true" sz="3500">
                <a:solidFill>
                  <a:srgbClr val="6644A8"/>
                </a:solidFill>
                <a:latin typeface="Canva Sans Bold"/>
                <a:ea typeface="Canva Sans Bold"/>
                <a:cs typeface="Canva Sans Bold"/>
                <a:sym typeface="Canva Sans Bold"/>
              </a:rPr>
              <a:t>Fr</a:t>
            </a:r>
            <a:r>
              <a:rPr lang="en-US" b="true" sz="3500">
                <a:solidFill>
                  <a:srgbClr val="6644A8"/>
                </a:solidFill>
                <a:latin typeface="Canva Sans Bold"/>
                <a:ea typeface="Canva Sans Bold"/>
                <a:cs typeface="Canva Sans Bold"/>
                <a:sym typeface="Canva Sans Bold"/>
              </a:rPr>
              <a:t>om the heatmap, it can be seen that both Revenue and Target revenue are the closest to Transaction amount.</a:t>
            </a:r>
          </a:p>
          <a:p>
            <a:pPr algn="ctr">
              <a:lnSpc>
                <a:spcPts val="4900"/>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4778104"/>
            <a:ext cx="8636988" cy="4354632"/>
          </a:xfrm>
          <a:custGeom>
            <a:avLst/>
            <a:gdLst/>
            <a:ahLst/>
            <a:cxnLst/>
            <a:rect r="r" b="b" t="t" l="l"/>
            <a:pathLst>
              <a:path h="4354632" w="8636988">
                <a:moveTo>
                  <a:pt x="0" y="0"/>
                </a:moveTo>
                <a:lnTo>
                  <a:pt x="8636988" y="0"/>
                </a:lnTo>
                <a:lnTo>
                  <a:pt x="8636988" y="4354632"/>
                </a:lnTo>
                <a:lnTo>
                  <a:pt x="0" y="4354632"/>
                </a:lnTo>
                <a:lnTo>
                  <a:pt x="0" y="0"/>
                </a:lnTo>
                <a:close/>
              </a:path>
            </a:pathLst>
          </a:custGeom>
          <a:blipFill>
            <a:blip r:embed="rId2"/>
            <a:stretch>
              <a:fillRect l="0" t="0" r="0" b="0"/>
            </a:stretch>
          </a:blipFill>
        </p:spPr>
      </p:sp>
      <p:sp>
        <p:nvSpPr>
          <p:cNvPr name="TextBox 3" id="3"/>
          <p:cNvSpPr txBox="true"/>
          <p:nvPr/>
        </p:nvSpPr>
        <p:spPr>
          <a:xfrm rot="0">
            <a:off x="1833711" y="952500"/>
            <a:ext cx="14620577" cy="712472"/>
          </a:xfrm>
          <a:prstGeom prst="rect">
            <a:avLst/>
          </a:prstGeom>
        </p:spPr>
        <p:txBody>
          <a:bodyPr anchor="t" rtlCol="false" tIns="0" lIns="0" bIns="0" rIns="0">
            <a:spAutoFit/>
          </a:bodyPr>
          <a:lstStyle/>
          <a:p>
            <a:pPr algn="ctr">
              <a:lnSpc>
                <a:spcPts val="5879"/>
              </a:lnSpc>
              <a:spcBef>
                <a:spcPct val="0"/>
              </a:spcBef>
            </a:pPr>
            <a:r>
              <a:rPr lang="en-US" b="true" sz="4199">
                <a:solidFill>
                  <a:srgbClr val="6644A8"/>
                </a:solidFill>
                <a:latin typeface="Canva Sans Bold"/>
                <a:ea typeface="Canva Sans Bold"/>
                <a:cs typeface="Canva Sans Bold"/>
                <a:sym typeface="Canva Sans Bold"/>
              </a:rPr>
              <a:t>Explanation of why Linear Regression &amp; SVR Linear used:</a:t>
            </a:r>
          </a:p>
        </p:txBody>
      </p:sp>
      <p:sp>
        <p:nvSpPr>
          <p:cNvPr name="TextBox 4" id="4"/>
          <p:cNvSpPr txBox="true"/>
          <p:nvPr/>
        </p:nvSpPr>
        <p:spPr>
          <a:xfrm rot="0">
            <a:off x="523875" y="2427611"/>
            <a:ext cx="17240250" cy="2132965"/>
          </a:xfrm>
          <a:prstGeom prst="rect">
            <a:avLst/>
          </a:prstGeom>
        </p:spPr>
        <p:txBody>
          <a:bodyPr anchor="t" rtlCol="false" tIns="0" lIns="0" bIns="0" rIns="0">
            <a:spAutoFit/>
          </a:bodyPr>
          <a:lstStyle/>
          <a:p>
            <a:pPr algn="ctr">
              <a:lnSpc>
                <a:spcPts val="4759"/>
              </a:lnSpc>
              <a:spcBef>
                <a:spcPct val="0"/>
              </a:spcBef>
            </a:pPr>
            <a:r>
              <a:rPr lang="en-US" b="true" sz="3399">
                <a:solidFill>
                  <a:srgbClr val="6644A8"/>
                </a:solidFill>
                <a:latin typeface="Canva Sans Bold"/>
                <a:ea typeface="Canva Sans Bold"/>
                <a:cs typeface="Canva Sans Bold"/>
                <a:sym typeface="Canva Sans Bold"/>
              </a:rPr>
              <a:t>Bef</a:t>
            </a:r>
            <a:r>
              <a:rPr lang="en-US" b="true" sz="3399">
                <a:solidFill>
                  <a:srgbClr val="6644A8"/>
                </a:solidFill>
                <a:latin typeface="Canva Sans Bold"/>
                <a:ea typeface="Canva Sans Bold"/>
                <a:cs typeface="Canva Sans Bold"/>
                <a:sym typeface="Canva Sans Bold"/>
              </a:rPr>
              <a:t>ore using Linear Reg./SVR, ensuring if features used are linear with the response variable(Trans_Amount). Done by using scatter plot, with trans_amount vs revenue &amp; trans_amount vs target_revenue (individually)</a:t>
            </a:r>
          </a:p>
          <a:p>
            <a:pPr algn="ctr">
              <a:lnSpc>
                <a:spcPts val="2659"/>
              </a:lnSpc>
              <a:spcBef>
                <a:spcPct val="0"/>
              </a:spcBef>
            </a:pPr>
          </a:p>
        </p:txBody>
      </p:sp>
      <p:sp>
        <p:nvSpPr>
          <p:cNvPr name="TextBox 5" id="5"/>
          <p:cNvSpPr txBox="true"/>
          <p:nvPr/>
        </p:nvSpPr>
        <p:spPr>
          <a:xfrm rot="0">
            <a:off x="11189271" y="7458800"/>
            <a:ext cx="6070029" cy="2114550"/>
          </a:xfrm>
          <a:prstGeom prst="rect">
            <a:avLst/>
          </a:prstGeom>
        </p:spPr>
        <p:txBody>
          <a:bodyPr anchor="t" rtlCol="false" tIns="0" lIns="0" bIns="0" rIns="0">
            <a:spAutoFit/>
          </a:bodyPr>
          <a:lstStyle/>
          <a:p>
            <a:pPr algn="ctr">
              <a:lnSpc>
                <a:spcPts val="4200"/>
              </a:lnSpc>
              <a:spcBef>
                <a:spcPct val="0"/>
              </a:spcBef>
            </a:pPr>
            <a:r>
              <a:rPr lang="en-US" b="true" sz="3000">
                <a:solidFill>
                  <a:srgbClr val="6644A8"/>
                </a:solidFill>
                <a:latin typeface="Canva Sans Bold"/>
                <a:ea typeface="Canva Sans Bold"/>
                <a:cs typeface="Canva Sans Bold"/>
                <a:sym typeface="Canva Sans Bold"/>
              </a:rPr>
              <a:t>C</a:t>
            </a:r>
            <a:r>
              <a:rPr lang="en-US" b="true" sz="3000">
                <a:solidFill>
                  <a:srgbClr val="6644A8"/>
                </a:solidFill>
                <a:latin typeface="Canva Sans Bold"/>
                <a:ea typeface="Canva Sans Bold"/>
                <a:cs typeface="Canva Sans Bold"/>
                <a:sym typeface="Canva Sans Bold"/>
              </a:rPr>
              <a:t>orrelation (Revenue vs Trans_Amount): 0.942 Correlation (Target Revenue vs Trans_Amount): 0.945</a:t>
            </a:r>
          </a:p>
        </p:txBody>
      </p:sp>
      <p:sp>
        <p:nvSpPr>
          <p:cNvPr name="TextBox 6" id="6"/>
          <p:cNvSpPr txBox="true"/>
          <p:nvPr/>
        </p:nvSpPr>
        <p:spPr>
          <a:xfrm rot="0">
            <a:off x="10950873" y="4522476"/>
            <a:ext cx="6308427" cy="2993474"/>
          </a:xfrm>
          <a:prstGeom prst="rect">
            <a:avLst/>
          </a:prstGeom>
        </p:spPr>
        <p:txBody>
          <a:bodyPr anchor="t" rtlCol="false" tIns="0" lIns="0" bIns="0" rIns="0">
            <a:spAutoFit/>
          </a:bodyPr>
          <a:lstStyle/>
          <a:p>
            <a:pPr algn="ctr">
              <a:lnSpc>
                <a:spcPts val="3411"/>
              </a:lnSpc>
              <a:spcBef>
                <a:spcPct val="0"/>
              </a:spcBef>
            </a:pPr>
            <a:r>
              <a:rPr lang="en-US" b="true" sz="2436">
                <a:solidFill>
                  <a:srgbClr val="6644A8"/>
                </a:solidFill>
                <a:latin typeface="Canva Sans Bold"/>
                <a:ea typeface="Canva Sans Bold"/>
                <a:cs typeface="Canva Sans Bold"/>
                <a:sym typeface="Canva Sans Bold"/>
              </a:rPr>
              <a:t>Vis</a:t>
            </a:r>
            <a:r>
              <a:rPr lang="en-US" b="true" sz="2436">
                <a:solidFill>
                  <a:srgbClr val="6644A8"/>
                </a:solidFill>
                <a:latin typeface="Canva Sans Bold"/>
                <a:ea typeface="Canva Sans Bold"/>
                <a:cs typeface="Canva Sans Bold"/>
                <a:sym typeface="Canva Sans Bold"/>
              </a:rPr>
              <a:t>ually looks very linear. At the same time, correlation coefficient(r) of more than 0.94, linear regression may be appropriate and SVR linear appropriate(non-linear SVR not appropriate)</a:t>
            </a:r>
          </a:p>
          <a:p>
            <a:pPr algn="ctr">
              <a:lnSpc>
                <a:spcPts val="3411"/>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6837" y="4265066"/>
            <a:ext cx="7039901" cy="5192158"/>
          </a:xfrm>
          <a:custGeom>
            <a:avLst/>
            <a:gdLst/>
            <a:ahLst/>
            <a:cxnLst/>
            <a:rect r="r" b="b" t="t" l="l"/>
            <a:pathLst>
              <a:path h="5192158" w="7039901">
                <a:moveTo>
                  <a:pt x="0" y="0"/>
                </a:moveTo>
                <a:lnTo>
                  <a:pt x="7039901" y="0"/>
                </a:lnTo>
                <a:lnTo>
                  <a:pt x="7039901" y="5192158"/>
                </a:lnTo>
                <a:lnTo>
                  <a:pt x="0" y="5192158"/>
                </a:lnTo>
                <a:lnTo>
                  <a:pt x="0" y="0"/>
                </a:lnTo>
                <a:close/>
              </a:path>
            </a:pathLst>
          </a:custGeom>
          <a:blipFill>
            <a:blip r:embed="rId2"/>
            <a:stretch>
              <a:fillRect l="0" t="0" r="0" b="0"/>
            </a:stretch>
          </a:blipFill>
        </p:spPr>
      </p:sp>
      <p:sp>
        <p:nvSpPr>
          <p:cNvPr name="TextBox 3" id="3"/>
          <p:cNvSpPr txBox="true"/>
          <p:nvPr/>
        </p:nvSpPr>
        <p:spPr>
          <a:xfrm rot="0">
            <a:off x="5574039" y="492565"/>
            <a:ext cx="7139923" cy="189865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Line</a:t>
            </a:r>
            <a:r>
              <a:rPr lang="en-US" b="true" sz="5499">
                <a:solidFill>
                  <a:srgbClr val="6644A8"/>
                </a:solidFill>
                <a:latin typeface="Canva Sans Bold"/>
                <a:ea typeface="Canva Sans Bold"/>
                <a:cs typeface="Canva Sans Bold"/>
                <a:sym typeface="Canva Sans Bold"/>
              </a:rPr>
              <a:t>ar Regression:</a:t>
            </a:r>
          </a:p>
          <a:p>
            <a:pPr algn="ctr">
              <a:lnSpc>
                <a:spcPts val="7699"/>
              </a:lnSpc>
              <a:spcBef>
                <a:spcPct val="0"/>
              </a:spcBef>
            </a:pPr>
          </a:p>
        </p:txBody>
      </p:sp>
      <p:sp>
        <p:nvSpPr>
          <p:cNvPr name="TextBox 4" id="4"/>
          <p:cNvSpPr txBox="true"/>
          <p:nvPr/>
        </p:nvSpPr>
        <p:spPr>
          <a:xfrm rot="0">
            <a:off x="0" y="1775866"/>
            <a:ext cx="18288000" cy="2489200"/>
          </a:xfrm>
          <a:prstGeom prst="rect">
            <a:avLst/>
          </a:prstGeom>
        </p:spPr>
        <p:txBody>
          <a:bodyPr anchor="t" rtlCol="false" tIns="0" lIns="0" bIns="0" rIns="0">
            <a:spAutoFit/>
          </a:bodyPr>
          <a:lstStyle/>
          <a:p>
            <a:pPr algn="ctr">
              <a:lnSpc>
                <a:spcPts val="4339"/>
              </a:lnSpc>
              <a:spcBef>
                <a:spcPct val="0"/>
              </a:spcBef>
            </a:pPr>
            <a:r>
              <a:rPr lang="en-US" b="true" sz="3099">
                <a:solidFill>
                  <a:srgbClr val="6644A8"/>
                </a:solidFill>
                <a:latin typeface="Canva Sans Bold"/>
                <a:ea typeface="Canva Sans Bold"/>
                <a:cs typeface="Canva Sans Bold"/>
                <a:sym typeface="Canva Sans Bold"/>
              </a:rPr>
              <a:t>It is a statistical m</a:t>
            </a:r>
            <a:r>
              <a:rPr lang="en-US" b="true" sz="3099">
                <a:solidFill>
                  <a:srgbClr val="6644A8"/>
                </a:solidFill>
                <a:latin typeface="Canva Sans Bold"/>
                <a:ea typeface="Canva Sans Bold"/>
                <a:cs typeface="Canva Sans Bold"/>
                <a:sym typeface="Canva Sans Bold"/>
              </a:rPr>
              <a:t>odel that is used to model the relationship between a target variable(response) and one or more independent variables(features), by fitting a linear equation to the data. It assumes the relationship between variables are linear, i.e. any change in input feature will result in proportional changes in the output response. (Basic)</a:t>
            </a:r>
          </a:p>
          <a:p>
            <a:pPr algn="ctr">
              <a:lnSpc>
                <a:spcPts val="2659"/>
              </a:lnSpc>
              <a:spcBef>
                <a:spcPct val="0"/>
              </a:spcBef>
            </a:pPr>
          </a:p>
        </p:txBody>
      </p:sp>
      <p:sp>
        <p:nvSpPr>
          <p:cNvPr name="TextBox 5" id="5"/>
          <p:cNvSpPr txBox="true"/>
          <p:nvPr/>
        </p:nvSpPr>
        <p:spPr>
          <a:xfrm rot="0">
            <a:off x="10494392" y="4217441"/>
            <a:ext cx="6764908" cy="5557520"/>
          </a:xfrm>
          <a:prstGeom prst="rect">
            <a:avLst/>
          </a:prstGeom>
        </p:spPr>
        <p:txBody>
          <a:bodyPr anchor="t" rtlCol="false" tIns="0" lIns="0" bIns="0" rIns="0">
            <a:spAutoFit/>
          </a:bodyPr>
          <a:lstStyle/>
          <a:p>
            <a:pPr algn="ctr">
              <a:lnSpc>
                <a:spcPts val="4199"/>
              </a:lnSpc>
            </a:pPr>
            <a:r>
              <a:rPr lang="en-US" sz="2999" b="true">
                <a:solidFill>
                  <a:srgbClr val="6644A8"/>
                </a:solidFill>
                <a:latin typeface="Canva Sans Bold"/>
                <a:ea typeface="Canva Sans Bold"/>
                <a:cs typeface="Canva Sans Bold"/>
                <a:sym typeface="Canva Sans Bold"/>
              </a:rPr>
              <a:t>Using:</a:t>
            </a:r>
          </a:p>
          <a:p>
            <a:pPr algn="ctr">
              <a:lnSpc>
                <a:spcPts val="4199"/>
              </a:lnSpc>
            </a:pPr>
          </a:p>
          <a:p>
            <a:pPr algn="ctr">
              <a:lnSpc>
                <a:spcPts val="4199"/>
              </a:lnSpc>
              <a:spcBef>
                <a:spcPct val="0"/>
              </a:spcBef>
            </a:pPr>
            <a:r>
              <a:rPr lang="en-US" b="true" sz="2999">
                <a:solidFill>
                  <a:srgbClr val="6644A8"/>
                </a:solidFill>
                <a:latin typeface="Canva Sans Bold"/>
                <a:ea typeface="Canva Sans Bold"/>
                <a:cs typeface="Canva Sans Bold"/>
                <a:sym typeface="Canva Sans Bold"/>
              </a:rPr>
              <a:t>Resp</a:t>
            </a:r>
            <a:r>
              <a:rPr lang="en-US" b="true" sz="2999">
                <a:solidFill>
                  <a:srgbClr val="6644A8"/>
                </a:solidFill>
                <a:latin typeface="Canva Sans Bold"/>
                <a:ea typeface="Canva Sans Bold"/>
                <a:cs typeface="Canva Sans Bold"/>
                <a:sym typeface="Canva Sans Bold"/>
              </a:rPr>
              <a:t>onse- Trans_Amount</a:t>
            </a:r>
          </a:p>
          <a:p>
            <a:pPr algn="ctr">
              <a:lnSpc>
                <a:spcPts val="4199"/>
              </a:lnSpc>
              <a:spcBef>
                <a:spcPct val="0"/>
              </a:spcBef>
            </a:pPr>
          </a:p>
          <a:p>
            <a:pPr algn="ctr">
              <a:lnSpc>
                <a:spcPts val="4199"/>
              </a:lnSpc>
              <a:spcBef>
                <a:spcPct val="0"/>
              </a:spcBef>
            </a:pPr>
            <a:r>
              <a:rPr lang="en-US" b="true" sz="2999">
                <a:solidFill>
                  <a:srgbClr val="6644A8"/>
                </a:solidFill>
                <a:latin typeface="Canva Sans Bold"/>
                <a:ea typeface="Canva Sans Bold"/>
                <a:cs typeface="Canva Sans Bold"/>
                <a:sym typeface="Canva Sans Bold"/>
              </a:rPr>
              <a:t>Features- Revenue, Target_Revenue</a:t>
            </a:r>
          </a:p>
          <a:p>
            <a:pPr algn="ctr">
              <a:lnSpc>
                <a:spcPts val="4199"/>
              </a:lnSpc>
              <a:spcBef>
                <a:spcPct val="0"/>
              </a:spcBef>
            </a:pPr>
          </a:p>
          <a:p>
            <a:pPr algn="ctr">
              <a:lnSpc>
                <a:spcPts val="4199"/>
              </a:lnSpc>
              <a:spcBef>
                <a:spcPct val="0"/>
              </a:spcBef>
            </a:pPr>
            <a:r>
              <a:rPr lang="en-US" b="true" sz="2999">
                <a:solidFill>
                  <a:srgbClr val="6644A8"/>
                </a:solidFill>
                <a:latin typeface="Canva Sans Bold"/>
                <a:ea typeface="Canva Sans Bold"/>
                <a:cs typeface="Canva Sans Bold"/>
                <a:sym typeface="Canva Sans Bold"/>
              </a:rPr>
              <a:t>Results of linear Regression:</a:t>
            </a:r>
          </a:p>
          <a:p>
            <a:pPr algn="ctr">
              <a:lnSpc>
                <a:spcPts val="4199"/>
              </a:lnSpc>
              <a:spcBef>
                <a:spcPct val="0"/>
              </a:spcBef>
            </a:pPr>
          </a:p>
          <a:p>
            <a:pPr algn="ctr">
              <a:lnSpc>
                <a:spcPts val="4199"/>
              </a:lnSpc>
              <a:spcBef>
                <a:spcPct val="0"/>
              </a:spcBef>
            </a:pPr>
            <a:r>
              <a:rPr lang="en-US" b="true" sz="2999">
                <a:solidFill>
                  <a:srgbClr val="6644A8"/>
                </a:solidFill>
                <a:latin typeface="Canva Sans Bold"/>
                <a:ea typeface="Canva Sans Bold"/>
                <a:cs typeface="Canva Sans Bold"/>
                <a:sym typeface="Canva Sans Bold"/>
              </a:rPr>
              <a:t>Mean Squared Error (MSE): 10415.24</a:t>
            </a:r>
          </a:p>
          <a:p>
            <a:pPr algn="ctr">
              <a:lnSpc>
                <a:spcPts val="4199"/>
              </a:lnSpc>
              <a:spcBef>
                <a:spcPct val="0"/>
              </a:spcBef>
            </a:pPr>
            <a:r>
              <a:rPr lang="en-US" b="true" sz="2999">
                <a:solidFill>
                  <a:srgbClr val="6644A8"/>
                </a:solidFill>
                <a:latin typeface="Canva Sans Bold"/>
                <a:ea typeface="Canva Sans Bold"/>
                <a:cs typeface="Canva Sans Bold"/>
                <a:sym typeface="Canva Sans Bold"/>
              </a:rPr>
              <a:t>R² Score: 0.9053</a:t>
            </a:r>
          </a:p>
          <a:p>
            <a:pPr algn="ctr">
              <a:lnSpc>
                <a:spcPts val="2659"/>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5778" y="5143500"/>
            <a:ext cx="6072610" cy="3521219"/>
          </a:xfrm>
          <a:custGeom>
            <a:avLst/>
            <a:gdLst/>
            <a:ahLst/>
            <a:cxnLst/>
            <a:rect r="r" b="b" t="t" l="l"/>
            <a:pathLst>
              <a:path h="3521219" w="6072610">
                <a:moveTo>
                  <a:pt x="0" y="0"/>
                </a:moveTo>
                <a:lnTo>
                  <a:pt x="6072610" y="0"/>
                </a:lnTo>
                <a:lnTo>
                  <a:pt x="6072610" y="3521219"/>
                </a:lnTo>
                <a:lnTo>
                  <a:pt x="0" y="3521219"/>
                </a:lnTo>
                <a:lnTo>
                  <a:pt x="0" y="0"/>
                </a:lnTo>
                <a:close/>
              </a:path>
            </a:pathLst>
          </a:custGeom>
          <a:blipFill>
            <a:blip r:embed="rId2"/>
            <a:stretch>
              <a:fillRect l="0" t="0" r="0" b="0"/>
            </a:stretch>
          </a:blipFill>
        </p:spPr>
      </p:sp>
      <p:sp>
        <p:nvSpPr>
          <p:cNvPr name="TextBox 3" id="3"/>
          <p:cNvSpPr txBox="true"/>
          <p:nvPr/>
        </p:nvSpPr>
        <p:spPr>
          <a:xfrm rot="0">
            <a:off x="7048388" y="596630"/>
            <a:ext cx="4191223" cy="189865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SVR(Line</a:t>
            </a:r>
            <a:r>
              <a:rPr lang="en-US" b="true" sz="5499">
                <a:solidFill>
                  <a:srgbClr val="6644A8"/>
                </a:solidFill>
                <a:latin typeface="Canva Sans Bold"/>
                <a:ea typeface="Canva Sans Bold"/>
                <a:cs typeface="Canva Sans Bold"/>
                <a:sym typeface="Canva Sans Bold"/>
              </a:rPr>
              <a:t>ar):</a:t>
            </a:r>
          </a:p>
          <a:p>
            <a:pPr algn="ctr">
              <a:lnSpc>
                <a:spcPts val="7699"/>
              </a:lnSpc>
              <a:spcBef>
                <a:spcPct val="0"/>
              </a:spcBef>
            </a:pPr>
          </a:p>
        </p:txBody>
      </p:sp>
      <p:sp>
        <p:nvSpPr>
          <p:cNvPr name="TextBox 4" id="4"/>
          <p:cNvSpPr txBox="true"/>
          <p:nvPr/>
        </p:nvSpPr>
        <p:spPr>
          <a:xfrm rot="0">
            <a:off x="523875" y="1962150"/>
            <a:ext cx="17240250" cy="3181350"/>
          </a:xfrm>
          <a:prstGeom prst="rect">
            <a:avLst/>
          </a:prstGeom>
        </p:spPr>
        <p:txBody>
          <a:bodyPr anchor="t" rtlCol="false" tIns="0" lIns="0" bIns="0" rIns="0">
            <a:spAutoFit/>
          </a:bodyPr>
          <a:lstStyle/>
          <a:p>
            <a:pPr algn="ctr">
              <a:lnSpc>
                <a:spcPts val="4200"/>
              </a:lnSpc>
              <a:spcBef>
                <a:spcPct val="0"/>
              </a:spcBef>
            </a:pPr>
            <a:r>
              <a:rPr lang="en-US" b="true" sz="3000">
                <a:solidFill>
                  <a:srgbClr val="6644A8"/>
                </a:solidFill>
                <a:latin typeface="Canva Sans Bold"/>
                <a:ea typeface="Canva Sans Bold"/>
                <a:cs typeface="Canva Sans Bold"/>
                <a:sym typeface="Canva Sans Bold"/>
              </a:rPr>
              <a:t>SVR fits a regressi</a:t>
            </a:r>
            <a:r>
              <a:rPr lang="en-US" b="true" sz="3000">
                <a:solidFill>
                  <a:srgbClr val="6644A8"/>
                </a:solidFill>
                <a:latin typeface="Canva Sans Bold"/>
                <a:ea typeface="Canva Sans Bold"/>
                <a:cs typeface="Canva Sans Bold"/>
                <a:sym typeface="Canva Sans Bold"/>
              </a:rPr>
              <a:t>on line to the data, within an epsilon tube(defined margin) while allowing some errors outside the tube. Support vectors are also used, which are data point closest to the line, to determine the best fit. </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Differs from linear regression by allowing errors within a margin and is more robust to outliers by focusing on support vectors that influence the model. </a:t>
            </a:r>
          </a:p>
          <a:p>
            <a:pPr algn="ctr">
              <a:lnSpc>
                <a:spcPts val="4200"/>
              </a:lnSpc>
              <a:spcBef>
                <a:spcPct val="0"/>
              </a:spcBef>
            </a:pPr>
          </a:p>
        </p:txBody>
      </p:sp>
      <p:sp>
        <p:nvSpPr>
          <p:cNvPr name="TextBox 5" id="5"/>
          <p:cNvSpPr txBox="true"/>
          <p:nvPr/>
        </p:nvSpPr>
        <p:spPr>
          <a:xfrm rot="0">
            <a:off x="10931793" y="5086350"/>
            <a:ext cx="6072610" cy="4248150"/>
          </a:xfrm>
          <a:prstGeom prst="rect">
            <a:avLst/>
          </a:prstGeom>
        </p:spPr>
        <p:txBody>
          <a:bodyPr anchor="t" rtlCol="false" tIns="0" lIns="0" bIns="0" rIns="0">
            <a:spAutoFit/>
          </a:bodyPr>
          <a:lstStyle/>
          <a:p>
            <a:pPr algn="ctr">
              <a:lnSpc>
                <a:spcPts val="4200"/>
              </a:lnSpc>
              <a:spcBef>
                <a:spcPct val="0"/>
              </a:spcBef>
            </a:pPr>
            <a:r>
              <a:rPr lang="en-US" b="true" sz="3000">
                <a:solidFill>
                  <a:srgbClr val="6644A8"/>
                </a:solidFill>
                <a:latin typeface="Canva Sans Bold"/>
                <a:ea typeface="Canva Sans Bold"/>
                <a:cs typeface="Canva Sans Bold"/>
                <a:sym typeface="Canva Sans Bold"/>
              </a:rPr>
              <a:t>For </a:t>
            </a:r>
            <a:r>
              <a:rPr lang="en-US" b="true" sz="3000">
                <a:solidFill>
                  <a:srgbClr val="6644A8"/>
                </a:solidFill>
                <a:latin typeface="Canva Sans Bold"/>
                <a:ea typeface="Canva Sans Bold"/>
                <a:cs typeface="Canva Sans Bold"/>
                <a:sym typeface="Canva Sans Bold"/>
              </a:rPr>
              <a:t>our model a sample of 1000 was used due to speed issues. used k fold cross validation to ensure no biasness &amp; no overfitting. </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(5 folds)</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Results of R^2(Avg)= 0.90</a:t>
            </a:r>
          </a:p>
          <a:p>
            <a:pPr algn="ctr">
              <a:lnSpc>
                <a:spcPts val="4200"/>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7152" y="2401888"/>
            <a:ext cx="7074020" cy="5194983"/>
          </a:xfrm>
          <a:custGeom>
            <a:avLst/>
            <a:gdLst/>
            <a:ahLst/>
            <a:cxnLst/>
            <a:rect r="r" b="b" t="t" l="l"/>
            <a:pathLst>
              <a:path h="5194983" w="7074020">
                <a:moveTo>
                  <a:pt x="0" y="0"/>
                </a:moveTo>
                <a:lnTo>
                  <a:pt x="7074020" y="0"/>
                </a:lnTo>
                <a:lnTo>
                  <a:pt x="7074020" y="5194983"/>
                </a:lnTo>
                <a:lnTo>
                  <a:pt x="0" y="5194983"/>
                </a:lnTo>
                <a:lnTo>
                  <a:pt x="0" y="0"/>
                </a:lnTo>
                <a:close/>
              </a:path>
            </a:pathLst>
          </a:custGeom>
          <a:blipFill>
            <a:blip r:embed="rId2"/>
            <a:stretch>
              <a:fillRect l="0" t="0" r="0" b="0"/>
            </a:stretch>
          </a:blipFill>
        </p:spPr>
      </p:sp>
      <p:sp>
        <p:nvSpPr>
          <p:cNvPr name="TextBox 3" id="3"/>
          <p:cNvSpPr txBox="true"/>
          <p:nvPr/>
        </p:nvSpPr>
        <p:spPr>
          <a:xfrm rot="0">
            <a:off x="7048388" y="517525"/>
            <a:ext cx="4191223" cy="92710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SVR(Line</a:t>
            </a:r>
            <a:r>
              <a:rPr lang="en-US" b="true" sz="5499">
                <a:solidFill>
                  <a:srgbClr val="6644A8"/>
                </a:solidFill>
                <a:latin typeface="Canva Sans Bold"/>
                <a:ea typeface="Canva Sans Bold"/>
                <a:cs typeface="Canva Sans Bold"/>
                <a:sym typeface="Canva Sans Bold"/>
              </a:rPr>
              <a:t>ar):</a:t>
            </a:r>
          </a:p>
        </p:txBody>
      </p:sp>
      <p:sp>
        <p:nvSpPr>
          <p:cNvPr name="TextBox 4" id="4"/>
          <p:cNvSpPr txBox="true"/>
          <p:nvPr/>
        </p:nvSpPr>
        <p:spPr>
          <a:xfrm rot="0">
            <a:off x="7873019" y="2191092"/>
            <a:ext cx="7702748" cy="5549900"/>
          </a:xfrm>
          <a:prstGeom prst="rect">
            <a:avLst/>
          </a:prstGeom>
        </p:spPr>
        <p:txBody>
          <a:bodyPr anchor="t" rtlCol="false" tIns="0" lIns="0" bIns="0" rIns="0">
            <a:spAutoFit/>
          </a:bodyPr>
          <a:lstStyle/>
          <a:p>
            <a:pPr algn="ctr">
              <a:lnSpc>
                <a:spcPts val="4900"/>
              </a:lnSpc>
            </a:pPr>
            <a:r>
              <a:rPr lang="en-US" sz="3500" b="true">
                <a:solidFill>
                  <a:srgbClr val="6644A8"/>
                </a:solidFill>
                <a:latin typeface="Canva Sans Bold"/>
                <a:ea typeface="Canva Sans Bold"/>
                <a:cs typeface="Canva Sans Bold"/>
                <a:sym typeface="Canva Sans Bold"/>
              </a:rPr>
              <a:t>Using:</a:t>
            </a:r>
          </a:p>
          <a:p>
            <a:pPr algn="ctr">
              <a:lnSpc>
                <a:spcPts val="4900"/>
              </a:lnSpc>
            </a:pPr>
          </a:p>
          <a:p>
            <a:pPr algn="ctr">
              <a:lnSpc>
                <a:spcPts val="4900"/>
              </a:lnSpc>
              <a:spcBef>
                <a:spcPct val="0"/>
              </a:spcBef>
            </a:pPr>
            <a:r>
              <a:rPr lang="en-US" b="true" sz="3500">
                <a:solidFill>
                  <a:srgbClr val="6644A8"/>
                </a:solidFill>
                <a:latin typeface="Canva Sans Bold"/>
                <a:ea typeface="Canva Sans Bold"/>
                <a:cs typeface="Canva Sans Bold"/>
                <a:sym typeface="Canva Sans Bold"/>
              </a:rPr>
              <a:t>Response- Trans_Am</a:t>
            </a:r>
            <a:r>
              <a:rPr lang="en-US" b="true" sz="3500">
                <a:solidFill>
                  <a:srgbClr val="6644A8"/>
                </a:solidFill>
                <a:latin typeface="Canva Sans Bold"/>
                <a:ea typeface="Canva Sans Bold"/>
                <a:cs typeface="Canva Sans Bold"/>
                <a:sym typeface="Canva Sans Bold"/>
              </a:rPr>
              <a:t>ount</a:t>
            </a:r>
          </a:p>
          <a:p>
            <a:pPr algn="ctr">
              <a:lnSpc>
                <a:spcPts val="4900"/>
              </a:lnSpc>
              <a:spcBef>
                <a:spcPct val="0"/>
              </a:spcBef>
            </a:pPr>
          </a:p>
          <a:p>
            <a:pPr algn="ctr">
              <a:lnSpc>
                <a:spcPts val="4900"/>
              </a:lnSpc>
              <a:spcBef>
                <a:spcPct val="0"/>
              </a:spcBef>
            </a:pPr>
            <a:r>
              <a:rPr lang="en-US" b="true" sz="3500">
                <a:solidFill>
                  <a:srgbClr val="6644A8"/>
                </a:solidFill>
                <a:latin typeface="Canva Sans Bold"/>
                <a:ea typeface="Canva Sans Bold"/>
                <a:cs typeface="Canva Sans Bold"/>
                <a:sym typeface="Canva Sans Bold"/>
              </a:rPr>
              <a:t>Features- Revenue, Target_Revenue</a:t>
            </a:r>
          </a:p>
          <a:p>
            <a:pPr algn="ctr">
              <a:lnSpc>
                <a:spcPts val="4900"/>
              </a:lnSpc>
              <a:spcBef>
                <a:spcPct val="0"/>
              </a:spcBef>
            </a:pPr>
          </a:p>
          <a:p>
            <a:pPr algn="ctr">
              <a:lnSpc>
                <a:spcPts val="4900"/>
              </a:lnSpc>
              <a:spcBef>
                <a:spcPct val="0"/>
              </a:spcBef>
            </a:pPr>
            <a:r>
              <a:rPr lang="en-US" b="true" sz="3500">
                <a:solidFill>
                  <a:srgbClr val="6644A8"/>
                </a:solidFill>
                <a:latin typeface="Canva Sans Bold"/>
                <a:ea typeface="Canva Sans Bold"/>
                <a:cs typeface="Canva Sans Bold"/>
                <a:sym typeface="Canva Sans Bold"/>
              </a:rPr>
              <a:t>Results of SVR:</a:t>
            </a:r>
          </a:p>
          <a:p>
            <a:pPr algn="ctr">
              <a:lnSpc>
                <a:spcPts val="4900"/>
              </a:lnSpc>
              <a:spcBef>
                <a:spcPct val="0"/>
              </a:spcBef>
            </a:pPr>
            <a:r>
              <a:rPr lang="en-US" b="true" sz="3500">
                <a:solidFill>
                  <a:srgbClr val="6644A8"/>
                </a:solidFill>
                <a:latin typeface="Canva Sans Bold"/>
                <a:ea typeface="Canva Sans Bold"/>
                <a:cs typeface="Canva Sans Bold"/>
                <a:sym typeface="Canva Sans Bold"/>
              </a:rPr>
              <a:t>SVR MSE: 11614.44</a:t>
            </a:r>
          </a:p>
          <a:p>
            <a:pPr algn="ctr">
              <a:lnSpc>
                <a:spcPts val="4900"/>
              </a:lnSpc>
              <a:spcBef>
                <a:spcPct val="0"/>
              </a:spcBef>
            </a:pPr>
            <a:r>
              <a:rPr lang="en-US" b="true" sz="3500">
                <a:solidFill>
                  <a:srgbClr val="6644A8"/>
                </a:solidFill>
                <a:latin typeface="Canva Sans Bold"/>
                <a:ea typeface="Canva Sans Bold"/>
                <a:cs typeface="Canva Sans Bold"/>
                <a:sym typeface="Canva Sans Bold"/>
              </a:rPr>
              <a:t>SVR R² Score: 0.89</a:t>
            </a:r>
          </a:p>
        </p:txBody>
      </p:sp>
      <p:sp>
        <p:nvSpPr>
          <p:cNvPr name="TextBox 5" id="5"/>
          <p:cNvSpPr txBox="true"/>
          <p:nvPr/>
        </p:nvSpPr>
        <p:spPr>
          <a:xfrm rot="0">
            <a:off x="527707" y="8652510"/>
            <a:ext cx="17232585" cy="1144905"/>
          </a:xfrm>
          <a:prstGeom prst="rect">
            <a:avLst/>
          </a:prstGeom>
        </p:spPr>
        <p:txBody>
          <a:bodyPr anchor="t" rtlCol="false" tIns="0" lIns="0" bIns="0" rIns="0">
            <a:spAutoFit/>
          </a:bodyPr>
          <a:lstStyle/>
          <a:p>
            <a:pPr algn="ctr">
              <a:lnSpc>
                <a:spcPts val="4619"/>
              </a:lnSpc>
              <a:spcBef>
                <a:spcPct val="0"/>
              </a:spcBef>
            </a:pPr>
            <a:r>
              <a:rPr lang="en-US" b="true" sz="3299">
                <a:solidFill>
                  <a:srgbClr val="6644A8"/>
                </a:solidFill>
                <a:latin typeface="Canva Sans Bold"/>
                <a:ea typeface="Canva Sans Bold"/>
                <a:cs typeface="Canva Sans Bold"/>
                <a:sym typeface="Canva Sans Bold"/>
              </a:rPr>
              <a:t>The R^2(avg) </a:t>
            </a:r>
            <a:r>
              <a:rPr lang="en-US" b="true" sz="3299">
                <a:solidFill>
                  <a:srgbClr val="6644A8"/>
                </a:solidFill>
                <a:latin typeface="Canva Sans Bold"/>
                <a:ea typeface="Canva Sans Bold"/>
                <a:cs typeface="Canva Sans Bold"/>
                <a:sym typeface="Canva Sans Bold"/>
              </a:rPr>
              <a:t>of the K-fold is 0.90. Which is very close to SVR R^2. Indicating low bias. </a:t>
            </a:r>
          </a:p>
          <a:p>
            <a:pPr algn="ctr">
              <a:lnSpc>
                <a:spcPts val="4619"/>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08289" y="517525"/>
            <a:ext cx="8871421" cy="92710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Rand</a:t>
            </a:r>
            <a:r>
              <a:rPr lang="en-US" b="true" sz="5499">
                <a:solidFill>
                  <a:srgbClr val="6644A8"/>
                </a:solidFill>
                <a:latin typeface="Canva Sans Bold"/>
                <a:ea typeface="Canva Sans Bold"/>
                <a:cs typeface="Canva Sans Bold"/>
                <a:sym typeface="Canva Sans Bold"/>
              </a:rPr>
              <a:t>om Forest Regressor </a:t>
            </a:r>
          </a:p>
        </p:txBody>
      </p:sp>
      <p:sp>
        <p:nvSpPr>
          <p:cNvPr name="TextBox 3" id="3"/>
          <p:cNvSpPr txBox="true"/>
          <p:nvPr/>
        </p:nvSpPr>
        <p:spPr>
          <a:xfrm rot="0">
            <a:off x="0" y="2209874"/>
            <a:ext cx="18288000" cy="5314950"/>
          </a:xfrm>
          <a:prstGeom prst="rect">
            <a:avLst/>
          </a:prstGeom>
        </p:spPr>
        <p:txBody>
          <a:bodyPr anchor="t" rtlCol="false" tIns="0" lIns="0" bIns="0" rIns="0">
            <a:spAutoFit/>
          </a:bodyPr>
          <a:lstStyle/>
          <a:p>
            <a:pPr algn="ctr">
              <a:lnSpc>
                <a:spcPts val="4200"/>
              </a:lnSpc>
            </a:pPr>
            <a:r>
              <a:rPr lang="en-US" sz="3000" b="true">
                <a:solidFill>
                  <a:srgbClr val="6644A8"/>
                </a:solidFill>
                <a:latin typeface="Canva Sans Bold"/>
                <a:ea typeface="Canva Sans Bold"/>
                <a:cs typeface="Canva Sans Bold"/>
                <a:sym typeface="Canva Sans Bold"/>
              </a:rPr>
              <a:t>How Random Forest Regressor Works:</a:t>
            </a:r>
          </a:p>
          <a:p>
            <a:pPr algn="ctr" marL="647700" indent="-323850" lvl="1">
              <a:lnSpc>
                <a:spcPts val="4200"/>
              </a:lnSpc>
              <a:spcBef>
                <a:spcPct val="0"/>
              </a:spcBef>
              <a:buFont typeface="Arial"/>
              <a:buChar char="•"/>
            </a:pPr>
            <a:r>
              <a:rPr lang="en-US" b="true" sz="3000">
                <a:solidFill>
                  <a:srgbClr val="6644A8"/>
                </a:solidFill>
                <a:latin typeface="Canva Sans Bold"/>
                <a:ea typeface="Canva Sans Bold"/>
                <a:cs typeface="Canva Sans Bold"/>
                <a:sym typeface="Canva Sans Bold"/>
              </a:rPr>
              <a:t>It constructs multiple decision trees using random subsets of the data and random subsets of features for each n</a:t>
            </a:r>
            <a:r>
              <a:rPr lang="en-US" b="true" sz="3000">
                <a:solidFill>
                  <a:srgbClr val="6644A8"/>
                </a:solidFill>
                <a:latin typeface="Canva Sans Bold"/>
                <a:ea typeface="Canva Sans Bold"/>
                <a:cs typeface="Canva Sans Bold"/>
                <a:sym typeface="Canva Sans Bold"/>
              </a:rPr>
              <a:t>ode split.</a:t>
            </a:r>
          </a:p>
          <a:p>
            <a:pPr algn="ctr" marL="647700" indent="-323850" lvl="1">
              <a:lnSpc>
                <a:spcPts val="4200"/>
              </a:lnSpc>
              <a:spcBef>
                <a:spcPct val="0"/>
              </a:spcBef>
              <a:buFont typeface="Arial"/>
              <a:buChar char="•"/>
            </a:pPr>
            <a:r>
              <a:rPr lang="en-US" b="true" sz="3000">
                <a:solidFill>
                  <a:srgbClr val="6644A8"/>
                </a:solidFill>
                <a:latin typeface="Canva Sans Bold"/>
                <a:ea typeface="Canva Sans Bold"/>
                <a:cs typeface="Canva Sans Bold"/>
                <a:sym typeface="Canva Sans Bold"/>
              </a:rPr>
              <a:t>During prediction, each individual tree provides its own prediction, and the final prediction is the average of all these individual tree predictions.</a:t>
            </a:r>
          </a:p>
          <a:p>
            <a:pPr algn="ctr">
              <a:lnSpc>
                <a:spcPts val="4200"/>
              </a:lnSpc>
              <a:spcBef>
                <a:spcPct val="0"/>
              </a:spcBef>
            </a:pPr>
          </a:p>
          <a:p>
            <a:pPr algn="ctr">
              <a:lnSpc>
                <a:spcPts val="4200"/>
              </a:lnSpc>
              <a:spcBef>
                <a:spcPct val="0"/>
              </a:spcBef>
            </a:pPr>
            <a:r>
              <a:rPr lang="en-US" b="true" sz="3000">
                <a:solidFill>
                  <a:srgbClr val="6644A8"/>
                </a:solidFill>
                <a:latin typeface="Canva Sans Bold"/>
                <a:ea typeface="Canva Sans Bold"/>
                <a:cs typeface="Canva Sans Bold"/>
                <a:sym typeface="Canva Sans Bold"/>
              </a:rPr>
              <a:t>One of the key concepts is the  Random Feature Selection: When splitting each node in a decision tree, only a random subset of features is considered. This helps in making the trees diverse and reduces the risk of overfitting.</a:t>
            </a:r>
          </a:p>
          <a:p>
            <a:pPr algn="ctr">
              <a:lnSpc>
                <a:spcPts val="4200"/>
              </a:lnSpc>
              <a:spcBef>
                <a:spcPct val="0"/>
              </a:spcBef>
            </a:pPr>
          </a:p>
        </p:txBody>
      </p:sp>
      <p:sp>
        <p:nvSpPr>
          <p:cNvPr name="TextBox 4" id="4"/>
          <p:cNvSpPr txBox="true"/>
          <p:nvPr/>
        </p:nvSpPr>
        <p:spPr>
          <a:xfrm rot="0">
            <a:off x="3690772" y="7105650"/>
            <a:ext cx="9614366" cy="3181350"/>
          </a:xfrm>
          <a:prstGeom prst="rect">
            <a:avLst/>
          </a:prstGeom>
        </p:spPr>
        <p:txBody>
          <a:bodyPr anchor="t" rtlCol="false" tIns="0" lIns="0" bIns="0" rIns="0">
            <a:spAutoFit/>
          </a:bodyPr>
          <a:lstStyle/>
          <a:p>
            <a:pPr algn="ctr">
              <a:lnSpc>
                <a:spcPts val="4200"/>
              </a:lnSpc>
            </a:pPr>
            <a:r>
              <a:rPr lang="en-US" sz="3000" b="true">
                <a:solidFill>
                  <a:srgbClr val="6644A8"/>
                </a:solidFill>
                <a:latin typeface="Canva Sans Bold"/>
                <a:ea typeface="Canva Sans Bold"/>
                <a:cs typeface="Canva Sans Bold"/>
                <a:sym typeface="Canva Sans Bold"/>
              </a:rPr>
              <a:t>Using:</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Response- Trans_Am</a:t>
            </a:r>
            <a:r>
              <a:rPr lang="en-US" b="true" sz="3000">
                <a:solidFill>
                  <a:srgbClr val="6644A8"/>
                </a:solidFill>
                <a:latin typeface="Canva Sans Bold"/>
                <a:ea typeface="Canva Sans Bold"/>
                <a:cs typeface="Canva Sans Bold"/>
                <a:sym typeface="Canva Sans Bold"/>
              </a:rPr>
              <a:t>ount</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Features- Revenue, Target_Revenue, Card_Category_y, Marital_Status, Customer_Age, Gender, Income_Category</a:t>
            </a:r>
          </a:p>
          <a:p>
            <a:pPr algn="ctr">
              <a:lnSpc>
                <a:spcPts val="4200"/>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018850"/>
            <a:ext cx="7165586" cy="5308450"/>
          </a:xfrm>
          <a:custGeom>
            <a:avLst/>
            <a:gdLst/>
            <a:ahLst/>
            <a:cxnLst/>
            <a:rect r="r" b="b" t="t" l="l"/>
            <a:pathLst>
              <a:path h="5308450" w="7165586">
                <a:moveTo>
                  <a:pt x="0" y="0"/>
                </a:moveTo>
                <a:lnTo>
                  <a:pt x="7165586" y="0"/>
                </a:lnTo>
                <a:lnTo>
                  <a:pt x="7165586" y="5308450"/>
                </a:lnTo>
                <a:lnTo>
                  <a:pt x="0" y="5308450"/>
                </a:lnTo>
                <a:lnTo>
                  <a:pt x="0" y="0"/>
                </a:lnTo>
                <a:close/>
              </a:path>
            </a:pathLst>
          </a:custGeom>
          <a:blipFill>
            <a:blip r:embed="rId2"/>
            <a:stretch>
              <a:fillRect l="0" t="0" r="0" b="0"/>
            </a:stretch>
          </a:blipFill>
        </p:spPr>
      </p:sp>
      <p:sp>
        <p:nvSpPr>
          <p:cNvPr name="TextBox 3" id="3"/>
          <p:cNvSpPr txBox="true"/>
          <p:nvPr/>
        </p:nvSpPr>
        <p:spPr>
          <a:xfrm rot="0">
            <a:off x="4790666" y="517525"/>
            <a:ext cx="8706669" cy="92710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Rand</a:t>
            </a:r>
            <a:r>
              <a:rPr lang="en-US" b="true" sz="5499">
                <a:solidFill>
                  <a:srgbClr val="6644A8"/>
                </a:solidFill>
                <a:latin typeface="Canva Sans Bold"/>
                <a:ea typeface="Canva Sans Bold"/>
                <a:cs typeface="Canva Sans Bold"/>
                <a:sym typeface="Canva Sans Bold"/>
              </a:rPr>
              <a:t>om Forest Regressor</a:t>
            </a:r>
          </a:p>
        </p:txBody>
      </p:sp>
      <p:sp>
        <p:nvSpPr>
          <p:cNvPr name="TextBox 4" id="4"/>
          <p:cNvSpPr txBox="true"/>
          <p:nvPr/>
        </p:nvSpPr>
        <p:spPr>
          <a:xfrm rot="0">
            <a:off x="8973703" y="2543874"/>
            <a:ext cx="9047262" cy="4908550"/>
          </a:xfrm>
          <a:prstGeom prst="rect">
            <a:avLst/>
          </a:prstGeom>
        </p:spPr>
        <p:txBody>
          <a:bodyPr anchor="t" rtlCol="false" tIns="0" lIns="0" bIns="0" rIns="0">
            <a:spAutoFit/>
          </a:bodyPr>
          <a:lstStyle/>
          <a:p>
            <a:pPr algn="ctr">
              <a:lnSpc>
                <a:spcPts val="5599"/>
              </a:lnSpc>
              <a:spcBef>
                <a:spcPct val="0"/>
              </a:spcBef>
            </a:pPr>
            <a:r>
              <a:rPr lang="en-US" b="true" sz="3999">
                <a:solidFill>
                  <a:srgbClr val="6644A8"/>
                </a:solidFill>
                <a:latin typeface="Canva Sans Bold"/>
                <a:ea typeface="Canva Sans Bold"/>
                <a:cs typeface="Canva Sans Bold"/>
                <a:sym typeface="Canva Sans Bold"/>
              </a:rPr>
              <a:t>Res</a:t>
            </a:r>
            <a:r>
              <a:rPr lang="en-US" b="true" sz="3999">
                <a:solidFill>
                  <a:srgbClr val="6644A8"/>
                </a:solidFill>
                <a:latin typeface="Canva Sans Bold"/>
                <a:ea typeface="Canva Sans Bold"/>
                <a:cs typeface="Canva Sans Bold"/>
                <a:sym typeface="Canva Sans Bold"/>
              </a:rPr>
              <a:t>ults of Random Forest Regressor:</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Mean Squared Error (MSE): 923.47</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R² Score: 0.9916</a:t>
            </a:r>
          </a:p>
          <a:p>
            <a:pPr algn="ctr">
              <a:lnSpc>
                <a:spcPts val="5599"/>
              </a:lnSpc>
              <a:spcBef>
                <a:spcPct val="0"/>
              </a:spcBef>
            </a:pPr>
          </a:p>
          <a:p>
            <a:pPr algn="ctr">
              <a:lnSpc>
                <a:spcPts val="5599"/>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980373"/>
            <a:ext cx="7401492" cy="5158035"/>
          </a:xfrm>
          <a:custGeom>
            <a:avLst/>
            <a:gdLst/>
            <a:ahLst/>
            <a:cxnLst/>
            <a:rect r="r" b="b" t="t" l="l"/>
            <a:pathLst>
              <a:path h="5158035" w="7401492">
                <a:moveTo>
                  <a:pt x="0" y="0"/>
                </a:moveTo>
                <a:lnTo>
                  <a:pt x="7401492" y="0"/>
                </a:lnTo>
                <a:lnTo>
                  <a:pt x="7401492" y="5158035"/>
                </a:lnTo>
                <a:lnTo>
                  <a:pt x="0" y="5158035"/>
                </a:lnTo>
                <a:lnTo>
                  <a:pt x="0" y="0"/>
                </a:lnTo>
                <a:close/>
              </a:path>
            </a:pathLst>
          </a:custGeom>
          <a:blipFill>
            <a:blip r:embed="rId2"/>
            <a:stretch>
              <a:fillRect l="0" t="0" r="0" b="0"/>
            </a:stretch>
          </a:blipFill>
        </p:spPr>
      </p:sp>
      <p:sp>
        <p:nvSpPr>
          <p:cNvPr name="TextBox 3" id="3"/>
          <p:cNvSpPr txBox="true"/>
          <p:nvPr/>
        </p:nvSpPr>
        <p:spPr>
          <a:xfrm rot="0">
            <a:off x="523875" y="423158"/>
            <a:ext cx="17240250" cy="2711450"/>
          </a:xfrm>
          <a:prstGeom prst="rect">
            <a:avLst/>
          </a:prstGeom>
        </p:spPr>
        <p:txBody>
          <a:bodyPr anchor="t" rtlCol="false" tIns="0" lIns="0" bIns="0" rIns="0">
            <a:spAutoFit/>
          </a:bodyPr>
          <a:lstStyle/>
          <a:p>
            <a:pPr algn="ctr">
              <a:lnSpc>
                <a:spcPts val="6299"/>
              </a:lnSpc>
              <a:spcBef>
                <a:spcPct val="0"/>
              </a:spcBef>
            </a:pPr>
            <a:r>
              <a:rPr lang="en-US" b="true" sz="4500">
                <a:solidFill>
                  <a:srgbClr val="6644A8"/>
                </a:solidFill>
                <a:latin typeface="Canva Sans Bold"/>
                <a:ea typeface="Canva Sans Bold"/>
                <a:cs typeface="Canva Sans Bold"/>
                <a:sym typeface="Canva Sans Bold"/>
              </a:rPr>
              <a:t>Feat</a:t>
            </a:r>
            <a:r>
              <a:rPr lang="en-US" b="true" sz="4500">
                <a:solidFill>
                  <a:srgbClr val="6644A8"/>
                </a:solidFill>
                <a:latin typeface="Canva Sans Bold"/>
                <a:ea typeface="Canva Sans Bold"/>
                <a:cs typeface="Canva Sans Bold"/>
                <a:sym typeface="Canva Sans Bold"/>
              </a:rPr>
              <a:t>ure importance:</a:t>
            </a:r>
          </a:p>
          <a:p>
            <a:pPr algn="ctr">
              <a:lnSpc>
                <a:spcPts val="4900"/>
              </a:lnSpc>
              <a:spcBef>
                <a:spcPct val="0"/>
              </a:spcBef>
            </a:pPr>
            <a:r>
              <a:rPr lang="en-US" b="true" sz="3500">
                <a:solidFill>
                  <a:srgbClr val="6644A8"/>
                </a:solidFill>
                <a:latin typeface="Canva Sans Bold"/>
                <a:ea typeface="Canva Sans Bold"/>
                <a:cs typeface="Canva Sans Bold"/>
                <a:sym typeface="Canva Sans Bold"/>
              </a:rPr>
              <a:t>Identifies which features are most influential in making predictions by calculating their contribution to improving model accuracy across all trees.</a:t>
            </a:r>
          </a:p>
          <a:p>
            <a:pPr algn="ctr">
              <a:lnSpc>
                <a:spcPts val="5599"/>
              </a:lnSpc>
              <a:spcBef>
                <a:spcPct val="0"/>
              </a:spcBef>
            </a:pPr>
          </a:p>
        </p:txBody>
      </p:sp>
      <p:sp>
        <p:nvSpPr>
          <p:cNvPr name="TextBox 4" id="4"/>
          <p:cNvSpPr txBox="true"/>
          <p:nvPr/>
        </p:nvSpPr>
        <p:spPr>
          <a:xfrm rot="0">
            <a:off x="9692625" y="3086983"/>
            <a:ext cx="7566675" cy="5051425"/>
          </a:xfrm>
          <a:prstGeom prst="rect">
            <a:avLst/>
          </a:prstGeom>
        </p:spPr>
        <p:txBody>
          <a:bodyPr anchor="t" rtlCol="false" tIns="0" lIns="0" bIns="0" rIns="0">
            <a:spAutoFit/>
          </a:bodyPr>
          <a:lstStyle/>
          <a:p>
            <a:pPr algn="ctr">
              <a:lnSpc>
                <a:spcPts val="3499"/>
              </a:lnSpc>
              <a:spcBef>
                <a:spcPct val="0"/>
              </a:spcBef>
            </a:pPr>
            <a:r>
              <a:rPr lang="en-US" b="true" sz="2499">
                <a:solidFill>
                  <a:srgbClr val="6644A8"/>
                </a:solidFill>
                <a:latin typeface="Canva Sans Bold"/>
                <a:ea typeface="Canva Sans Bold"/>
                <a:cs typeface="Canva Sans Bold"/>
                <a:sym typeface="Canva Sans Bold"/>
              </a:rPr>
              <a:t>Identifying Key Predict</a:t>
            </a:r>
            <a:r>
              <a:rPr lang="en-US" b="true" sz="2499">
                <a:solidFill>
                  <a:srgbClr val="6644A8"/>
                </a:solidFill>
                <a:latin typeface="Canva Sans Bold"/>
                <a:ea typeface="Canva Sans Bold"/>
                <a:cs typeface="Canva Sans Bold"/>
                <a:sym typeface="Canva Sans Bold"/>
              </a:rPr>
              <a:t>ors:</a:t>
            </a:r>
          </a:p>
          <a:p>
            <a:pPr algn="ctr" marL="539749" indent="-269875" lvl="1">
              <a:lnSpc>
                <a:spcPts val="3499"/>
              </a:lnSpc>
              <a:spcBef>
                <a:spcPct val="0"/>
              </a:spcBef>
              <a:buFont typeface="Arial"/>
              <a:buChar char="•"/>
            </a:pPr>
            <a:r>
              <a:rPr lang="en-US" b="true" sz="2499">
                <a:solidFill>
                  <a:srgbClr val="6644A8"/>
                </a:solidFill>
                <a:latin typeface="Canva Sans Bold"/>
                <a:ea typeface="Canva Sans Bold"/>
                <a:cs typeface="Canva Sans Bold"/>
                <a:sym typeface="Canva Sans Bold"/>
              </a:rPr>
              <a:t> Feature importance shows which features contribute most to the model's predictions. By focusing on these, you can reduce noise from irrelevant or weak features.</a:t>
            </a:r>
          </a:p>
          <a:p>
            <a:pPr algn="ctr">
              <a:lnSpc>
                <a:spcPts val="3499"/>
              </a:lnSpc>
              <a:spcBef>
                <a:spcPct val="0"/>
              </a:spcBef>
            </a:pPr>
            <a:r>
              <a:rPr lang="en-US" b="true" sz="2499">
                <a:solidFill>
                  <a:srgbClr val="6644A8"/>
                </a:solidFill>
                <a:latin typeface="Canva Sans Bold"/>
                <a:ea typeface="Canva Sans Bold"/>
                <a:cs typeface="Canva Sans Bold"/>
                <a:sym typeface="Canva Sans Bold"/>
              </a:rPr>
              <a:t>Improving Model Efficiency:</a:t>
            </a:r>
          </a:p>
          <a:p>
            <a:pPr algn="ctr" marL="539749" indent="-269875" lvl="1">
              <a:lnSpc>
                <a:spcPts val="3499"/>
              </a:lnSpc>
              <a:spcBef>
                <a:spcPct val="0"/>
              </a:spcBef>
              <a:buFont typeface="Arial"/>
              <a:buChar char="•"/>
            </a:pPr>
            <a:r>
              <a:rPr lang="en-US" b="true" sz="2499">
                <a:solidFill>
                  <a:srgbClr val="6644A8"/>
                </a:solidFill>
                <a:latin typeface="Canva Sans Bold"/>
                <a:ea typeface="Canva Sans Bold"/>
                <a:cs typeface="Canva Sans Bold"/>
                <a:sym typeface="Canva Sans Bold"/>
              </a:rPr>
              <a:t> Removing low-importance features can simplify the model, reduce overfitting, and speed up training—especially helpful when dealing with high-dimensional data.</a:t>
            </a:r>
          </a:p>
          <a:p>
            <a:pPr algn="ctr">
              <a:lnSpc>
                <a:spcPts val="5599"/>
              </a:lnSpc>
              <a:spcBef>
                <a:spcPct val="0"/>
              </a:spcBef>
            </a:pPr>
          </a:p>
        </p:txBody>
      </p:sp>
      <p:sp>
        <p:nvSpPr>
          <p:cNvPr name="TextBox 5" id="5"/>
          <p:cNvSpPr txBox="true"/>
          <p:nvPr/>
        </p:nvSpPr>
        <p:spPr>
          <a:xfrm rot="0">
            <a:off x="776288" y="8256793"/>
            <a:ext cx="16735425" cy="2030207"/>
          </a:xfrm>
          <a:prstGeom prst="rect">
            <a:avLst/>
          </a:prstGeom>
        </p:spPr>
        <p:txBody>
          <a:bodyPr anchor="t" rtlCol="false" tIns="0" lIns="0" bIns="0" rIns="0">
            <a:spAutoFit/>
          </a:bodyPr>
          <a:lstStyle/>
          <a:p>
            <a:pPr algn="ctr">
              <a:lnSpc>
                <a:spcPts val="5436"/>
              </a:lnSpc>
              <a:spcBef>
                <a:spcPct val="0"/>
              </a:spcBef>
            </a:pPr>
            <a:r>
              <a:rPr lang="en-US" b="true" sz="3882">
                <a:solidFill>
                  <a:srgbClr val="6644A8"/>
                </a:solidFill>
                <a:latin typeface="Canva Sans Bold"/>
                <a:ea typeface="Canva Sans Bold"/>
                <a:cs typeface="Canva Sans Bold"/>
                <a:sym typeface="Canva Sans Bold"/>
              </a:rPr>
              <a:t>Can be</a:t>
            </a:r>
            <a:r>
              <a:rPr lang="en-US" b="true" sz="3882">
                <a:solidFill>
                  <a:srgbClr val="6644A8"/>
                </a:solidFill>
                <a:latin typeface="Canva Sans Bold"/>
                <a:ea typeface="Canva Sans Bold"/>
                <a:cs typeface="Canva Sans Bold"/>
                <a:sym typeface="Canva Sans Bold"/>
              </a:rPr>
              <a:t> seen that Target_revenue and Revenue are most influential in making predictions. </a:t>
            </a:r>
          </a:p>
          <a:p>
            <a:pPr algn="ctr">
              <a:lnSpc>
                <a:spcPts val="5436"/>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90666" y="517525"/>
            <a:ext cx="8706669" cy="92710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Random Forest Regressor</a:t>
            </a:r>
          </a:p>
        </p:txBody>
      </p:sp>
      <p:sp>
        <p:nvSpPr>
          <p:cNvPr name="TextBox 3" id="3"/>
          <p:cNvSpPr txBox="true"/>
          <p:nvPr/>
        </p:nvSpPr>
        <p:spPr>
          <a:xfrm rot="0">
            <a:off x="1028700" y="1812790"/>
            <a:ext cx="15973141" cy="7727950"/>
          </a:xfrm>
          <a:prstGeom prst="rect">
            <a:avLst/>
          </a:prstGeom>
        </p:spPr>
        <p:txBody>
          <a:bodyPr anchor="t" rtlCol="false" tIns="0" lIns="0" bIns="0" rIns="0">
            <a:spAutoFit/>
          </a:bodyPr>
          <a:lstStyle/>
          <a:p>
            <a:pPr algn="ctr">
              <a:lnSpc>
                <a:spcPts val="5599"/>
              </a:lnSpc>
            </a:pPr>
            <a:r>
              <a:rPr lang="en-US" sz="3999" b="true">
                <a:solidFill>
                  <a:srgbClr val="6644A8"/>
                </a:solidFill>
                <a:latin typeface="Canva Sans Bold"/>
                <a:ea typeface="Canva Sans Bold"/>
                <a:cs typeface="Canva Sans Bold"/>
                <a:sym typeface="Canva Sans Bold"/>
              </a:rPr>
              <a:t>Using:</a:t>
            </a:r>
          </a:p>
          <a:p>
            <a:pPr algn="ctr">
              <a:lnSpc>
                <a:spcPts val="5599"/>
              </a:lnSpc>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Response- Trans_Am</a:t>
            </a:r>
            <a:r>
              <a:rPr lang="en-US" b="true" sz="3999">
                <a:solidFill>
                  <a:srgbClr val="6644A8"/>
                </a:solidFill>
                <a:latin typeface="Canva Sans Bold"/>
                <a:ea typeface="Canva Sans Bold"/>
                <a:cs typeface="Canva Sans Bold"/>
                <a:sym typeface="Canva Sans Bold"/>
              </a:rPr>
              <a:t>ount</a:t>
            </a:r>
          </a:p>
          <a:p>
            <a:pPr algn="ctr">
              <a:lnSpc>
                <a:spcPts val="5599"/>
              </a:lnSpc>
              <a:spcBef>
                <a:spcPct val="0"/>
              </a:spcBef>
            </a:pPr>
            <a:r>
              <a:rPr lang="en-US" b="true" sz="3999">
                <a:solidFill>
                  <a:srgbClr val="6644A8"/>
                </a:solidFill>
                <a:latin typeface="Canva Sans Bold"/>
                <a:ea typeface="Canva Sans Bold"/>
                <a:cs typeface="Canva Sans Bold"/>
                <a:sym typeface="Canva Sans Bold"/>
              </a:rPr>
              <a:t>Features- Revenue, Target_Revenue</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Results of Random Forest Regression:</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Mean Squared Error (MSE): 1018.85</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R² Score: 0.9907</a:t>
            </a:r>
          </a:p>
          <a:p>
            <a:pPr algn="ctr">
              <a:lnSpc>
                <a:spcPts val="5599"/>
              </a:lnSpc>
              <a:spcBef>
                <a:spcPct val="0"/>
              </a:spcBef>
            </a:pP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622109" y="3318010"/>
            <a:ext cx="2084223" cy="208422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38B6FF"/>
            </a:solidFill>
          </p:spPr>
        </p:sp>
        <p:sp>
          <p:nvSpPr>
            <p:cNvPr name="TextBox 4" id="4"/>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63067" y="1049020"/>
            <a:ext cx="7766447" cy="811530"/>
          </a:xfrm>
          <a:prstGeom prst="rect">
            <a:avLst/>
          </a:prstGeom>
        </p:spPr>
        <p:txBody>
          <a:bodyPr anchor="t" rtlCol="false" tIns="0" lIns="0" bIns="0" rIns="0">
            <a:spAutoFit/>
          </a:bodyPr>
          <a:lstStyle/>
          <a:p>
            <a:pPr algn="ctr">
              <a:lnSpc>
                <a:spcPts val="6719"/>
              </a:lnSpc>
              <a:spcBef>
                <a:spcPct val="0"/>
              </a:spcBef>
            </a:pPr>
            <a:r>
              <a:rPr lang="en-US" b="true" sz="4800">
                <a:solidFill>
                  <a:srgbClr val="6644A8"/>
                </a:solidFill>
                <a:latin typeface="Canva Sans Bold"/>
                <a:ea typeface="Canva Sans Bold"/>
                <a:cs typeface="Canva Sans Bold"/>
                <a:sym typeface="Canva Sans Bold"/>
              </a:rPr>
              <a:t>Comparison the 3 models:</a:t>
            </a:r>
          </a:p>
        </p:txBody>
      </p:sp>
      <p:sp>
        <p:nvSpPr>
          <p:cNvPr name="TextBox 6" id="6"/>
          <p:cNvSpPr txBox="true"/>
          <p:nvPr/>
        </p:nvSpPr>
        <p:spPr>
          <a:xfrm rot="0">
            <a:off x="352425" y="2154777"/>
            <a:ext cx="7269684" cy="5240846"/>
          </a:xfrm>
          <a:prstGeom prst="rect">
            <a:avLst/>
          </a:prstGeom>
        </p:spPr>
        <p:txBody>
          <a:bodyPr anchor="t" rtlCol="false" tIns="0" lIns="0" bIns="0" rIns="0">
            <a:spAutoFit/>
          </a:bodyPr>
          <a:lstStyle/>
          <a:p>
            <a:pPr algn="ctr">
              <a:lnSpc>
                <a:spcPts val="4200"/>
              </a:lnSpc>
              <a:spcBef>
                <a:spcPct val="0"/>
              </a:spcBef>
            </a:pPr>
            <a:r>
              <a:rPr lang="en-US" b="true" sz="3000">
                <a:solidFill>
                  <a:srgbClr val="6644A8"/>
                </a:solidFill>
                <a:latin typeface="Canva Sans Bold"/>
                <a:ea typeface="Canva Sans Bold"/>
                <a:cs typeface="Canva Sans Bold"/>
                <a:sym typeface="Canva Sans Bold"/>
              </a:rPr>
              <a:t>Linear Regressi</a:t>
            </a:r>
            <a:r>
              <a:rPr lang="en-US" b="true" sz="3000">
                <a:solidFill>
                  <a:srgbClr val="6644A8"/>
                </a:solidFill>
                <a:latin typeface="Canva Sans Bold"/>
                <a:ea typeface="Canva Sans Bold"/>
                <a:cs typeface="Canva Sans Bold"/>
                <a:sym typeface="Canva Sans Bold"/>
              </a:rPr>
              <a:t>on  MSE: 10415.24</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Linear Regression R² : 0.9053</a:t>
            </a:r>
          </a:p>
          <a:p>
            <a:pPr algn="ctr">
              <a:lnSpc>
                <a:spcPts val="4200"/>
              </a:lnSpc>
              <a:spcBef>
                <a:spcPct val="0"/>
              </a:spcBef>
            </a:pPr>
          </a:p>
          <a:p>
            <a:pPr algn="ctr">
              <a:lnSpc>
                <a:spcPts val="4200"/>
              </a:lnSpc>
              <a:spcBef>
                <a:spcPct val="0"/>
              </a:spcBef>
            </a:pPr>
            <a:r>
              <a:rPr lang="en-US" b="true" sz="3000">
                <a:solidFill>
                  <a:srgbClr val="6644A8"/>
                </a:solidFill>
                <a:latin typeface="Canva Sans Bold"/>
                <a:ea typeface="Canva Sans Bold"/>
                <a:cs typeface="Canva Sans Bold"/>
                <a:sym typeface="Canva Sans Bold"/>
              </a:rPr>
              <a:t>SVR MSE: 11614.44 </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SVR R²: 0.89</a:t>
            </a:r>
          </a:p>
          <a:p>
            <a:pPr algn="ctr">
              <a:lnSpc>
                <a:spcPts val="4200"/>
              </a:lnSpc>
              <a:spcBef>
                <a:spcPct val="0"/>
              </a:spcBef>
            </a:pPr>
          </a:p>
          <a:p>
            <a:pPr algn="ctr">
              <a:lnSpc>
                <a:spcPts val="4200"/>
              </a:lnSpc>
              <a:spcBef>
                <a:spcPct val="0"/>
              </a:spcBef>
            </a:pPr>
            <a:r>
              <a:rPr lang="en-US" b="true" sz="3000">
                <a:solidFill>
                  <a:srgbClr val="6644A8"/>
                </a:solidFill>
                <a:latin typeface="Canva Sans Bold"/>
                <a:ea typeface="Canva Sans Bold"/>
                <a:cs typeface="Canva Sans Bold"/>
                <a:sym typeface="Canva Sans Bold"/>
              </a:rPr>
              <a:t>RandomForestReg.: 1018.85</a:t>
            </a:r>
          </a:p>
          <a:p>
            <a:pPr algn="ctr">
              <a:lnSpc>
                <a:spcPts val="4200"/>
              </a:lnSpc>
              <a:spcBef>
                <a:spcPct val="0"/>
              </a:spcBef>
            </a:pPr>
            <a:r>
              <a:rPr lang="en-US" b="true" sz="3000">
                <a:solidFill>
                  <a:srgbClr val="6644A8"/>
                </a:solidFill>
                <a:latin typeface="Canva Sans Bold"/>
                <a:ea typeface="Canva Sans Bold"/>
                <a:cs typeface="Canva Sans Bold"/>
                <a:sym typeface="Canva Sans Bold"/>
              </a:rPr>
              <a:t>RandomForestReg.: R² : 0.9907</a:t>
            </a:r>
          </a:p>
          <a:p>
            <a:pPr algn="ctr">
              <a:lnSpc>
                <a:spcPts val="3968"/>
              </a:lnSpc>
              <a:spcBef>
                <a:spcPct val="0"/>
              </a:spcBef>
            </a:pPr>
          </a:p>
          <a:p>
            <a:pPr algn="ctr">
              <a:lnSpc>
                <a:spcPts val="3968"/>
              </a:lnSpc>
              <a:spcBef>
                <a:spcPct val="0"/>
              </a:spcBef>
            </a:pPr>
          </a:p>
        </p:txBody>
      </p:sp>
      <p:sp>
        <p:nvSpPr>
          <p:cNvPr name="TextBox 7" id="7"/>
          <p:cNvSpPr txBox="true"/>
          <p:nvPr/>
        </p:nvSpPr>
        <p:spPr>
          <a:xfrm rot="0">
            <a:off x="10331773" y="1039495"/>
            <a:ext cx="7742188" cy="927100"/>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Best Regression Model</a:t>
            </a:r>
          </a:p>
        </p:txBody>
      </p:sp>
      <p:sp>
        <p:nvSpPr>
          <p:cNvPr name="TextBox 8" id="8"/>
          <p:cNvSpPr txBox="true"/>
          <p:nvPr/>
        </p:nvSpPr>
        <p:spPr>
          <a:xfrm rot="0">
            <a:off x="9706332" y="2154777"/>
            <a:ext cx="8367629" cy="7862636"/>
          </a:xfrm>
          <a:prstGeom prst="rect">
            <a:avLst/>
          </a:prstGeom>
        </p:spPr>
        <p:txBody>
          <a:bodyPr anchor="t" rtlCol="false" tIns="0" lIns="0" bIns="0" rIns="0">
            <a:spAutoFit/>
          </a:bodyPr>
          <a:lstStyle/>
          <a:p>
            <a:pPr algn="ctr">
              <a:lnSpc>
                <a:spcPts val="4896"/>
              </a:lnSpc>
            </a:pPr>
            <a:r>
              <a:rPr lang="en-US" sz="3497" b="true">
                <a:solidFill>
                  <a:srgbClr val="6644A8"/>
                </a:solidFill>
                <a:latin typeface="Canva Sans Bold"/>
                <a:ea typeface="Canva Sans Bold"/>
                <a:cs typeface="Canva Sans Bold"/>
                <a:sym typeface="Canva Sans Bold"/>
              </a:rPr>
              <a:t>Best Model among the 3 Regression Models- Random Forest Regressor</a:t>
            </a:r>
          </a:p>
          <a:p>
            <a:pPr algn="ctr">
              <a:lnSpc>
                <a:spcPts val="4896"/>
              </a:lnSpc>
            </a:pPr>
          </a:p>
          <a:p>
            <a:pPr algn="ctr">
              <a:lnSpc>
                <a:spcPts val="4896"/>
              </a:lnSpc>
              <a:spcBef>
                <a:spcPct val="0"/>
              </a:spcBef>
            </a:pPr>
            <a:r>
              <a:rPr lang="en-US" b="true" sz="3497">
                <a:solidFill>
                  <a:srgbClr val="6644A8"/>
                </a:solidFill>
                <a:latin typeface="Canva Sans Bold"/>
                <a:ea typeface="Canva Sans Bold"/>
                <a:cs typeface="Canva Sans Bold"/>
                <a:sym typeface="Canva Sans Bold"/>
              </a:rPr>
              <a:t>Random Forest Regressor  has the l</a:t>
            </a:r>
            <a:r>
              <a:rPr lang="en-US" b="true" sz="3497">
                <a:solidFill>
                  <a:srgbClr val="6644A8"/>
                </a:solidFill>
                <a:latin typeface="Canva Sans Bold"/>
                <a:ea typeface="Canva Sans Bold"/>
                <a:cs typeface="Canva Sans Bold"/>
                <a:sym typeface="Canva Sans Bold"/>
              </a:rPr>
              <a:t>owest MSE, much lower than the other 2 models. And this indicates error is much smaller than the others. </a:t>
            </a:r>
          </a:p>
          <a:p>
            <a:pPr algn="ctr">
              <a:lnSpc>
                <a:spcPts val="4896"/>
              </a:lnSpc>
              <a:spcBef>
                <a:spcPct val="0"/>
              </a:spcBef>
            </a:pPr>
            <a:r>
              <a:rPr lang="en-US" b="true" sz="3497">
                <a:solidFill>
                  <a:srgbClr val="6644A8"/>
                </a:solidFill>
                <a:latin typeface="Canva Sans Bold"/>
                <a:ea typeface="Canva Sans Bold"/>
                <a:cs typeface="Canva Sans Bold"/>
                <a:sym typeface="Canva Sans Bold"/>
              </a:rPr>
              <a:t>Furthermore, it has the highest R^2 value of 0.9908, so it explains 99% of the variance in Trans_Amount. Which is extremely strong.</a:t>
            </a:r>
          </a:p>
          <a:p>
            <a:pPr algn="ctr">
              <a:lnSpc>
                <a:spcPts val="4476"/>
              </a:lnSpc>
              <a:spcBef>
                <a:spcPct val="0"/>
              </a:spcBef>
            </a:pPr>
          </a:p>
          <a:p>
            <a:pPr algn="ctr">
              <a:lnSpc>
                <a:spcPts val="4056"/>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23875" y="923925"/>
            <a:ext cx="17240250" cy="3008630"/>
          </a:xfrm>
          <a:prstGeom prst="rect">
            <a:avLst/>
          </a:prstGeom>
        </p:spPr>
        <p:txBody>
          <a:bodyPr anchor="t" rtlCol="false" tIns="0" lIns="0" bIns="0" rIns="0">
            <a:spAutoFit/>
          </a:bodyPr>
          <a:lstStyle/>
          <a:p>
            <a:pPr algn="ctr">
              <a:lnSpc>
                <a:spcPts val="7139"/>
              </a:lnSpc>
              <a:spcBef>
                <a:spcPct val="0"/>
              </a:spcBef>
            </a:pPr>
            <a:r>
              <a:rPr lang="en-US" b="true" sz="5099">
                <a:solidFill>
                  <a:srgbClr val="6644A8"/>
                </a:solidFill>
                <a:latin typeface="Canva Sans Bold"/>
                <a:ea typeface="Canva Sans Bold"/>
                <a:cs typeface="Canva Sans Bold"/>
                <a:sym typeface="Canva Sans Bold"/>
              </a:rPr>
              <a:t>After cross validation of Random Forest Regress</a:t>
            </a:r>
            <a:r>
              <a:rPr lang="en-US" b="true" sz="5099">
                <a:solidFill>
                  <a:srgbClr val="6644A8"/>
                </a:solidFill>
                <a:latin typeface="Canva Sans Bold"/>
                <a:ea typeface="Canva Sans Bold"/>
                <a:cs typeface="Canva Sans Bold"/>
                <a:sym typeface="Canva Sans Bold"/>
              </a:rPr>
              <a:t>or:</a:t>
            </a:r>
          </a:p>
          <a:p>
            <a:pPr algn="ctr">
              <a:lnSpc>
                <a:spcPts val="5599"/>
              </a:lnSpc>
              <a:spcBef>
                <a:spcPct val="0"/>
              </a:spcBef>
            </a:pPr>
            <a:r>
              <a:rPr lang="en-US" b="true" sz="3999">
                <a:solidFill>
                  <a:srgbClr val="6644A8"/>
                </a:solidFill>
                <a:latin typeface="Canva Sans Bold"/>
                <a:ea typeface="Canva Sans Bold"/>
                <a:cs typeface="Canva Sans Bold"/>
                <a:sym typeface="Canva Sans Bold"/>
              </a:rPr>
              <a:t>5-fold cross-validation done, meaning the data will be split into 5 subsets and the model will be trained and evaluated 5 times.</a:t>
            </a:r>
          </a:p>
          <a:p>
            <a:pPr algn="ctr">
              <a:lnSpc>
                <a:spcPts val="5599"/>
              </a:lnSpc>
              <a:spcBef>
                <a:spcPct val="0"/>
              </a:spcBef>
            </a:pPr>
          </a:p>
        </p:txBody>
      </p:sp>
      <p:sp>
        <p:nvSpPr>
          <p:cNvPr name="TextBox 3" id="3"/>
          <p:cNvSpPr txBox="true"/>
          <p:nvPr/>
        </p:nvSpPr>
        <p:spPr>
          <a:xfrm rot="0">
            <a:off x="1827014" y="4765675"/>
            <a:ext cx="13586222" cy="4203700"/>
          </a:xfrm>
          <a:prstGeom prst="rect">
            <a:avLst/>
          </a:prstGeom>
        </p:spPr>
        <p:txBody>
          <a:bodyPr anchor="t" rtlCol="false" tIns="0" lIns="0" bIns="0" rIns="0">
            <a:spAutoFit/>
          </a:bodyPr>
          <a:lstStyle/>
          <a:p>
            <a:pPr algn="ctr">
              <a:lnSpc>
                <a:spcPts val="5599"/>
              </a:lnSpc>
              <a:spcBef>
                <a:spcPct val="0"/>
              </a:spcBef>
            </a:pPr>
            <a:r>
              <a:rPr lang="en-US" b="true" sz="3999">
                <a:solidFill>
                  <a:srgbClr val="6644A8"/>
                </a:solidFill>
                <a:latin typeface="Canva Sans Bold"/>
                <a:ea typeface="Canva Sans Bold"/>
                <a:cs typeface="Canva Sans Bold"/>
                <a:sym typeface="Canva Sans Bold"/>
              </a:rPr>
              <a:t>Res</a:t>
            </a:r>
            <a:r>
              <a:rPr lang="en-US" b="true" sz="3999">
                <a:solidFill>
                  <a:srgbClr val="6644A8"/>
                </a:solidFill>
                <a:latin typeface="Canva Sans Bold"/>
                <a:ea typeface="Canva Sans Bold"/>
                <a:cs typeface="Canva Sans Bold"/>
                <a:sym typeface="Canva Sans Bold"/>
              </a:rPr>
              <a:t>ults of Random Forest Regression(cross validation):</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R² Score: 0.9990</a:t>
            </a:r>
          </a:p>
          <a:p>
            <a:pPr algn="ctr">
              <a:lnSpc>
                <a:spcPts val="5599"/>
              </a:lnSpc>
              <a:spcBef>
                <a:spcPct val="0"/>
              </a:spcBef>
            </a:pPr>
          </a:p>
          <a:p>
            <a:pPr algn="ctr">
              <a:lnSpc>
                <a:spcPts val="5599"/>
              </a:lnSpc>
              <a:spcBef>
                <a:spcPct val="0"/>
              </a:spcBef>
            </a:pPr>
            <a:r>
              <a:rPr lang="en-US" b="true" sz="3999">
                <a:solidFill>
                  <a:srgbClr val="6644A8"/>
                </a:solidFill>
                <a:latin typeface="Canva Sans Bold"/>
                <a:ea typeface="Canva Sans Bold"/>
                <a:cs typeface="Canva Sans Bold"/>
                <a:sym typeface="Canva Sans Bold"/>
              </a:rPr>
              <a:t>Mean Squared Error (MSE): 109.30</a:t>
            </a:r>
          </a:p>
          <a:p>
            <a:pPr algn="ctr">
              <a:lnSpc>
                <a:spcPts val="5599"/>
              </a:lnSpc>
              <a:spcBef>
                <a:spcPct val="0"/>
              </a:spcBef>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14372" y="5387288"/>
            <a:ext cx="6230712" cy="4622056"/>
          </a:xfrm>
          <a:custGeom>
            <a:avLst/>
            <a:gdLst/>
            <a:ahLst/>
            <a:cxnLst/>
            <a:rect r="r" b="b" t="t" l="l"/>
            <a:pathLst>
              <a:path h="4622056" w="6230712">
                <a:moveTo>
                  <a:pt x="0" y="0"/>
                </a:moveTo>
                <a:lnTo>
                  <a:pt x="6230713" y="0"/>
                </a:lnTo>
                <a:lnTo>
                  <a:pt x="6230713" y="4622056"/>
                </a:lnTo>
                <a:lnTo>
                  <a:pt x="0" y="4622056"/>
                </a:lnTo>
                <a:lnTo>
                  <a:pt x="0" y="0"/>
                </a:lnTo>
                <a:close/>
              </a:path>
            </a:pathLst>
          </a:custGeom>
          <a:blipFill>
            <a:blip r:embed="rId2"/>
            <a:stretch>
              <a:fillRect l="0" t="0" r="0" b="0"/>
            </a:stretch>
          </a:blipFill>
        </p:spPr>
      </p:sp>
      <p:sp>
        <p:nvSpPr>
          <p:cNvPr name="TextBox 3" id="3"/>
          <p:cNvSpPr txBox="true"/>
          <p:nvPr/>
        </p:nvSpPr>
        <p:spPr>
          <a:xfrm rot="0">
            <a:off x="4529728" y="933450"/>
            <a:ext cx="8251403" cy="1898652"/>
          </a:xfrm>
          <a:prstGeom prst="rect">
            <a:avLst/>
          </a:prstGeom>
        </p:spPr>
        <p:txBody>
          <a:bodyPr anchor="t" rtlCol="false" tIns="0" lIns="0" bIns="0" rIns="0">
            <a:spAutoFit/>
          </a:bodyPr>
          <a:lstStyle/>
          <a:p>
            <a:pPr algn="ctr">
              <a:lnSpc>
                <a:spcPts val="7699"/>
              </a:lnSpc>
              <a:spcBef>
                <a:spcPct val="0"/>
              </a:spcBef>
            </a:pPr>
            <a:r>
              <a:rPr lang="en-US" b="true" sz="5499">
                <a:solidFill>
                  <a:srgbClr val="6644A8"/>
                </a:solidFill>
                <a:latin typeface="Canva Sans Bold"/>
                <a:ea typeface="Canva Sans Bold"/>
                <a:cs typeface="Canva Sans Bold"/>
                <a:sym typeface="Canva Sans Bold"/>
              </a:rPr>
              <a:t>Hype</a:t>
            </a:r>
            <a:r>
              <a:rPr lang="en-US" b="true" sz="5499">
                <a:solidFill>
                  <a:srgbClr val="6644A8"/>
                </a:solidFill>
                <a:latin typeface="Canva Sans Bold"/>
                <a:ea typeface="Canva Sans Bold"/>
                <a:cs typeface="Canva Sans Bold"/>
                <a:sym typeface="Canva Sans Bold"/>
              </a:rPr>
              <a:t>rparameter tuning:</a:t>
            </a:r>
          </a:p>
          <a:p>
            <a:pPr algn="ctr">
              <a:lnSpc>
                <a:spcPts val="7699"/>
              </a:lnSpc>
              <a:spcBef>
                <a:spcPct val="0"/>
              </a:spcBef>
            </a:pPr>
          </a:p>
        </p:txBody>
      </p:sp>
      <p:sp>
        <p:nvSpPr>
          <p:cNvPr name="TextBox 4" id="4"/>
          <p:cNvSpPr txBox="true"/>
          <p:nvPr/>
        </p:nvSpPr>
        <p:spPr>
          <a:xfrm rot="0">
            <a:off x="523875" y="2543051"/>
            <a:ext cx="17011194" cy="2526492"/>
          </a:xfrm>
          <a:prstGeom prst="rect">
            <a:avLst/>
          </a:prstGeom>
        </p:spPr>
        <p:txBody>
          <a:bodyPr anchor="t" rtlCol="false" tIns="0" lIns="0" bIns="0" rIns="0">
            <a:spAutoFit/>
          </a:bodyPr>
          <a:lstStyle/>
          <a:p>
            <a:pPr algn="ctr">
              <a:lnSpc>
                <a:spcPts val="3600"/>
              </a:lnSpc>
              <a:spcBef>
                <a:spcPct val="0"/>
              </a:spcBef>
            </a:pPr>
            <a:r>
              <a:rPr lang="en-US" b="true" sz="2571">
                <a:solidFill>
                  <a:srgbClr val="6644A8"/>
                </a:solidFill>
                <a:latin typeface="Canva Sans Bold"/>
                <a:ea typeface="Canva Sans Bold"/>
                <a:cs typeface="Canva Sans Bold"/>
                <a:sym typeface="Canva Sans Bold"/>
              </a:rPr>
              <a:t>Hyperparameter tuning for a Rand</a:t>
            </a:r>
            <a:r>
              <a:rPr lang="en-US" b="true" sz="2571">
                <a:solidFill>
                  <a:srgbClr val="6644A8"/>
                </a:solidFill>
                <a:latin typeface="Canva Sans Bold"/>
                <a:ea typeface="Canva Sans Bold"/>
                <a:cs typeface="Canva Sans Bold"/>
                <a:sym typeface="Canva Sans Bold"/>
              </a:rPr>
              <a:t>om Forest Regressor involves adjusting parameters like the number of trees (n_estimators), maximum depth of the trees (max_depth), and the minimum samples required to split a node (min_samples_split) to optimize model performance.</a:t>
            </a:r>
          </a:p>
          <a:p>
            <a:pPr algn="ctr">
              <a:lnSpc>
                <a:spcPts val="3600"/>
              </a:lnSpc>
              <a:spcBef>
                <a:spcPct val="0"/>
              </a:spcBef>
            </a:pPr>
            <a:r>
              <a:rPr lang="en-US" b="true" sz="2571">
                <a:solidFill>
                  <a:srgbClr val="6644A8"/>
                </a:solidFill>
                <a:latin typeface="Canva Sans Bold"/>
                <a:ea typeface="Canva Sans Bold"/>
                <a:cs typeface="Canva Sans Bold"/>
                <a:sym typeface="Canva Sans Bold"/>
              </a:rPr>
              <a:t>Techniques like Grid Search used to find the best combination of hyperparameters by evaluating the model's performance on a validation set.</a:t>
            </a:r>
          </a:p>
          <a:p>
            <a:pPr algn="ctr">
              <a:lnSpc>
                <a:spcPts val="1954"/>
              </a:lnSpc>
              <a:spcBef>
                <a:spcPct val="0"/>
              </a:spcBef>
            </a:pPr>
          </a:p>
        </p:txBody>
      </p:sp>
      <p:sp>
        <p:nvSpPr>
          <p:cNvPr name="TextBox 5" id="5"/>
          <p:cNvSpPr txBox="true"/>
          <p:nvPr/>
        </p:nvSpPr>
        <p:spPr>
          <a:xfrm rot="0">
            <a:off x="8655430" y="5697694"/>
            <a:ext cx="7842352" cy="4311650"/>
          </a:xfrm>
          <a:prstGeom prst="rect">
            <a:avLst/>
          </a:prstGeom>
        </p:spPr>
        <p:txBody>
          <a:bodyPr anchor="t" rtlCol="false" tIns="0" lIns="0" bIns="0" rIns="0">
            <a:spAutoFit/>
          </a:bodyPr>
          <a:lstStyle/>
          <a:p>
            <a:pPr algn="ctr">
              <a:lnSpc>
                <a:spcPts val="4900"/>
              </a:lnSpc>
              <a:spcBef>
                <a:spcPct val="0"/>
              </a:spcBef>
            </a:pPr>
            <a:r>
              <a:rPr lang="en-US" b="true" sz="3500">
                <a:solidFill>
                  <a:srgbClr val="6644A8"/>
                </a:solidFill>
                <a:latin typeface="Canva Sans Bold"/>
                <a:ea typeface="Canva Sans Bold"/>
                <a:cs typeface="Canva Sans Bold"/>
                <a:sym typeface="Canva Sans Bold"/>
              </a:rPr>
              <a:t>Results of Random F</a:t>
            </a:r>
            <a:r>
              <a:rPr lang="en-US" b="true" sz="3500">
                <a:solidFill>
                  <a:srgbClr val="6644A8"/>
                </a:solidFill>
                <a:latin typeface="Canva Sans Bold"/>
                <a:ea typeface="Canva Sans Bold"/>
                <a:cs typeface="Canva Sans Bold"/>
                <a:sym typeface="Canva Sans Bold"/>
              </a:rPr>
              <a:t>orest Regressor (After Hyperparameter tuning):</a:t>
            </a:r>
          </a:p>
          <a:p>
            <a:pPr algn="ctr">
              <a:lnSpc>
                <a:spcPts val="4900"/>
              </a:lnSpc>
              <a:spcBef>
                <a:spcPct val="0"/>
              </a:spcBef>
            </a:pPr>
          </a:p>
          <a:p>
            <a:pPr algn="ctr">
              <a:lnSpc>
                <a:spcPts val="4900"/>
              </a:lnSpc>
              <a:spcBef>
                <a:spcPct val="0"/>
              </a:spcBef>
            </a:pPr>
            <a:r>
              <a:rPr lang="en-US" b="true" sz="3500">
                <a:solidFill>
                  <a:srgbClr val="6644A8"/>
                </a:solidFill>
                <a:latin typeface="Canva Sans Bold"/>
                <a:ea typeface="Canva Sans Bold"/>
                <a:cs typeface="Canva Sans Bold"/>
                <a:sym typeface="Canva Sans Bold"/>
              </a:rPr>
              <a:t>Mean Squared Error (MSE): 10571.62</a:t>
            </a:r>
          </a:p>
          <a:p>
            <a:pPr algn="ctr">
              <a:lnSpc>
                <a:spcPts val="4900"/>
              </a:lnSpc>
              <a:spcBef>
                <a:spcPct val="0"/>
              </a:spcBef>
            </a:pPr>
          </a:p>
          <a:p>
            <a:pPr algn="ctr">
              <a:lnSpc>
                <a:spcPts val="4900"/>
              </a:lnSpc>
              <a:spcBef>
                <a:spcPct val="0"/>
              </a:spcBef>
            </a:pPr>
            <a:r>
              <a:rPr lang="en-US" b="true" sz="3500">
                <a:solidFill>
                  <a:srgbClr val="6644A8"/>
                </a:solidFill>
                <a:latin typeface="Canva Sans Bold"/>
                <a:ea typeface="Canva Sans Bold"/>
                <a:cs typeface="Canva Sans Bold"/>
                <a:sym typeface="Canva Sans Bold"/>
              </a:rPr>
              <a:t>R² Score: 0.8999</a:t>
            </a:r>
          </a:p>
          <a:p>
            <a:pPr algn="ctr">
              <a:lnSpc>
                <a:spcPts val="4900"/>
              </a:lnSpc>
              <a:spcBef>
                <a:spcPct val="0"/>
              </a:spcBef>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10816" y="5282833"/>
            <a:ext cx="8453215" cy="8453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744621" y="2138338"/>
            <a:ext cx="6514679" cy="6115655"/>
          </a:xfrm>
          <a:custGeom>
            <a:avLst/>
            <a:gdLst/>
            <a:ahLst/>
            <a:cxnLst/>
            <a:rect r="r" b="b" t="t" l="l"/>
            <a:pathLst>
              <a:path h="6115655" w="6514679">
                <a:moveTo>
                  <a:pt x="0" y="0"/>
                </a:moveTo>
                <a:lnTo>
                  <a:pt x="6514679" y="0"/>
                </a:lnTo>
                <a:lnTo>
                  <a:pt x="6514679" y="6115655"/>
                </a:lnTo>
                <a:lnTo>
                  <a:pt x="0" y="61156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022899" y="-3300645"/>
            <a:ext cx="4916178" cy="491617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1528166" y="8249945"/>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0" id="10"/>
          <p:cNvSpPr/>
          <p:nvPr/>
        </p:nvSpPr>
        <p:spPr>
          <a:xfrm flipH="false" flipV="false" rot="0">
            <a:off x="15208781" y="751886"/>
            <a:ext cx="2290079" cy="1173666"/>
          </a:xfrm>
          <a:custGeom>
            <a:avLst/>
            <a:gdLst/>
            <a:ahLst/>
            <a:cxnLst/>
            <a:rect r="r" b="b" t="t" l="l"/>
            <a:pathLst>
              <a:path h="1173666" w="2290079">
                <a:moveTo>
                  <a:pt x="0" y="0"/>
                </a:moveTo>
                <a:lnTo>
                  <a:pt x="2290079" y="0"/>
                </a:lnTo>
                <a:lnTo>
                  <a:pt x="2290079" y="1173666"/>
                </a:lnTo>
                <a:lnTo>
                  <a:pt x="0" y="11736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1" id="11"/>
          <p:cNvSpPr txBox="true"/>
          <p:nvPr/>
        </p:nvSpPr>
        <p:spPr>
          <a:xfrm rot="0">
            <a:off x="1028700" y="2413267"/>
            <a:ext cx="5994199" cy="58820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FINDING </a:t>
            </a:r>
            <a:r>
              <a:rPr lang="en-US" sz="7700" b="true">
                <a:solidFill>
                  <a:srgbClr val="FF3131"/>
                </a:solidFill>
                <a:latin typeface="Inter Heavy"/>
                <a:ea typeface="Inter Heavy"/>
                <a:cs typeface="Inter Heavy"/>
                <a:sym typeface="Inter Heavy"/>
              </a:rPr>
              <a:t>INDIVIDUAL PREDICTOR</a:t>
            </a:r>
            <a:r>
              <a:rPr lang="en-US" sz="7700" b="true">
                <a:solidFill>
                  <a:srgbClr val="6644A8"/>
                </a:solidFill>
                <a:latin typeface="Inter Heavy"/>
                <a:ea typeface="Inter Heavy"/>
                <a:cs typeface="Inter Heavy"/>
                <a:sym typeface="Inter Heavy"/>
              </a:rPr>
              <a:t> THAT BEST PREDICT FRAUD</a:t>
            </a:r>
          </a:p>
        </p:txBody>
      </p:sp>
      <p:sp>
        <p:nvSpPr>
          <p:cNvPr name="Freeform 12" id="12"/>
          <p:cNvSpPr/>
          <p:nvPr/>
        </p:nvSpPr>
        <p:spPr>
          <a:xfrm flipH="false" flipV="false" rot="0">
            <a:off x="8422344" y="1338719"/>
            <a:ext cx="1443312" cy="1599238"/>
          </a:xfrm>
          <a:custGeom>
            <a:avLst/>
            <a:gdLst/>
            <a:ahLst/>
            <a:cxnLst/>
            <a:rect r="r" b="b" t="t" l="l"/>
            <a:pathLst>
              <a:path h="1599238" w="1443312">
                <a:moveTo>
                  <a:pt x="0" y="0"/>
                </a:moveTo>
                <a:lnTo>
                  <a:pt x="1443312" y="0"/>
                </a:lnTo>
                <a:lnTo>
                  <a:pt x="1443312" y="1599238"/>
                </a:lnTo>
                <a:lnTo>
                  <a:pt x="0" y="15992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63327" y="3602864"/>
            <a:ext cx="8453215" cy="8453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28700"/>
            <a:ext cx="5841370" cy="8229600"/>
            <a:chOff x="0" y="0"/>
            <a:chExt cx="4507230" cy="6350000"/>
          </a:xfrm>
        </p:grpSpPr>
        <p:sp>
          <p:nvSpPr>
            <p:cNvPr name="Freeform 6" id="6"/>
            <p:cNvSpPr/>
            <p:nvPr/>
          </p:nvSpPr>
          <p:spPr>
            <a:xfrm flipH="false" flipV="false" rot="0">
              <a:off x="0" y="0"/>
              <a:ext cx="4505960" cy="6350000"/>
            </a:xfrm>
            <a:custGeom>
              <a:avLst/>
              <a:gdLst/>
              <a:ahLst/>
              <a:cxnLst/>
              <a:rect r="r" b="b" t="t" l="l"/>
              <a:pathLst>
                <a:path h="6350000" w="4505960">
                  <a:moveTo>
                    <a:pt x="0" y="561340"/>
                  </a:moveTo>
                  <a:lnTo>
                    <a:pt x="0" y="3961130"/>
                  </a:lnTo>
                  <a:cubicBezTo>
                    <a:pt x="0" y="4272280"/>
                    <a:pt x="252730" y="4523740"/>
                    <a:pt x="562610" y="4522470"/>
                  </a:cubicBezTo>
                  <a:cubicBezTo>
                    <a:pt x="873760" y="4521200"/>
                    <a:pt x="1126490" y="4773930"/>
                    <a:pt x="1125220" y="5085080"/>
                  </a:cubicBezTo>
                  <a:lnTo>
                    <a:pt x="1123950" y="5787390"/>
                  </a:lnTo>
                  <a:cubicBezTo>
                    <a:pt x="1123950" y="6098540"/>
                    <a:pt x="1375410" y="6350000"/>
                    <a:pt x="1685290" y="6350000"/>
                  </a:cubicBezTo>
                  <a:lnTo>
                    <a:pt x="3944620" y="6350000"/>
                  </a:lnTo>
                  <a:cubicBezTo>
                    <a:pt x="4254500" y="6350000"/>
                    <a:pt x="4505960" y="6098540"/>
                    <a:pt x="4505960" y="5788660"/>
                  </a:cubicBezTo>
                  <a:lnTo>
                    <a:pt x="4505960" y="2679700"/>
                  </a:lnTo>
                  <a:cubicBezTo>
                    <a:pt x="4505960" y="2494280"/>
                    <a:pt x="4414520" y="2321560"/>
                    <a:pt x="4262120" y="2217420"/>
                  </a:cubicBezTo>
                  <a:lnTo>
                    <a:pt x="1184910" y="99060"/>
                  </a:lnTo>
                  <a:cubicBezTo>
                    <a:pt x="1090930" y="34290"/>
                    <a:pt x="980440" y="0"/>
                    <a:pt x="866140" y="0"/>
                  </a:cubicBezTo>
                  <a:lnTo>
                    <a:pt x="561340" y="0"/>
                  </a:lnTo>
                  <a:cubicBezTo>
                    <a:pt x="251460" y="0"/>
                    <a:pt x="0" y="251460"/>
                    <a:pt x="0" y="561340"/>
                  </a:cubicBezTo>
                  <a:close/>
                </a:path>
              </a:pathLst>
            </a:custGeom>
            <a:blipFill>
              <a:blip r:embed="rId2"/>
              <a:stretch>
                <a:fillRect l="0" t="-3262" r="0" b="-3262"/>
              </a:stretch>
            </a:blipFill>
            <a:ln w="209550" cap="sq">
              <a:solidFill>
                <a:srgbClr val="FFFFFF"/>
              </a:solidFill>
              <a:prstDash val="solid"/>
              <a:miter/>
            </a:ln>
          </p:spPr>
        </p:sp>
      </p:grpSp>
      <p:sp>
        <p:nvSpPr>
          <p:cNvPr name="TextBox 7" id="7"/>
          <p:cNvSpPr txBox="true"/>
          <p:nvPr/>
        </p:nvSpPr>
        <p:spPr>
          <a:xfrm rot="0">
            <a:off x="7809747" y="1171575"/>
            <a:ext cx="8383118" cy="296735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SELECTED INDIVIDUAL PREDICTOR</a:t>
            </a:r>
          </a:p>
        </p:txBody>
      </p:sp>
      <p:sp>
        <p:nvSpPr>
          <p:cNvPr name="Freeform 8" id="8"/>
          <p:cNvSpPr/>
          <p:nvPr/>
        </p:nvSpPr>
        <p:spPr>
          <a:xfrm flipH="false" flipV="false" rot="0">
            <a:off x="5426758" y="1028700"/>
            <a:ext cx="1443312" cy="1599238"/>
          </a:xfrm>
          <a:custGeom>
            <a:avLst/>
            <a:gdLst/>
            <a:ahLst/>
            <a:cxnLst/>
            <a:rect r="r" b="b" t="t" l="l"/>
            <a:pathLst>
              <a:path h="1599238" w="1443312">
                <a:moveTo>
                  <a:pt x="0" y="0"/>
                </a:moveTo>
                <a:lnTo>
                  <a:pt x="1443312" y="0"/>
                </a:lnTo>
                <a:lnTo>
                  <a:pt x="1443312" y="1599238"/>
                </a:lnTo>
                <a:lnTo>
                  <a:pt x="0" y="15992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10" id="10"/>
          <p:cNvGrpSpPr/>
          <p:nvPr/>
        </p:nvGrpSpPr>
        <p:grpSpPr>
          <a:xfrm rot="0">
            <a:off x="8656540" y="6536745"/>
            <a:ext cx="1085067" cy="1085067"/>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918470" y="6536745"/>
            <a:ext cx="1085067" cy="108506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5180400" y="6536745"/>
            <a:ext cx="1085067" cy="108506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644A8"/>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15380648" y="6687590"/>
            <a:ext cx="684571" cy="697652"/>
          </a:xfrm>
          <a:custGeom>
            <a:avLst/>
            <a:gdLst/>
            <a:ahLst/>
            <a:cxnLst/>
            <a:rect r="r" b="b" t="t" l="l"/>
            <a:pathLst>
              <a:path h="697652" w="684571">
                <a:moveTo>
                  <a:pt x="0" y="0"/>
                </a:moveTo>
                <a:lnTo>
                  <a:pt x="684571" y="0"/>
                </a:lnTo>
                <a:lnTo>
                  <a:pt x="684571" y="697652"/>
                </a:lnTo>
                <a:lnTo>
                  <a:pt x="0" y="6976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0" id="20"/>
          <p:cNvSpPr/>
          <p:nvPr/>
        </p:nvSpPr>
        <p:spPr>
          <a:xfrm flipH="false" flipV="false" rot="0">
            <a:off x="8889511" y="6766117"/>
            <a:ext cx="619125" cy="619125"/>
          </a:xfrm>
          <a:custGeom>
            <a:avLst/>
            <a:gdLst/>
            <a:ahLst/>
            <a:cxnLst/>
            <a:rect r="r" b="b" t="t" l="l"/>
            <a:pathLst>
              <a:path h="619125" w="619125">
                <a:moveTo>
                  <a:pt x="0" y="0"/>
                </a:moveTo>
                <a:lnTo>
                  <a:pt x="619125" y="0"/>
                </a:lnTo>
                <a:lnTo>
                  <a:pt x="619125" y="619125"/>
                </a:lnTo>
                <a:lnTo>
                  <a:pt x="0" y="6191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2151441" y="6720366"/>
            <a:ext cx="619125" cy="717826"/>
          </a:xfrm>
          <a:custGeom>
            <a:avLst/>
            <a:gdLst/>
            <a:ahLst/>
            <a:cxnLst/>
            <a:rect r="r" b="b" t="t" l="l"/>
            <a:pathLst>
              <a:path h="717826" w="619125">
                <a:moveTo>
                  <a:pt x="0" y="0"/>
                </a:moveTo>
                <a:lnTo>
                  <a:pt x="619125" y="0"/>
                </a:lnTo>
                <a:lnTo>
                  <a:pt x="619125" y="717826"/>
                </a:lnTo>
                <a:lnTo>
                  <a:pt x="0" y="71782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2" id="22"/>
          <p:cNvSpPr txBox="true"/>
          <p:nvPr/>
        </p:nvSpPr>
        <p:spPr>
          <a:xfrm rot="0">
            <a:off x="7809747" y="4321890"/>
            <a:ext cx="9449553" cy="1835150"/>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For this section, we will be splitting our predictors into their individual dataframe and using the same confusion matrix function to predict fraud using</a:t>
            </a:r>
          </a:p>
          <a:p>
            <a:pPr algn="just">
              <a:lnSpc>
                <a:spcPts val="4199"/>
              </a:lnSpc>
            </a:pPr>
            <a:r>
              <a:rPr lang="en-US" sz="2999" b="true">
                <a:solidFill>
                  <a:srgbClr val="FF3131"/>
                </a:solidFill>
                <a:latin typeface="Poppins Bold"/>
                <a:ea typeface="Poppins Bold"/>
                <a:cs typeface="Poppins Bold"/>
                <a:sym typeface="Poppins Bold"/>
              </a:rPr>
              <a:t>Random Forest Classification</a:t>
            </a:r>
          </a:p>
        </p:txBody>
      </p:sp>
      <p:sp>
        <p:nvSpPr>
          <p:cNvPr name="TextBox 23" id="23"/>
          <p:cNvSpPr txBox="true"/>
          <p:nvPr/>
        </p:nvSpPr>
        <p:spPr>
          <a:xfrm rot="0">
            <a:off x="7809747" y="7976514"/>
            <a:ext cx="2778653" cy="390525"/>
          </a:xfrm>
          <a:prstGeom prst="rect">
            <a:avLst/>
          </a:prstGeom>
        </p:spPr>
        <p:txBody>
          <a:bodyPr anchor="t" rtlCol="false" tIns="0" lIns="0" bIns="0" rIns="0">
            <a:spAutoFit/>
          </a:bodyPr>
          <a:lstStyle/>
          <a:p>
            <a:pPr algn="ctr">
              <a:lnSpc>
                <a:spcPts val="2999"/>
              </a:lnSpc>
            </a:pPr>
            <a:r>
              <a:rPr lang="en-US" b="true" sz="2499">
                <a:solidFill>
                  <a:srgbClr val="000000"/>
                </a:solidFill>
                <a:latin typeface="Poppins Bold"/>
                <a:ea typeface="Poppins Bold"/>
                <a:cs typeface="Poppins Bold"/>
                <a:sym typeface="Poppins Bold"/>
              </a:rPr>
              <a:t>CUSTOMER_AGE</a:t>
            </a:r>
          </a:p>
        </p:txBody>
      </p:sp>
      <p:sp>
        <p:nvSpPr>
          <p:cNvPr name="TextBox 24" id="24"/>
          <p:cNvSpPr txBox="true"/>
          <p:nvPr/>
        </p:nvSpPr>
        <p:spPr>
          <a:xfrm rot="0">
            <a:off x="14082311" y="7976514"/>
            <a:ext cx="3281244" cy="390525"/>
          </a:xfrm>
          <a:prstGeom prst="rect">
            <a:avLst/>
          </a:prstGeom>
        </p:spPr>
        <p:txBody>
          <a:bodyPr anchor="t" rtlCol="false" tIns="0" lIns="0" bIns="0" rIns="0">
            <a:spAutoFit/>
          </a:bodyPr>
          <a:lstStyle/>
          <a:p>
            <a:pPr algn="ctr">
              <a:lnSpc>
                <a:spcPts val="2999"/>
              </a:lnSpc>
            </a:pPr>
            <a:r>
              <a:rPr lang="en-US" b="true" sz="2499">
                <a:solidFill>
                  <a:srgbClr val="000000"/>
                </a:solidFill>
                <a:latin typeface="Poppins Bold"/>
                <a:ea typeface="Poppins Bold"/>
                <a:cs typeface="Poppins Bold"/>
                <a:sym typeface="Poppins Bold"/>
              </a:rPr>
              <a:t>INCOME_CATEGORY</a:t>
            </a:r>
          </a:p>
        </p:txBody>
      </p:sp>
      <p:sp>
        <p:nvSpPr>
          <p:cNvPr name="TextBox 25" id="25"/>
          <p:cNvSpPr txBox="true"/>
          <p:nvPr/>
        </p:nvSpPr>
        <p:spPr>
          <a:xfrm rot="0">
            <a:off x="11071677" y="7976514"/>
            <a:ext cx="2778653" cy="390525"/>
          </a:xfrm>
          <a:prstGeom prst="rect">
            <a:avLst/>
          </a:prstGeom>
        </p:spPr>
        <p:txBody>
          <a:bodyPr anchor="t" rtlCol="false" tIns="0" lIns="0" bIns="0" rIns="0">
            <a:spAutoFit/>
          </a:bodyPr>
          <a:lstStyle/>
          <a:p>
            <a:pPr algn="ctr">
              <a:lnSpc>
                <a:spcPts val="2999"/>
              </a:lnSpc>
            </a:pPr>
            <a:r>
              <a:rPr lang="en-US" b="true" sz="2499">
                <a:solidFill>
                  <a:srgbClr val="000000"/>
                </a:solidFill>
                <a:latin typeface="Poppins Bold"/>
                <a:ea typeface="Poppins Bold"/>
                <a:cs typeface="Poppins Bold"/>
                <a:sym typeface="Poppins Bold"/>
              </a:rPr>
              <a:t>GENDER</a:t>
            </a:r>
          </a:p>
        </p:txBody>
      </p:sp>
      <p:sp>
        <p:nvSpPr>
          <p:cNvPr name="TextBox 26" id="26"/>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3468468" y="29975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496800" y="2725698"/>
            <a:ext cx="4762500" cy="3357562"/>
          </a:xfrm>
          <a:custGeom>
            <a:avLst/>
            <a:gdLst/>
            <a:ahLst/>
            <a:cxnLst/>
            <a:rect r="r" b="b" t="t" l="l"/>
            <a:pathLst>
              <a:path h="3357562" w="4762500">
                <a:moveTo>
                  <a:pt x="0" y="0"/>
                </a:moveTo>
                <a:lnTo>
                  <a:pt x="4762500" y="0"/>
                </a:lnTo>
                <a:lnTo>
                  <a:pt x="4762500" y="3357563"/>
                </a:lnTo>
                <a:lnTo>
                  <a:pt x="0" y="3357563"/>
                </a:lnTo>
                <a:lnTo>
                  <a:pt x="0" y="0"/>
                </a:lnTo>
                <a:close/>
              </a:path>
            </a:pathLst>
          </a:custGeom>
          <a:blipFill>
            <a:blip r:embed="rId6"/>
            <a:stretch>
              <a:fillRect l="0" t="0" r="0" b="0"/>
            </a:stretch>
          </a:blipFill>
        </p:spPr>
      </p:sp>
      <p:sp>
        <p:nvSpPr>
          <p:cNvPr name="Freeform 5" id="5"/>
          <p:cNvSpPr/>
          <p:nvPr/>
        </p:nvSpPr>
        <p:spPr>
          <a:xfrm flipH="false" flipV="false" rot="0">
            <a:off x="12496800" y="6327032"/>
            <a:ext cx="4762500" cy="3429000"/>
          </a:xfrm>
          <a:custGeom>
            <a:avLst/>
            <a:gdLst/>
            <a:ahLst/>
            <a:cxnLst/>
            <a:rect r="r" b="b" t="t" l="l"/>
            <a:pathLst>
              <a:path h="3429000" w="4762500">
                <a:moveTo>
                  <a:pt x="0" y="0"/>
                </a:moveTo>
                <a:lnTo>
                  <a:pt x="4762500" y="0"/>
                </a:lnTo>
                <a:lnTo>
                  <a:pt x="4762500" y="3429000"/>
                </a:lnTo>
                <a:lnTo>
                  <a:pt x="0" y="3429000"/>
                </a:lnTo>
                <a:lnTo>
                  <a:pt x="0" y="0"/>
                </a:lnTo>
                <a:close/>
              </a:path>
            </a:pathLst>
          </a:custGeom>
          <a:blipFill>
            <a:blip r:embed="rId7"/>
            <a:stretch>
              <a:fillRect l="0" t="0" r="0" b="0"/>
            </a:stretch>
          </a:blipFill>
        </p:spPr>
      </p:sp>
      <p:sp>
        <p:nvSpPr>
          <p:cNvPr name="TextBox 6" id="6"/>
          <p:cNvSpPr txBox="true"/>
          <p:nvPr/>
        </p:nvSpPr>
        <p:spPr>
          <a:xfrm rot="0">
            <a:off x="1028700" y="2797161"/>
            <a:ext cx="8344971" cy="6811207"/>
          </a:xfrm>
          <a:prstGeom prst="rect">
            <a:avLst/>
          </a:prstGeom>
        </p:spPr>
        <p:txBody>
          <a:bodyPr anchor="t" rtlCol="false" tIns="0" lIns="0" bIns="0" rIns="0">
            <a:spAutoFit/>
          </a:bodyPr>
          <a:lstStyle/>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train </a:t>
            </a:r>
            <a:r>
              <a:rPr lang="en-US" sz="2967">
                <a:solidFill>
                  <a:srgbClr val="000000"/>
                </a:solidFill>
                <a:latin typeface="Poppins"/>
                <a:ea typeface="Poppins"/>
                <a:cs typeface="Poppins"/>
                <a:sym typeface="Poppins"/>
              </a:rPr>
              <a:t>data : 0.5067</a:t>
            </a:r>
          </a:p>
          <a:p>
            <a:pPr algn="l">
              <a:lnSpc>
                <a:spcPts val="4154"/>
              </a:lnSpc>
            </a:pPr>
            <a:r>
              <a:rPr lang="en-US" sz="2967">
                <a:solidFill>
                  <a:srgbClr val="000000"/>
                </a:solidFill>
                <a:latin typeface="Poppins"/>
                <a:ea typeface="Poppins"/>
                <a:cs typeface="Poppins"/>
                <a:sym typeface="Poppins"/>
              </a:rPr>
              <a:t>Train Data - True Positive Rate : 0.4101</a:t>
            </a:r>
          </a:p>
          <a:p>
            <a:pPr algn="l">
              <a:lnSpc>
                <a:spcPts val="4154"/>
              </a:lnSpc>
            </a:pPr>
            <a:r>
              <a:rPr lang="en-US" sz="2967">
                <a:solidFill>
                  <a:srgbClr val="000000"/>
                </a:solidFill>
                <a:latin typeface="Poppins"/>
                <a:ea typeface="Poppins"/>
                <a:cs typeface="Poppins"/>
                <a:sym typeface="Poppins"/>
              </a:rPr>
              <a:t>Train Data - False Positive Rate : 0.3966</a:t>
            </a:r>
          </a:p>
          <a:p>
            <a:pPr algn="l">
              <a:lnSpc>
                <a:spcPts val="4154"/>
              </a:lnSpc>
            </a:pPr>
            <a:r>
              <a:rPr lang="en-US" sz="2967">
                <a:solidFill>
                  <a:srgbClr val="000000"/>
                </a:solidFill>
                <a:latin typeface="Poppins"/>
                <a:ea typeface="Poppins"/>
                <a:cs typeface="Poppins"/>
                <a:sym typeface="Poppins"/>
              </a:rPr>
              <a:t>Train Data - Precision : 0.5083</a:t>
            </a:r>
          </a:p>
          <a:p>
            <a:pPr algn="l">
              <a:lnSpc>
                <a:spcPts val="4154"/>
              </a:lnSpc>
            </a:pPr>
            <a:r>
              <a:rPr lang="en-US" sz="2967">
                <a:solidFill>
                  <a:srgbClr val="000000"/>
                </a:solidFill>
                <a:latin typeface="Poppins"/>
                <a:ea typeface="Poppins"/>
                <a:cs typeface="Poppins"/>
                <a:sym typeface="Poppins"/>
              </a:rPr>
              <a:t>Train Data - Recall : 0.4101</a:t>
            </a:r>
          </a:p>
          <a:p>
            <a:pPr algn="l">
              <a:lnSpc>
                <a:spcPts val="4154"/>
              </a:lnSpc>
            </a:pPr>
            <a:r>
              <a:rPr lang="en-US" sz="2967">
                <a:solidFill>
                  <a:srgbClr val="000000"/>
                </a:solidFill>
                <a:latin typeface="Poppins"/>
                <a:ea typeface="Poppins"/>
                <a:cs typeface="Poppins"/>
                <a:sym typeface="Poppins"/>
              </a:rPr>
              <a:t>Train Data - F1 Score : 0.4540</a:t>
            </a:r>
          </a:p>
          <a:p>
            <a:pPr algn="l">
              <a:lnSpc>
                <a:spcPts val="4154"/>
              </a:lnSpc>
            </a:pPr>
          </a:p>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test </a:t>
            </a:r>
            <a:r>
              <a:rPr lang="en-US" sz="2967">
                <a:solidFill>
                  <a:srgbClr val="000000"/>
                </a:solidFill>
                <a:latin typeface="Poppins"/>
                <a:ea typeface="Poppins"/>
                <a:cs typeface="Poppins"/>
                <a:sym typeface="Poppins"/>
              </a:rPr>
              <a:t>data : 0.5870</a:t>
            </a:r>
          </a:p>
          <a:p>
            <a:pPr algn="l">
              <a:lnSpc>
                <a:spcPts val="4154"/>
              </a:lnSpc>
            </a:pPr>
            <a:r>
              <a:rPr lang="en-US" sz="2967">
                <a:solidFill>
                  <a:srgbClr val="000000"/>
                </a:solidFill>
                <a:latin typeface="Poppins"/>
                <a:ea typeface="Poppins"/>
                <a:cs typeface="Poppins"/>
                <a:sym typeface="Poppins"/>
              </a:rPr>
              <a:t>Test Data - True Positive Rate : 0.4104</a:t>
            </a:r>
          </a:p>
          <a:p>
            <a:pPr algn="l">
              <a:lnSpc>
                <a:spcPts val="4154"/>
              </a:lnSpc>
            </a:pPr>
            <a:r>
              <a:rPr lang="en-US" sz="2967">
                <a:solidFill>
                  <a:srgbClr val="000000"/>
                </a:solidFill>
                <a:latin typeface="Poppins"/>
                <a:ea typeface="Poppins"/>
                <a:cs typeface="Poppins"/>
                <a:sym typeface="Poppins"/>
              </a:rPr>
              <a:t>Test Data - False Positive Rate : 0.3958</a:t>
            </a:r>
          </a:p>
          <a:p>
            <a:pPr algn="l">
              <a:lnSpc>
                <a:spcPts val="4154"/>
              </a:lnSpc>
            </a:pPr>
            <a:r>
              <a:rPr lang="en-US" sz="2967">
                <a:solidFill>
                  <a:srgbClr val="000000"/>
                </a:solidFill>
                <a:latin typeface="Poppins"/>
                <a:ea typeface="Poppins"/>
                <a:cs typeface="Poppins"/>
                <a:sym typeface="Poppins"/>
              </a:rPr>
              <a:t>Test Data - Precision : 0.09143</a:t>
            </a:r>
          </a:p>
          <a:p>
            <a:pPr algn="l">
              <a:lnSpc>
                <a:spcPts val="4154"/>
              </a:lnSpc>
            </a:pPr>
            <a:r>
              <a:rPr lang="en-US" sz="2967">
                <a:solidFill>
                  <a:srgbClr val="000000"/>
                </a:solidFill>
                <a:latin typeface="Poppins"/>
                <a:ea typeface="Poppins"/>
                <a:cs typeface="Poppins"/>
                <a:sym typeface="Poppins"/>
              </a:rPr>
              <a:t>Test Data - Recall : 0.4104</a:t>
            </a:r>
          </a:p>
          <a:p>
            <a:pPr algn="l">
              <a:lnSpc>
                <a:spcPts val="4154"/>
              </a:lnSpc>
            </a:pPr>
            <a:r>
              <a:rPr lang="en-US" sz="2967">
                <a:solidFill>
                  <a:srgbClr val="000000"/>
                </a:solidFill>
                <a:latin typeface="Poppins"/>
                <a:ea typeface="Poppins"/>
                <a:cs typeface="Poppins"/>
                <a:sym typeface="Poppins"/>
              </a:rPr>
              <a:t>Test Data - F1 Score : 0.1495</a:t>
            </a:r>
          </a:p>
        </p:txBody>
      </p:sp>
      <p:sp>
        <p:nvSpPr>
          <p:cNvPr name="TextBox 7" id="7"/>
          <p:cNvSpPr txBox="true"/>
          <p:nvPr/>
        </p:nvSpPr>
        <p:spPr>
          <a:xfrm rot="0">
            <a:off x="822886" y="877556"/>
            <a:ext cx="13598082" cy="102425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CUSTOMER AGE</a:t>
            </a:r>
          </a:p>
        </p:txBody>
      </p:sp>
      <p:sp>
        <p:nvSpPr>
          <p:cNvPr name="TextBox 8" id="8"/>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028700" y="2797161"/>
            <a:ext cx="8318540" cy="6811207"/>
          </a:xfrm>
          <a:prstGeom prst="rect">
            <a:avLst/>
          </a:prstGeom>
        </p:spPr>
        <p:txBody>
          <a:bodyPr anchor="t" rtlCol="false" tIns="0" lIns="0" bIns="0" rIns="0">
            <a:spAutoFit/>
          </a:bodyPr>
          <a:lstStyle/>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train </a:t>
            </a:r>
            <a:r>
              <a:rPr lang="en-US" sz="2967">
                <a:solidFill>
                  <a:srgbClr val="000000"/>
                </a:solidFill>
                <a:latin typeface="Poppins"/>
                <a:ea typeface="Poppins"/>
                <a:cs typeface="Poppins"/>
                <a:sym typeface="Poppins"/>
              </a:rPr>
              <a:t>data : 0.5322</a:t>
            </a:r>
          </a:p>
          <a:p>
            <a:pPr algn="l">
              <a:lnSpc>
                <a:spcPts val="4154"/>
              </a:lnSpc>
            </a:pPr>
            <a:r>
              <a:rPr lang="en-US" sz="2967">
                <a:solidFill>
                  <a:srgbClr val="000000"/>
                </a:solidFill>
                <a:latin typeface="Poppins"/>
                <a:ea typeface="Poppins"/>
                <a:cs typeface="Poppins"/>
                <a:sym typeface="Poppins"/>
              </a:rPr>
              <a:t>Train Data - True Positive Rate : 0.5840</a:t>
            </a:r>
          </a:p>
          <a:p>
            <a:pPr algn="l">
              <a:lnSpc>
                <a:spcPts val="4154"/>
              </a:lnSpc>
            </a:pPr>
            <a:r>
              <a:rPr lang="en-US" sz="2967">
                <a:solidFill>
                  <a:srgbClr val="000000"/>
                </a:solidFill>
                <a:latin typeface="Poppins"/>
                <a:ea typeface="Poppins"/>
                <a:cs typeface="Poppins"/>
                <a:sym typeface="Poppins"/>
              </a:rPr>
              <a:t>Train Data - False Positive Rate : 0.5196</a:t>
            </a:r>
          </a:p>
          <a:p>
            <a:pPr algn="l">
              <a:lnSpc>
                <a:spcPts val="4154"/>
              </a:lnSpc>
            </a:pPr>
            <a:r>
              <a:rPr lang="en-US" sz="2967">
                <a:solidFill>
                  <a:srgbClr val="000000"/>
                </a:solidFill>
                <a:latin typeface="Poppins"/>
                <a:ea typeface="Poppins"/>
                <a:cs typeface="Poppins"/>
                <a:sym typeface="Poppins"/>
              </a:rPr>
              <a:t>Train Data - Precision : 0.5292</a:t>
            </a:r>
          </a:p>
          <a:p>
            <a:pPr algn="l">
              <a:lnSpc>
                <a:spcPts val="4154"/>
              </a:lnSpc>
            </a:pPr>
            <a:r>
              <a:rPr lang="en-US" sz="2967">
                <a:solidFill>
                  <a:srgbClr val="000000"/>
                </a:solidFill>
                <a:latin typeface="Poppins"/>
                <a:ea typeface="Poppins"/>
                <a:cs typeface="Poppins"/>
                <a:sym typeface="Poppins"/>
              </a:rPr>
              <a:t>Train Data - Recall : 0.5840</a:t>
            </a:r>
          </a:p>
          <a:p>
            <a:pPr algn="l">
              <a:lnSpc>
                <a:spcPts val="4154"/>
              </a:lnSpc>
            </a:pPr>
            <a:r>
              <a:rPr lang="en-US" sz="2967">
                <a:solidFill>
                  <a:srgbClr val="000000"/>
                </a:solidFill>
                <a:latin typeface="Poppins"/>
                <a:ea typeface="Poppins"/>
                <a:cs typeface="Poppins"/>
                <a:sym typeface="Poppins"/>
              </a:rPr>
              <a:t>Train Data - F1 Score : 0.5552</a:t>
            </a:r>
          </a:p>
          <a:p>
            <a:pPr algn="l">
              <a:lnSpc>
                <a:spcPts val="4154"/>
              </a:lnSpc>
            </a:pPr>
          </a:p>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test </a:t>
            </a:r>
            <a:r>
              <a:rPr lang="en-US" sz="2967">
                <a:solidFill>
                  <a:srgbClr val="000000"/>
                </a:solidFill>
                <a:latin typeface="Poppins"/>
                <a:ea typeface="Poppins"/>
                <a:cs typeface="Poppins"/>
                <a:sym typeface="Poppins"/>
              </a:rPr>
              <a:t>data : 0.4908</a:t>
            </a:r>
          </a:p>
          <a:p>
            <a:pPr algn="l">
              <a:lnSpc>
                <a:spcPts val="4154"/>
              </a:lnSpc>
            </a:pPr>
            <a:r>
              <a:rPr lang="en-US" sz="2967">
                <a:solidFill>
                  <a:srgbClr val="000000"/>
                </a:solidFill>
                <a:latin typeface="Poppins"/>
                <a:ea typeface="Poppins"/>
                <a:cs typeface="Poppins"/>
                <a:sym typeface="Poppins"/>
              </a:rPr>
              <a:t>Test Data - True Positive Rate : 0.5913</a:t>
            </a:r>
          </a:p>
          <a:p>
            <a:pPr algn="l">
              <a:lnSpc>
                <a:spcPts val="4154"/>
              </a:lnSpc>
            </a:pPr>
            <a:r>
              <a:rPr lang="en-US" sz="2967">
                <a:solidFill>
                  <a:srgbClr val="000000"/>
                </a:solidFill>
                <a:latin typeface="Poppins"/>
                <a:ea typeface="Poppins"/>
                <a:cs typeface="Poppins"/>
                <a:sym typeface="Poppins"/>
              </a:rPr>
              <a:t>Test Data - False Positive Rate : 0.51894</a:t>
            </a:r>
          </a:p>
          <a:p>
            <a:pPr algn="l">
              <a:lnSpc>
                <a:spcPts val="4154"/>
              </a:lnSpc>
            </a:pPr>
            <a:r>
              <a:rPr lang="en-US" sz="2967">
                <a:solidFill>
                  <a:srgbClr val="000000"/>
                </a:solidFill>
                <a:latin typeface="Poppins"/>
                <a:ea typeface="Poppins"/>
                <a:cs typeface="Poppins"/>
                <a:sym typeface="Poppins"/>
              </a:rPr>
              <a:t>Test Data - Precision : 0.09959</a:t>
            </a:r>
          </a:p>
          <a:p>
            <a:pPr algn="l">
              <a:lnSpc>
                <a:spcPts val="4154"/>
              </a:lnSpc>
            </a:pPr>
            <a:r>
              <a:rPr lang="en-US" sz="2967">
                <a:solidFill>
                  <a:srgbClr val="000000"/>
                </a:solidFill>
                <a:latin typeface="Poppins"/>
                <a:ea typeface="Poppins"/>
                <a:cs typeface="Poppins"/>
                <a:sym typeface="Poppins"/>
              </a:rPr>
              <a:t>Test Data - Recall : 0.5913</a:t>
            </a:r>
          </a:p>
          <a:p>
            <a:pPr algn="l">
              <a:lnSpc>
                <a:spcPts val="4154"/>
              </a:lnSpc>
            </a:pPr>
            <a:r>
              <a:rPr lang="en-US" sz="2967">
                <a:solidFill>
                  <a:srgbClr val="000000"/>
                </a:solidFill>
                <a:latin typeface="Poppins"/>
                <a:ea typeface="Poppins"/>
                <a:cs typeface="Poppins"/>
                <a:sym typeface="Poppins"/>
              </a:rPr>
              <a:t>Test Data - F1 Score : 0.1705</a:t>
            </a:r>
          </a:p>
        </p:txBody>
      </p:sp>
      <p:sp>
        <p:nvSpPr>
          <p:cNvPr name="TextBox 4" id="4"/>
          <p:cNvSpPr txBox="true"/>
          <p:nvPr/>
        </p:nvSpPr>
        <p:spPr>
          <a:xfrm rot="0">
            <a:off x="822886" y="877556"/>
            <a:ext cx="13598082" cy="19958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GENDER:</a:t>
            </a:r>
          </a:p>
          <a:p>
            <a:pPr algn="l">
              <a:lnSpc>
                <a:spcPts val="7700"/>
              </a:lnSpc>
            </a:pPr>
          </a:p>
        </p:txBody>
      </p:sp>
      <p:sp>
        <p:nvSpPr>
          <p:cNvPr name="Freeform 5" id="5"/>
          <p:cNvSpPr/>
          <p:nvPr/>
        </p:nvSpPr>
        <p:spPr>
          <a:xfrm flipH="false" flipV="false" rot="0">
            <a:off x="13599437" y="299750"/>
            <a:ext cx="1643062" cy="1905000"/>
          </a:xfrm>
          <a:custGeom>
            <a:avLst/>
            <a:gdLst/>
            <a:ahLst/>
            <a:cxnLst/>
            <a:rect r="r" b="b" t="t" l="l"/>
            <a:pathLst>
              <a:path h="1905000" w="1643062">
                <a:moveTo>
                  <a:pt x="0" y="0"/>
                </a:moveTo>
                <a:lnTo>
                  <a:pt x="1643063" y="0"/>
                </a:lnTo>
                <a:lnTo>
                  <a:pt x="1643063" y="1905000"/>
                </a:lnTo>
                <a:lnTo>
                  <a:pt x="0" y="1905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496800" y="2693320"/>
            <a:ext cx="4762500" cy="3357562"/>
          </a:xfrm>
          <a:custGeom>
            <a:avLst/>
            <a:gdLst/>
            <a:ahLst/>
            <a:cxnLst/>
            <a:rect r="r" b="b" t="t" l="l"/>
            <a:pathLst>
              <a:path h="3357562" w="4762500">
                <a:moveTo>
                  <a:pt x="0" y="0"/>
                </a:moveTo>
                <a:lnTo>
                  <a:pt x="4762500" y="0"/>
                </a:lnTo>
                <a:lnTo>
                  <a:pt x="4762500" y="3357562"/>
                </a:lnTo>
                <a:lnTo>
                  <a:pt x="0" y="3357562"/>
                </a:lnTo>
                <a:lnTo>
                  <a:pt x="0" y="0"/>
                </a:lnTo>
                <a:close/>
              </a:path>
            </a:pathLst>
          </a:custGeom>
          <a:blipFill>
            <a:blip r:embed="rId6"/>
            <a:stretch>
              <a:fillRect l="0" t="0" r="0" b="0"/>
            </a:stretch>
          </a:blipFill>
        </p:spPr>
      </p:sp>
      <p:sp>
        <p:nvSpPr>
          <p:cNvPr name="Freeform 7" id="7"/>
          <p:cNvSpPr/>
          <p:nvPr/>
        </p:nvSpPr>
        <p:spPr>
          <a:xfrm flipH="false" flipV="false" rot="0">
            <a:off x="12496800" y="6359410"/>
            <a:ext cx="4762500" cy="3429000"/>
          </a:xfrm>
          <a:custGeom>
            <a:avLst/>
            <a:gdLst/>
            <a:ahLst/>
            <a:cxnLst/>
            <a:rect r="r" b="b" t="t" l="l"/>
            <a:pathLst>
              <a:path h="3429000" w="4762500">
                <a:moveTo>
                  <a:pt x="0" y="0"/>
                </a:moveTo>
                <a:lnTo>
                  <a:pt x="4762500" y="0"/>
                </a:lnTo>
                <a:lnTo>
                  <a:pt x="4762500" y="3429000"/>
                </a:lnTo>
                <a:lnTo>
                  <a:pt x="0" y="3429000"/>
                </a:lnTo>
                <a:lnTo>
                  <a:pt x="0" y="0"/>
                </a:lnTo>
                <a:close/>
              </a:path>
            </a:pathLst>
          </a:custGeom>
          <a:blipFill>
            <a:blip r:embed="rId7"/>
            <a:stretch>
              <a:fillRect l="0" t="0" r="0" b="0"/>
            </a:stretch>
          </a:blipFill>
        </p:spPr>
      </p:sp>
      <p:sp>
        <p:nvSpPr>
          <p:cNvPr name="TextBox 8" id="8"/>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028700" y="2797161"/>
            <a:ext cx="8476298" cy="6811207"/>
          </a:xfrm>
          <a:prstGeom prst="rect">
            <a:avLst/>
          </a:prstGeom>
        </p:spPr>
        <p:txBody>
          <a:bodyPr anchor="t" rtlCol="false" tIns="0" lIns="0" bIns="0" rIns="0">
            <a:spAutoFit/>
          </a:bodyPr>
          <a:lstStyle/>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train </a:t>
            </a:r>
            <a:r>
              <a:rPr lang="en-US" sz="2967">
                <a:solidFill>
                  <a:srgbClr val="000000"/>
                </a:solidFill>
                <a:latin typeface="Poppins"/>
                <a:ea typeface="Poppins"/>
                <a:cs typeface="Poppins"/>
                <a:sym typeface="Poppins"/>
              </a:rPr>
              <a:t>data  : 0.5489</a:t>
            </a:r>
          </a:p>
          <a:p>
            <a:pPr algn="l">
              <a:lnSpc>
                <a:spcPts val="4154"/>
              </a:lnSpc>
            </a:pPr>
            <a:r>
              <a:rPr lang="en-US" sz="2967">
                <a:solidFill>
                  <a:srgbClr val="000000"/>
                </a:solidFill>
                <a:latin typeface="Poppins"/>
                <a:ea typeface="Poppins"/>
                <a:cs typeface="Poppins"/>
                <a:sym typeface="Poppins"/>
              </a:rPr>
              <a:t>Train Data - True Positive Rate  : 0.7588</a:t>
            </a:r>
          </a:p>
          <a:p>
            <a:pPr algn="l">
              <a:lnSpc>
                <a:spcPts val="4154"/>
              </a:lnSpc>
            </a:pPr>
            <a:r>
              <a:rPr lang="en-US" sz="2967">
                <a:solidFill>
                  <a:srgbClr val="000000"/>
                </a:solidFill>
                <a:latin typeface="Poppins"/>
                <a:ea typeface="Poppins"/>
                <a:cs typeface="Poppins"/>
                <a:sym typeface="Poppins"/>
              </a:rPr>
              <a:t>Train Data - False Positive Rate  : 0.6610</a:t>
            </a:r>
          </a:p>
          <a:p>
            <a:pPr algn="l">
              <a:lnSpc>
                <a:spcPts val="4154"/>
              </a:lnSpc>
            </a:pPr>
            <a:r>
              <a:rPr lang="en-US" sz="2967">
                <a:solidFill>
                  <a:srgbClr val="000000"/>
                </a:solidFill>
                <a:latin typeface="Poppins"/>
                <a:ea typeface="Poppins"/>
                <a:cs typeface="Poppins"/>
                <a:sym typeface="Poppins"/>
              </a:rPr>
              <a:t>Train Data - Precision  : 0.5345</a:t>
            </a:r>
          </a:p>
          <a:p>
            <a:pPr algn="l">
              <a:lnSpc>
                <a:spcPts val="4154"/>
              </a:lnSpc>
            </a:pPr>
            <a:r>
              <a:rPr lang="en-US" sz="2967">
                <a:solidFill>
                  <a:srgbClr val="000000"/>
                </a:solidFill>
                <a:latin typeface="Poppins"/>
                <a:ea typeface="Poppins"/>
                <a:cs typeface="Poppins"/>
                <a:sym typeface="Poppins"/>
              </a:rPr>
              <a:t>Train Data - Recall  : 0.7588</a:t>
            </a:r>
          </a:p>
          <a:p>
            <a:pPr algn="l">
              <a:lnSpc>
                <a:spcPts val="4154"/>
              </a:lnSpc>
            </a:pPr>
            <a:r>
              <a:rPr lang="en-US" sz="2967">
                <a:solidFill>
                  <a:srgbClr val="000000"/>
                </a:solidFill>
                <a:latin typeface="Poppins"/>
                <a:ea typeface="Poppins"/>
                <a:cs typeface="Poppins"/>
                <a:sym typeface="Poppins"/>
              </a:rPr>
              <a:t>Train Data - F1 Score  : 0.6272</a:t>
            </a:r>
          </a:p>
          <a:p>
            <a:pPr algn="l">
              <a:lnSpc>
                <a:spcPts val="4154"/>
              </a:lnSpc>
            </a:pPr>
          </a:p>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test </a:t>
            </a:r>
            <a:r>
              <a:rPr lang="en-US" sz="2967">
                <a:solidFill>
                  <a:srgbClr val="000000"/>
                </a:solidFill>
                <a:latin typeface="Poppins"/>
                <a:ea typeface="Poppins"/>
                <a:cs typeface="Poppins"/>
                <a:sym typeface="Poppins"/>
              </a:rPr>
              <a:t>data  : 0.3752</a:t>
            </a:r>
          </a:p>
          <a:p>
            <a:pPr algn="l">
              <a:lnSpc>
                <a:spcPts val="4154"/>
              </a:lnSpc>
            </a:pPr>
            <a:r>
              <a:rPr lang="en-US" sz="2967">
                <a:solidFill>
                  <a:srgbClr val="000000"/>
                </a:solidFill>
                <a:latin typeface="Poppins"/>
                <a:ea typeface="Poppins"/>
                <a:cs typeface="Poppins"/>
                <a:sym typeface="Poppins"/>
              </a:rPr>
              <a:t>Test Data - True Positive Rate  : 0.7568</a:t>
            </a:r>
          </a:p>
          <a:p>
            <a:pPr algn="l">
              <a:lnSpc>
                <a:spcPts val="4154"/>
              </a:lnSpc>
            </a:pPr>
            <a:r>
              <a:rPr lang="en-US" sz="2967">
                <a:solidFill>
                  <a:srgbClr val="000000"/>
                </a:solidFill>
                <a:latin typeface="Poppins"/>
                <a:ea typeface="Poppins"/>
                <a:cs typeface="Poppins"/>
                <a:sym typeface="Poppins"/>
              </a:rPr>
              <a:t>Test Data - False Positive Rate  : 0.6619</a:t>
            </a:r>
          </a:p>
          <a:p>
            <a:pPr algn="l">
              <a:lnSpc>
                <a:spcPts val="4154"/>
              </a:lnSpc>
            </a:pPr>
            <a:r>
              <a:rPr lang="en-US" sz="2967">
                <a:solidFill>
                  <a:srgbClr val="000000"/>
                </a:solidFill>
                <a:latin typeface="Poppins"/>
                <a:ea typeface="Poppins"/>
                <a:cs typeface="Poppins"/>
                <a:sym typeface="Poppins"/>
              </a:rPr>
              <a:t>Test Data - Precision  : 0.09990</a:t>
            </a:r>
          </a:p>
          <a:p>
            <a:pPr algn="l">
              <a:lnSpc>
                <a:spcPts val="4154"/>
              </a:lnSpc>
            </a:pPr>
            <a:r>
              <a:rPr lang="en-US" sz="2967">
                <a:solidFill>
                  <a:srgbClr val="000000"/>
                </a:solidFill>
                <a:latin typeface="Poppins"/>
                <a:ea typeface="Poppins"/>
                <a:cs typeface="Poppins"/>
                <a:sym typeface="Poppins"/>
              </a:rPr>
              <a:t>Test Data - Recall  : 0.7568</a:t>
            </a:r>
          </a:p>
          <a:p>
            <a:pPr algn="l">
              <a:lnSpc>
                <a:spcPts val="4154"/>
              </a:lnSpc>
            </a:pPr>
            <a:r>
              <a:rPr lang="en-US" sz="2967">
                <a:solidFill>
                  <a:srgbClr val="000000"/>
                </a:solidFill>
                <a:latin typeface="Poppins"/>
                <a:ea typeface="Poppins"/>
                <a:cs typeface="Poppins"/>
                <a:sym typeface="Poppins"/>
              </a:rPr>
              <a:t>Test Data - F1 Score  : 0.1765</a:t>
            </a:r>
          </a:p>
        </p:txBody>
      </p:sp>
      <p:sp>
        <p:nvSpPr>
          <p:cNvPr name="TextBox 4" id="4"/>
          <p:cNvSpPr txBox="true"/>
          <p:nvPr/>
        </p:nvSpPr>
        <p:spPr>
          <a:xfrm rot="0">
            <a:off x="822886" y="877556"/>
            <a:ext cx="13598082" cy="19958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INCOME_CATEGORY:</a:t>
            </a:r>
          </a:p>
          <a:p>
            <a:pPr algn="l">
              <a:lnSpc>
                <a:spcPts val="7700"/>
              </a:lnSpc>
            </a:pPr>
          </a:p>
        </p:txBody>
      </p:sp>
      <p:sp>
        <p:nvSpPr>
          <p:cNvPr name="Freeform 5" id="5"/>
          <p:cNvSpPr/>
          <p:nvPr/>
        </p:nvSpPr>
        <p:spPr>
          <a:xfrm flipH="false" flipV="false" rot="0">
            <a:off x="13468468" y="281549"/>
            <a:ext cx="1905000" cy="1941401"/>
          </a:xfrm>
          <a:custGeom>
            <a:avLst/>
            <a:gdLst/>
            <a:ahLst/>
            <a:cxnLst/>
            <a:rect r="r" b="b" t="t" l="l"/>
            <a:pathLst>
              <a:path h="1941401" w="1905000">
                <a:moveTo>
                  <a:pt x="0" y="0"/>
                </a:moveTo>
                <a:lnTo>
                  <a:pt x="1905000" y="0"/>
                </a:lnTo>
                <a:lnTo>
                  <a:pt x="1905000" y="1941402"/>
                </a:lnTo>
                <a:lnTo>
                  <a:pt x="0" y="19414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2496800" y="2699946"/>
            <a:ext cx="4762500" cy="3357562"/>
          </a:xfrm>
          <a:custGeom>
            <a:avLst/>
            <a:gdLst/>
            <a:ahLst/>
            <a:cxnLst/>
            <a:rect r="r" b="b" t="t" l="l"/>
            <a:pathLst>
              <a:path h="3357562" w="4762500">
                <a:moveTo>
                  <a:pt x="0" y="0"/>
                </a:moveTo>
                <a:lnTo>
                  <a:pt x="4762500" y="0"/>
                </a:lnTo>
                <a:lnTo>
                  <a:pt x="4762500" y="3357563"/>
                </a:lnTo>
                <a:lnTo>
                  <a:pt x="0" y="3357563"/>
                </a:lnTo>
                <a:lnTo>
                  <a:pt x="0" y="0"/>
                </a:lnTo>
                <a:close/>
              </a:path>
            </a:pathLst>
          </a:custGeom>
          <a:blipFill>
            <a:blip r:embed="rId6"/>
            <a:stretch>
              <a:fillRect l="0" t="0" r="0" b="0"/>
            </a:stretch>
          </a:blipFill>
        </p:spPr>
      </p:sp>
      <p:sp>
        <p:nvSpPr>
          <p:cNvPr name="Freeform 7" id="7"/>
          <p:cNvSpPr/>
          <p:nvPr/>
        </p:nvSpPr>
        <p:spPr>
          <a:xfrm flipH="false" flipV="false" rot="0">
            <a:off x="12496800" y="6352784"/>
            <a:ext cx="4762500" cy="3429000"/>
          </a:xfrm>
          <a:custGeom>
            <a:avLst/>
            <a:gdLst/>
            <a:ahLst/>
            <a:cxnLst/>
            <a:rect r="r" b="b" t="t" l="l"/>
            <a:pathLst>
              <a:path h="3429000" w="4762500">
                <a:moveTo>
                  <a:pt x="0" y="0"/>
                </a:moveTo>
                <a:lnTo>
                  <a:pt x="4762500" y="0"/>
                </a:lnTo>
                <a:lnTo>
                  <a:pt x="4762500" y="3429000"/>
                </a:lnTo>
                <a:lnTo>
                  <a:pt x="0" y="3429000"/>
                </a:lnTo>
                <a:lnTo>
                  <a:pt x="0" y="0"/>
                </a:lnTo>
                <a:close/>
              </a:path>
            </a:pathLst>
          </a:custGeom>
          <a:blipFill>
            <a:blip r:embed="rId7"/>
            <a:stretch>
              <a:fillRect l="0" t="0" r="0" b="0"/>
            </a:stretch>
          </a:blipFill>
        </p:spPr>
      </p:sp>
      <p:sp>
        <p:nvSpPr>
          <p:cNvPr name="TextBox 8" id="8"/>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Table 3" id="3"/>
          <p:cNvGraphicFramePr>
            <a:graphicFrameLocks noGrp="true"/>
          </p:cNvGraphicFramePr>
          <p:nvPr/>
        </p:nvGraphicFramePr>
        <p:xfrm>
          <a:off x="1028700" y="1901811"/>
          <a:ext cx="12645395" cy="7896532"/>
        </p:xfrm>
        <a:graphic>
          <a:graphicData uri="http://schemas.openxmlformats.org/drawingml/2006/table">
            <a:tbl>
              <a:tblPr/>
              <a:tblGrid>
                <a:gridCol w="3161349"/>
                <a:gridCol w="3161349"/>
                <a:gridCol w="3161349"/>
                <a:gridCol w="3161349"/>
              </a:tblGrid>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Metric</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B0CDE9"/>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Customer_Age</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B0CDE9"/>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Gender</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B0CDE9"/>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Income_Category</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B0CDE9"/>
                    </a:solidFill>
                  </a:tcPr>
                </a:tc>
              </a:tr>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Accuracy</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99BBE4"/>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0.587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0.491</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0.375</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r>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True Positive Rate</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99BBE4"/>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0.410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0.591</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0.757</a:t>
                      </a:r>
                      <a:r>
                        <a:rPr lang="en-US" b="true" sz="2499" strike="noStrike" u="none">
                          <a:solidFill>
                            <a:srgbClr val="000000"/>
                          </a:solidFill>
                          <a:latin typeface="Helvetica Now Bold"/>
                          <a:ea typeface="Helvetica Now Bold"/>
                          <a:cs typeface="Helvetica Now Bold"/>
                          <a:sym typeface="Helvetica Now Bold"/>
                        </a:rPr>
                        <a:t> </a:t>
                      </a:r>
                      <a:r>
                        <a:rPr lang="en-US" b="true" sz="2499" strike="noStrike" u="none">
                          <a:solidFill>
                            <a:srgbClr val="FF3131"/>
                          </a:solidFill>
                          <a:latin typeface="Helvetica Now Bold"/>
                          <a:ea typeface="Helvetica Now Bold"/>
                          <a:cs typeface="Helvetica Now Bold"/>
                          <a:sym typeface="Helvetica Now Bold"/>
                        </a:rPr>
                        <a:t>(Best)</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r>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False Positive Rate</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99BBE4"/>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0.396</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0.519</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0.662</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r>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Precision</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99BBE4"/>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0.091</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0.100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0.100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r>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Recall</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99BBE4"/>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0.410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0.591</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0.757</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r>
              <a:tr h="1128076">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F1 Score</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99BBE4"/>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0.150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0.170</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Helvetica Now Bold"/>
                          <a:ea typeface="Helvetica Now Bold"/>
                          <a:cs typeface="Helvetica Now Bold"/>
                          <a:sym typeface="Helvetica Now Bold"/>
                        </a:rPr>
                        <a:t>0.177 </a:t>
                      </a:r>
                      <a:r>
                        <a:rPr lang="en-US" b="true" sz="2499" strike="noStrike" u="none">
                          <a:solidFill>
                            <a:srgbClr val="FF3131"/>
                          </a:solidFill>
                          <a:latin typeface="Helvetica Now Bold"/>
                          <a:ea typeface="Helvetica Now Bold"/>
                          <a:cs typeface="Helvetica Now Bold"/>
                          <a:sym typeface="Helvetica Now Bold"/>
                        </a:rPr>
                        <a:t>(Best)</a:t>
                      </a:r>
                      <a:endParaRPr lang="en-US" sz="1100"/>
                    </a:p>
                  </a:txBody>
                  <a:tcPr marL="142875" marR="142875" marT="142875" marB="14287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F7FBFF"/>
                    </a:solidFill>
                  </a:tcPr>
                </a:tc>
              </a:tr>
            </a:tbl>
          </a:graphicData>
        </a:graphic>
      </p:graphicFrame>
      <p:sp>
        <p:nvSpPr>
          <p:cNvPr name="Freeform 4" id="4"/>
          <p:cNvSpPr/>
          <p:nvPr/>
        </p:nvSpPr>
        <p:spPr>
          <a:xfrm flipH="false" flipV="false" rot="0">
            <a:off x="13916025" y="3792677"/>
            <a:ext cx="3343275" cy="4114800"/>
          </a:xfrm>
          <a:custGeom>
            <a:avLst/>
            <a:gdLst/>
            <a:ahLst/>
            <a:cxnLst/>
            <a:rect r="r" b="b" t="t" l="l"/>
            <a:pathLst>
              <a:path h="4114800" w="3343275">
                <a:moveTo>
                  <a:pt x="0" y="0"/>
                </a:moveTo>
                <a:lnTo>
                  <a:pt x="3343275" y="0"/>
                </a:lnTo>
                <a:lnTo>
                  <a:pt x="334327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822886" y="877556"/>
            <a:ext cx="13598082" cy="102425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SUMMARY</a:t>
            </a:r>
          </a:p>
        </p:txBody>
      </p:sp>
      <p:sp>
        <p:nvSpPr>
          <p:cNvPr name="TextBox 6" id="6"/>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1174" y="916892"/>
            <a:ext cx="8453215" cy="8453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785959" y="916892"/>
            <a:ext cx="8453215" cy="84532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89225" y="1701761"/>
            <a:ext cx="1443312" cy="1599238"/>
          </a:xfrm>
          <a:custGeom>
            <a:avLst/>
            <a:gdLst/>
            <a:ahLst/>
            <a:cxnLst/>
            <a:rect r="r" b="b" t="t" l="l"/>
            <a:pathLst>
              <a:path h="1599238" w="1443312">
                <a:moveTo>
                  <a:pt x="0" y="0"/>
                </a:moveTo>
                <a:lnTo>
                  <a:pt x="1443312" y="0"/>
                </a:lnTo>
                <a:lnTo>
                  <a:pt x="1443312" y="1599238"/>
                </a:lnTo>
                <a:lnTo>
                  <a:pt x="0" y="15992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815988" y="7192770"/>
            <a:ext cx="1443312" cy="1599238"/>
          </a:xfrm>
          <a:custGeom>
            <a:avLst/>
            <a:gdLst/>
            <a:ahLst/>
            <a:cxnLst/>
            <a:rect r="r" b="b" t="t" l="l"/>
            <a:pathLst>
              <a:path h="1599238" w="1443312">
                <a:moveTo>
                  <a:pt x="0" y="0"/>
                </a:moveTo>
                <a:lnTo>
                  <a:pt x="1443312" y="0"/>
                </a:lnTo>
                <a:lnTo>
                  <a:pt x="1443312" y="1599237"/>
                </a:lnTo>
                <a:lnTo>
                  <a:pt x="0" y="1599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528166" y="8249945"/>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2" id="12"/>
          <p:cNvSpPr txBox="true"/>
          <p:nvPr/>
        </p:nvSpPr>
        <p:spPr>
          <a:xfrm rot="0">
            <a:off x="4011096" y="2053979"/>
            <a:ext cx="10265807" cy="1995815"/>
          </a:xfrm>
          <a:prstGeom prst="rect">
            <a:avLst/>
          </a:prstGeom>
        </p:spPr>
        <p:txBody>
          <a:bodyPr anchor="t" rtlCol="false" tIns="0" lIns="0" bIns="0" rIns="0">
            <a:spAutoFit/>
          </a:bodyPr>
          <a:lstStyle/>
          <a:p>
            <a:pPr algn="ctr">
              <a:lnSpc>
                <a:spcPts val="7700"/>
              </a:lnSpc>
            </a:pPr>
            <a:r>
              <a:rPr lang="en-US" b="true" sz="7700">
                <a:solidFill>
                  <a:srgbClr val="6644A8"/>
                </a:solidFill>
                <a:latin typeface="Inter Heavy"/>
                <a:ea typeface="Inter Heavy"/>
                <a:cs typeface="Inter Heavy"/>
                <a:sym typeface="Inter Heavy"/>
              </a:rPr>
              <a:t>CHOICE:</a:t>
            </a:r>
          </a:p>
          <a:p>
            <a:pPr algn="ctr">
              <a:lnSpc>
                <a:spcPts val="7700"/>
              </a:lnSpc>
            </a:pPr>
            <a:r>
              <a:rPr lang="en-US" b="true" sz="7700">
                <a:solidFill>
                  <a:srgbClr val="FF3131"/>
                </a:solidFill>
                <a:latin typeface="Inter Heavy"/>
                <a:ea typeface="Inter Heavy"/>
                <a:cs typeface="Inter Heavy"/>
                <a:sym typeface="Inter Heavy"/>
              </a:rPr>
              <a:t>INCOME_CATEGORY</a:t>
            </a:r>
          </a:p>
        </p:txBody>
      </p:sp>
      <p:sp>
        <p:nvSpPr>
          <p:cNvPr name="TextBox 13" id="13"/>
          <p:cNvSpPr txBox="true"/>
          <p:nvPr/>
        </p:nvSpPr>
        <p:spPr>
          <a:xfrm rot="0">
            <a:off x="3217776" y="4886569"/>
            <a:ext cx="11852448" cy="3489326"/>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Helvetica Now"/>
                <a:ea typeface="Helvetica Now"/>
                <a:cs typeface="Helvetica Now"/>
                <a:sym typeface="Helvetica Now"/>
              </a:rPr>
              <a:t>T</a:t>
            </a:r>
            <a:r>
              <a:rPr lang="en-US" sz="3999">
                <a:solidFill>
                  <a:srgbClr val="000000"/>
                </a:solidFill>
                <a:latin typeface="Helvetica Now"/>
                <a:ea typeface="Helvetica Now"/>
                <a:cs typeface="Helvetica Now"/>
                <a:sym typeface="Helvetica Now"/>
              </a:rPr>
              <a:t>he most effective individual predictor of fraud is Income_Category. This is because it achieves the </a:t>
            </a:r>
            <a:r>
              <a:rPr lang="en-US" sz="3999">
                <a:solidFill>
                  <a:srgbClr val="FF3131"/>
                </a:solidFill>
                <a:latin typeface="Helvetica Now"/>
                <a:ea typeface="Helvetica Now"/>
                <a:cs typeface="Helvetica Now"/>
                <a:sym typeface="Helvetica Now"/>
              </a:rPr>
              <a:t>highest F1 Score</a:t>
            </a:r>
            <a:r>
              <a:rPr lang="en-US" sz="3999">
                <a:solidFill>
                  <a:srgbClr val="000000"/>
                </a:solidFill>
                <a:latin typeface="Helvetica Now"/>
                <a:ea typeface="Helvetica Now"/>
                <a:cs typeface="Helvetica Now"/>
                <a:sym typeface="Helvetica Now"/>
              </a:rPr>
              <a:t> (0.177) among the compared features</a:t>
            </a:r>
            <a:r>
              <a:rPr lang="en-US" sz="3999">
                <a:solidFill>
                  <a:srgbClr val="000000"/>
                </a:solidFill>
                <a:latin typeface="Helvetica Now"/>
                <a:ea typeface="Helvetica Now"/>
                <a:cs typeface="Helvetica Now"/>
                <a:sym typeface="Helvetica Now"/>
              </a:rPr>
              <a:t>, which</a:t>
            </a:r>
            <a:r>
              <a:rPr lang="en-US" sz="3999">
                <a:solidFill>
                  <a:srgbClr val="000000"/>
                </a:solidFill>
                <a:latin typeface="Helvetica Now"/>
                <a:ea typeface="Helvetica Now"/>
                <a:cs typeface="Helvetica Now"/>
                <a:sym typeface="Helvetica Now"/>
              </a:rPr>
              <a:t> balance</a:t>
            </a:r>
            <a:r>
              <a:rPr lang="en-US" sz="3999">
                <a:solidFill>
                  <a:srgbClr val="000000"/>
                </a:solidFill>
                <a:latin typeface="Helvetica Now"/>
                <a:ea typeface="Helvetica Now"/>
                <a:cs typeface="Helvetica Now"/>
                <a:sym typeface="Helvetica Now"/>
              </a:rPr>
              <a:t>s</a:t>
            </a:r>
            <a:r>
              <a:rPr lang="en-US" sz="3999">
                <a:solidFill>
                  <a:srgbClr val="000000"/>
                </a:solidFill>
                <a:latin typeface="Helvetica Now"/>
                <a:ea typeface="Helvetica Now"/>
                <a:cs typeface="Helvetica Now"/>
                <a:sym typeface="Helvetica Now"/>
              </a:rPr>
              <a:t> both precision and recall—two crucial metrics in fraud detection.</a:t>
            </a:r>
          </a:p>
        </p:txBody>
      </p:sp>
      <p:sp>
        <p:nvSpPr>
          <p:cNvPr name="TextBox 14" id="14"/>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028700" y="2797161"/>
            <a:ext cx="8476655" cy="6811207"/>
          </a:xfrm>
          <a:prstGeom prst="rect">
            <a:avLst/>
          </a:prstGeom>
        </p:spPr>
        <p:txBody>
          <a:bodyPr anchor="t" rtlCol="false" tIns="0" lIns="0" bIns="0" rIns="0">
            <a:spAutoFit/>
          </a:bodyPr>
          <a:lstStyle/>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train </a:t>
            </a:r>
            <a:r>
              <a:rPr lang="en-US" sz="2967">
                <a:solidFill>
                  <a:srgbClr val="000000"/>
                </a:solidFill>
                <a:latin typeface="Poppins"/>
                <a:ea typeface="Poppins"/>
                <a:cs typeface="Poppins"/>
                <a:sym typeface="Poppins"/>
              </a:rPr>
              <a:t>data  : 0.5488</a:t>
            </a:r>
          </a:p>
          <a:p>
            <a:pPr algn="l">
              <a:lnSpc>
                <a:spcPts val="4154"/>
              </a:lnSpc>
            </a:pPr>
            <a:r>
              <a:rPr lang="en-US" sz="2967">
                <a:solidFill>
                  <a:srgbClr val="000000"/>
                </a:solidFill>
                <a:latin typeface="Poppins"/>
                <a:ea typeface="Poppins"/>
                <a:cs typeface="Poppins"/>
                <a:sym typeface="Poppins"/>
              </a:rPr>
              <a:t>Train Data - True Positive Rate  : 0.7588</a:t>
            </a:r>
          </a:p>
          <a:p>
            <a:pPr algn="l">
              <a:lnSpc>
                <a:spcPts val="4154"/>
              </a:lnSpc>
            </a:pPr>
            <a:r>
              <a:rPr lang="en-US" sz="2967">
                <a:solidFill>
                  <a:srgbClr val="000000"/>
                </a:solidFill>
                <a:latin typeface="Poppins"/>
                <a:ea typeface="Poppins"/>
                <a:cs typeface="Poppins"/>
                <a:sym typeface="Poppins"/>
              </a:rPr>
              <a:t>Train Data - False Positive Rate  : 0.6612</a:t>
            </a:r>
          </a:p>
          <a:p>
            <a:pPr algn="l">
              <a:lnSpc>
                <a:spcPts val="4154"/>
              </a:lnSpc>
            </a:pPr>
            <a:r>
              <a:rPr lang="en-US" sz="2967">
                <a:solidFill>
                  <a:srgbClr val="000000"/>
                </a:solidFill>
                <a:latin typeface="Poppins"/>
                <a:ea typeface="Poppins"/>
                <a:cs typeface="Poppins"/>
                <a:sym typeface="Poppins"/>
              </a:rPr>
              <a:t>Train Data - Precision  : 0.5344</a:t>
            </a:r>
          </a:p>
          <a:p>
            <a:pPr algn="l">
              <a:lnSpc>
                <a:spcPts val="4154"/>
              </a:lnSpc>
            </a:pPr>
            <a:r>
              <a:rPr lang="en-US" sz="2967">
                <a:solidFill>
                  <a:srgbClr val="000000"/>
                </a:solidFill>
                <a:latin typeface="Poppins"/>
                <a:ea typeface="Poppins"/>
                <a:cs typeface="Poppins"/>
                <a:sym typeface="Poppins"/>
              </a:rPr>
              <a:t>Train Data - Recall  : 0.7588</a:t>
            </a:r>
          </a:p>
          <a:p>
            <a:pPr algn="l">
              <a:lnSpc>
                <a:spcPts val="4154"/>
              </a:lnSpc>
            </a:pPr>
            <a:r>
              <a:rPr lang="en-US" sz="2967">
                <a:solidFill>
                  <a:srgbClr val="000000"/>
                </a:solidFill>
                <a:latin typeface="Poppins"/>
                <a:ea typeface="Poppins"/>
                <a:cs typeface="Poppins"/>
                <a:sym typeface="Poppins"/>
              </a:rPr>
              <a:t>Train Data - F1 Score  : 0.6271</a:t>
            </a:r>
          </a:p>
          <a:p>
            <a:pPr algn="l">
              <a:lnSpc>
                <a:spcPts val="4154"/>
              </a:lnSpc>
            </a:pPr>
          </a:p>
          <a:p>
            <a:pPr algn="l">
              <a:lnSpc>
                <a:spcPts val="4154"/>
              </a:lnSpc>
            </a:pPr>
            <a:r>
              <a:rPr lang="en-US" sz="2967">
                <a:solidFill>
                  <a:srgbClr val="000000"/>
                </a:solidFill>
                <a:latin typeface="Poppins"/>
                <a:ea typeface="Poppins"/>
                <a:cs typeface="Poppins"/>
                <a:sym typeface="Poppins"/>
              </a:rPr>
              <a:t>Classification Accuracy in </a:t>
            </a:r>
            <a:r>
              <a:rPr lang="en-US" sz="2967">
                <a:solidFill>
                  <a:srgbClr val="FF3131"/>
                </a:solidFill>
                <a:latin typeface="Poppins"/>
                <a:ea typeface="Poppins"/>
                <a:cs typeface="Poppins"/>
                <a:sym typeface="Poppins"/>
              </a:rPr>
              <a:t>test </a:t>
            </a:r>
            <a:r>
              <a:rPr lang="en-US" sz="2967">
                <a:solidFill>
                  <a:srgbClr val="000000"/>
                </a:solidFill>
                <a:latin typeface="Poppins"/>
                <a:ea typeface="Poppins"/>
                <a:cs typeface="Poppins"/>
                <a:sym typeface="Poppins"/>
              </a:rPr>
              <a:t>data  : 0.3757</a:t>
            </a:r>
          </a:p>
          <a:p>
            <a:pPr algn="l">
              <a:lnSpc>
                <a:spcPts val="4154"/>
              </a:lnSpc>
            </a:pPr>
            <a:r>
              <a:rPr lang="en-US" sz="2967">
                <a:solidFill>
                  <a:srgbClr val="000000"/>
                </a:solidFill>
                <a:latin typeface="Poppins"/>
                <a:ea typeface="Poppins"/>
                <a:cs typeface="Poppins"/>
                <a:sym typeface="Poppins"/>
              </a:rPr>
              <a:t>Test Data - True Positive Rate  : 0.7580</a:t>
            </a:r>
          </a:p>
          <a:p>
            <a:pPr algn="l">
              <a:lnSpc>
                <a:spcPts val="4154"/>
              </a:lnSpc>
            </a:pPr>
            <a:r>
              <a:rPr lang="en-US" sz="2967">
                <a:solidFill>
                  <a:srgbClr val="000000"/>
                </a:solidFill>
                <a:latin typeface="Poppins"/>
                <a:ea typeface="Poppins"/>
                <a:cs typeface="Poppins"/>
                <a:sym typeface="Poppins"/>
              </a:rPr>
              <a:t>Test Data - False Positive Rate  : 0.6610</a:t>
            </a:r>
          </a:p>
          <a:p>
            <a:pPr algn="l">
              <a:lnSpc>
                <a:spcPts val="4154"/>
              </a:lnSpc>
            </a:pPr>
            <a:r>
              <a:rPr lang="en-US" sz="2967">
                <a:solidFill>
                  <a:srgbClr val="000000"/>
                </a:solidFill>
                <a:latin typeface="Poppins"/>
                <a:ea typeface="Poppins"/>
                <a:cs typeface="Poppins"/>
                <a:sym typeface="Poppins"/>
              </a:rPr>
              <a:t>Test Data - Precision  : 0.09929</a:t>
            </a:r>
          </a:p>
          <a:p>
            <a:pPr algn="l">
              <a:lnSpc>
                <a:spcPts val="4154"/>
              </a:lnSpc>
            </a:pPr>
            <a:r>
              <a:rPr lang="en-US" sz="2967">
                <a:solidFill>
                  <a:srgbClr val="000000"/>
                </a:solidFill>
                <a:latin typeface="Poppins"/>
                <a:ea typeface="Poppins"/>
                <a:cs typeface="Poppins"/>
                <a:sym typeface="Poppins"/>
              </a:rPr>
              <a:t>Test Data - Recall  : 0.7580</a:t>
            </a:r>
          </a:p>
          <a:p>
            <a:pPr algn="l">
              <a:lnSpc>
                <a:spcPts val="4154"/>
              </a:lnSpc>
            </a:pPr>
            <a:r>
              <a:rPr lang="en-US" sz="2967">
                <a:solidFill>
                  <a:srgbClr val="000000"/>
                </a:solidFill>
                <a:latin typeface="Poppins"/>
                <a:ea typeface="Poppins"/>
                <a:cs typeface="Poppins"/>
                <a:sym typeface="Poppins"/>
              </a:rPr>
              <a:t>Test Data - F1 Score  : 0.1756</a:t>
            </a:r>
          </a:p>
        </p:txBody>
      </p:sp>
      <p:sp>
        <p:nvSpPr>
          <p:cNvPr name="TextBox 4" id="4"/>
          <p:cNvSpPr txBox="true"/>
          <p:nvPr/>
        </p:nvSpPr>
        <p:spPr>
          <a:xfrm rot="0">
            <a:off x="822886" y="877556"/>
            <a:ext cx="13598082" cy="199580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INCOME_CATEGORY:</a:t>
            </a:r>
          </a:p>
          <a:p>
            <a:pPr algn="l">
              <a:lnSpc>
                <a:spcPts val="7700"/>
              </a:lnSpc>
            </a:pPr>
            <a:r>
              <a:rPr lang="en-US" sz="7700" b="true">
                <a:solidFill>
                  <a:srgbClr val="FF3131"/>
                </a:solidFill>
                <a:latin typeface="Inter Heavy"/>
                <a:ea typeface="Inter Heavy"/>
                <a:cs typeface="Inter Heavy"/>
                <a:sym typeface="Inter Heavy"/>
              </a:rPr>
              <a:t>ACTUAL TEST DATA</a:t>
            </a:r>
          </a:p>
        </p:txBody>
      </p:sp>
      <p:sp>
        <p:nvSpPr>
          <p:cNvPr name="TextBox 5" id="5"/>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
        <p:nvSpPr>
          <p:cNvPr name="Freeform 6" id="6"/>
          <p:cNvSpPr/>
          <p:nvPr/>
        </p:nvSpPr>
        <p:spPr>
          <a:xfrm flipH="false" flipV="false" rot="0">
            <a:off x="12496800" y="2682496"/>
            <a:ext cx="4762500" cy="3357562"/>
          </a:xfrm>
          <a:custGeom>
            <a:avLst/>
            <a:gdLst/>
            <a:ahLst/>
            <a:cxnLst/>
            <a:rect r="r" b="b" t="t" l="l"/>
            <a:pathLst>
              <a:path h="3357562" w="4762500">
                <a:moveTo>
                  <a:pt x="0" y="0"/>
                </a:moveTo>
                <a:lnTo>
                  <a:pt x="4762500" y="0"/>
                </a:lnTo>
                <a:lnTo>
                  <a:pt x="4762500" y="3357562"/>
                </a:lnTo>
                <a:lnTo>
                  <a:pt x="0" y="3357562"/>
                </a:lnTo>
                <a:lnTo>
                  <a:pt x="0" y="0"/>
                </a:lnTo>
                <a:close/>
              </a:path>
            </a:pathLst>
          </a:custGeom>
          <a:blipFill>
            <a:blip r:embed="rId4"/>
            <a:stretch>
              <a:fillRect l="0" t="0" r="0" b="0"/>
            </a:stretch>
          </a:blipFill>
        </p:spPr>
      </p:sp>
      <p:sp>
        <p:nvSpPr>
          <p:cNvPr name="Freeform 7" id="7"/>
          <p:cNvSpPr/>
          <p:nvPr/>
        </p:nvSpPr>
        <p:spPr>
          <a:xfrm flipH="false" flipV="false" rot="0">
            <a:off x="12496800" y="6370234"/>
            <a:ext cx="4762500" cy="3429000"/>
          </a:xfrm>
          <a:custGeom>
            <a:avLst/>
            <a:gdLst/>
            <a:ahLst/>
            <a:cxnLst/>
            <a:rect r="r" b="b" t="t" l="l"/>
            <a:pathLst>
              <a:path h="3429000" w="4762500">
                <a:moveTo>
                  <a:pt x="0" y="0"/>
                </a:moveTo>
                <a:lnTo>
                  <a:pt x="4762500" y="0"/>
                </a:lnTo>
                <a:lnTo>
                  <a:pt x="4762500" y="3429000"/>
                </a:lnTo>
                <a:lnTo>
                  <a:pt x="0" y="3429000"/>
                </a:lnTo>
                <a:lnTo>
                  <a:pt x="0" y="0"/>
                </a:lnTo>
                <a:close/>
              </a:path>
            </a:pathLst>
          </a:custGeom>
          <a:blipFill>
            <a:blip r:embed="rId5"/>
            <a:stretch>
              <a:fillRect l="0" t="0" r="0" b="0"/>
            </a:stretch>
          </a:blipFill>
        </p:spPr>
      </p:sp>
      <p:sp>
        <p:nvSpPr>
          <p:cNvPr name="Freeform 8" id="8"/>
          <p:cNvSpPr/>
          <p:nvPr/>
        </p:nvSpPr>
        <p:spPr>
          <a:xfrm flipH="false" flipV="false" rot="0">
            <a:off x="13468468" y="281549"/>
            <a:ext cx="1905000" cy="1941401"/>
          </a:xfrm>
          <a:custGeom>
            <a:avLst/>
            <a:gdLst/>
            <a:ahLst/>
            <a:cxnLst/>
            <a:rect r="r" b="b" t="t" l="l"/>
            <a:pathLst>
              <a:path h="1941401" w="1905000">
                <a:moveTo>
                  <a:pt x="0" y="0"/>
                </a:moveTo>
                <a:lnTo>
                  <a:pt x="1905000" y="0"/>
                </a:lnTo>
                <a:lnTo>
                  <a:pt x="1905000" y="1941402"/>
                </a:lnTo>
                <a:lnTo>
                  <a:pt x="0" y="19414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951174" y="916892"/>
            <a:ext cx="8453215" cy="8453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785959" y="916892"/>
            <a:ext cx="8453215" cy="84532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889225" y="1701761"/>
            <a:ext cx="1443312" cy="1599238"/>
          </a:xfrm>
          <a:custGeom>
            <a:avLst/>
            <a:gdLst/>
            <a:ahLst/>
            <a:cxnLst/>
            <a:rect r="r" b="b" t="t" l="l"/>
            <a:pathLst>
              <a:path h="1599238" w="1443312">
                <a:moveTo>
                  <a:pt x="0" y="0"/>
                </a:moveTo>
                <a:lnTo>
                  <a:pt x="1443312" y="0"/>
                </a:lnTo>
                <a:lnTo>
                  <a:pt x="1443312" y="1599238"/>
                </a:lnTo>
                <a:lnTo>
                  <a:pt x="0" y="15992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815988" y="7192770"/>
            <a:ext cx="1443312" cy="1599238"/>
          </a:xfrm>
          <a:custGeom>
            <a:avLst/>
            <a:gdLst/>
            <a:ahLst/>
            <a:cxnLst/>
            <a:rect r="r" b="b" t="t" l="l"/>
            <a:pathLst>
              <a:path h="1599238" w="1443312">
                <a:moveTo>
                  <a:pt x="0" y="0"/>
                </a:moveTo>
                <a:lnTo>
                  <a:pt x="1443312" y="0"/>
                </a:lnTo>
                <a:lnTo>
                  <a:pt x="1443312" y="1599237"/>
                </a:lnTo>
                <a:lnTo>
                  <a:pt x="0" y="15992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528166" y="8249945"/>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1" id="11"/>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2" id="12"/>
          <p:cNvSpPr txBox="true"/>
          <p:nvPr/>
        </p:nvSpPr>
        <p:spPr>
          <a:xfrm rot="0">
            <a:off x="3217776" y="1332925"/>
            <a:ext cx="11852448" cy="6995160"/>
          </a:xfrm>
          <a:prstGeom prst="rect">
            <a:avLst/>
          </a:prstGeom>
        </p:spPr>
        <p:txBody>
          <a:bodyPr anchor="t" rtlCol="false" tIns="0" lIns="0" bIns="0" rIns="0">
            <a:spAutoFit/>
          </a:bodyPr>
          <a:lstStyle/>
          <a:p>
            <a:pPr algn="ctr">
              <a:lnSpc>
                <a:spcPts val="10780"/>
              </a:lnSpc>
            </a:pPr>
            <a:r>
              <a:rPr lang="en-US" b="true" sz="7700">
                <a:solidFill>
                  <a:srgbClr val="6644A8"/>
                </a:solidFill>
                <a:latin typeface="Inter Bold"/>
                <a:ea typeface="Inter Bold"/>
                <a:cs typeface="Inter Bold"/>
                <a:sym typeface="Inter Bold"/>
              </a:rPr>
              <a:t>PERFORMANCE</a:t>
            </a:r>
          </a:p>
          <a:p>
            <a:pPr algn="l">
              <a:lnSpc>
                <a:spcPts val="5599"/>
              </a:lnSpc>
            </a:pPr>
          </a:p>
          <a:p>
            <a:pPr algn="l" marL="863588" indent="-431794" lvl="1">
              <a:lnSpc>
                <a:spcPts val="5599"/>
              </a:lnSpc>
              <a:buFont typeface="Arial"/>
              <a:buChar char="•"/>
            </a:pPr>
            <a:r>
              <a:rPr lang="en-US" sz="3999">
                <a:solidFill>
                  <a:srgbClr val="000000"/>
                </a:solidFill>
                <a:latin typeface="Helvetica Now"/>
                <a:ea typeface="Helvetica Now"/>
                <a:cs typeface="Helvetica Now"/>
                <a:sym typeface="Helvetica Now"/>
              </a:rPr>
              <a:t>F1 Score: 0.176</a:t>
            </a:r>
          </a:p>
          <a:p>
            <a:pPr algn="l" marL="863588" indent="-431794" lvl="1">
              <a:lnSpc>
                <a:spcPts val="5599"/>
              </a:lnSpc>
              <a:buFont typeface="Arial"/>
              <a:buChar char="•"/>
            </a:pPr>
            <a:r>
              <a:rPr lang="en-US" sz="3999">
                <a:solidFill>
                  <a:srgbClr val="000000"/>
                </a:solidFill>
                <a:latin typeface="Helvetica Now"/>
                <a:ea typeface="Helvetica Now"/>
                <a:cs typeface="Helvetica Now"/>
                <a:sym typeface="Helvetica Now"/>
              </a:rPr>
              <a:t>True Positive Rate: 75.8%</a:t>
            </a:r>
          </a:p>
          <a:p>
            <a:pPr algn="ctr">
              <a:lnSpc>
                <a:spcPts val="5599"/>
              </a:lnSpc>
            </a:pPr>
          </a:p>
          <a:p>
            <a:pPr algn="ctr">
              <a:lnSpc>
                <a:spcPts val="5599"/>
              </a:lnSpc>
              <a:spcBef>
                <a:spcPct val="0"/>
              </a:spcBef>
            </a:pPr>
            <a:r>
              <a:rPr lang="en-US" sz="3999">
                <a:solidFill>
                  <a:srgbClr val="000000"/>
                </a:solidFill>
                <a:latin typeface="Helvetica Now"/>
                <a:ea typeface="Helvetica Now"/>
                <a:cs typeface="Helvetica Now"/>
                <a:sym typeface="Helvetica Now"/>
              </a:rPr>
              <a:t>Income_Category</a:t>
            </a:r>
            <a:r>
              <a:rPr lang="en-US" sz="3999">
                <a:solidFill>
                  <a:srgbClr val="000000"/>
                </a:solidFill>
                <a:latin typeface="Helvetica Now"/>
                <a:ea typeface="Helvetica Now"/>
                <a:cs typeface="Helvetica Now"/>
                <a:sym typeface="Helvetica Now"/>
              </a:rPr>
              <a:t> showed consistent performance on the test</a:t>
            </a:r>
            <a:r>
              <a:rPr lang="en-US" sz="3999">
                <a:solidFill>
                  <a:srgbClr val="000000"/>
                </a:solidFill>
                <a:latin typeface="Helvetica Now"/>
                <a:ea typeface="Helvetica Now"/>
                <a:cs typeface="Helvetica Now"/>
                <a:sym typeface="Helvetica Now"/>
              </a:rPr>
              <a:t> set and remained the most effective single predictor for fraud detection, w</a:t>
            </a:r>
            <a:r>
              <a:rPr lang="en-US" sz="3999">
                <a:solidFill>
                  <a:srgbClr val="000000"/>
                </a:solidFill>
                <a:latin typeface="Helvetica Now"/>
                <a:ea typeface="Helvetica Now"/>
                <a:cs typeface="Helvetica Now"/>
                <a:sym typeface="Helvetica Now"/>
              </a:rPr>
              <a:t>ith</a:t>
            </a:r>
            <a:r>
              <a:rPr lang="en-US" sz="3999">
                <a:solidFill>
                  <a:srgbClr val="000000"/>
                </a:solidFill>
                <a:latin typeface="Helvetica Now"/>
                <a:ea typeface="Helvetica Now"/>
                <a:cs typeface="Helvetica Now"/>
                <a:sym typeface="Helvetica Now"/>
              </a:rPr>
              <a:t> a high recall and stable F1 score.</a:t>
            </a:r>
          </a:p>
        </p:txBody>
      </p:sp>
      <p:sp>
        <p:nvSpPr>
          <p:cNvPr name="TextBox 13" id="13"/>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17129" y="916892"/>
            <a:ext cx="8453215" cy="845321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981126"/>
            <a:ext cx="6660596" cy="666059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38888" t="0" r="-38888" b="0"/>
              </a:stretch>
            </a:blipFill>
            <a:ln w="209550" cap="sq">
              <a:solidFill>
                <a:srgbClr val="FFFFFF"/>
              </a:solidFill>
              <a:prstDash val="solid"/>
              <a:miter/>
            </a:ln>
          </p:spPr>
        </p:sp>
      </p:grpSp>
      <p:sp>
        <p:nvSpPr>
          <p:cNvPr name="Freeform 7" id="7"/>
          <p:cNvSpPr/>
          <p:nvPr/>
        </p:nvSpPr>
        <p:spPr>
          <a:xfrm flipH="false" flipV="false" rot="-5400000">
            <a:off x="6168022" y="838930"/>
            <a:ext cx="1443312" cy="1599238"/>
          </a:xfrm>
          <a:custGeom>
            <a:avLst/>
            <a:gdLst/>
            <a:ahLst/>
            <a:cxnLst/>
            <a:rect r="r" b="b" t="t" l="l"/>
            <a:pathLst>
              <a:path h="1599238" w="1443312">
                <a:moveTo>
                  <a:pt x="0" y="0"/>
                </a:moveTo>
                <a:lnTo>
                  <a:pt x="1443312" y="0"/>
                </a:lnTo>
                <a:lnTo>
                  <a:pt x="1443312" y="1599237"/>
                </a:lnTo>
                <a:lnTo>
                  <a:pt x="0" y="15992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6750411" y="1075945"/>
            <a:ext cx="508889" cy="1507820"/>
          </a:xfrm>
          <a:custGeom>
            <a:avLst/>
            <a:gdLst/>
            <a:ahLst/>
            <a:cxnLst/>
            <a:rect r="r" b="b" t="t" l="l"/>
            <a:pathLst>
              <a:path h="1507820" w="508889">
                <a:moveTo>
                  <a:pt x="0" y="0"/>
                </a:moveTo>
                <a:lnTo>
                  <a:pt x="508889" y="0"/>
                </a:lnTo>
                <a:lnTo>
                  <a:pt x="508889" y="1507821"/>
                </a:lnTo>
                <a:lnTo>
                  <a:pt x="0" y="150782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9" id="9"/>
          <p:cNvSpPr txBox="true"/>
          <p:nvPr/>
        </p:nvSpPr>
        <p:spPr>
          <a:xfrm rot="0">
            <a:off x="8445070" y="1171575"/>
            <a:ext cx="7883935" cy="1024256"/>
          </a:xfrm>
          <a:prstGeom prst="rect">
            <a:avLst/>
          </a:prstGeom>
        </p:spPr>
        <p:txBody>
          <a:bodyPr anchor="t" rtlCol="false" tIns="0" lIns="0" bIns="0" rIns="0">
            <a:spAutoFit/>
          </a:bodyPr>
          <a:lstStyle/>
          <a:p>
            <a:pPr algn="l">
              <a:lnSpc>
                <a:spcPts val="7700"/>
              </a:lnSpc>
            </a:pPr>
            <a:r>
              <a:rPr lang="en-US" sz="7700" b="true">
                <a:solidFill>
                  <a:srgbClr val="6644A8"/>
                </a:solidFill>
                <a:latin typeface="Inter Heavy"/>
                <a:ea typeface="Inter Heavy"/>
                <a:cs typeface="Inter Heavy"/>
                <a:sym typeface="Inter Heavy"/>
              </a:rPr>
              <a:t>CONCLUSION</a:t>
            </a:r>
          </a:p>
        </p:txBody>
      </p:sp>
      <p:sp>
        <p:nvSpPr>
          <p:cNvPr name="TextBox 10" id="10"/>
          <p:cNvSpPr txBox="true"/>
          <p:nvPr/>
        </p:nvSpPr>
        <p:spPr>
          <a:xfrm rot="0">
            <a:off x="8445070" y="2971800"/>
            <a:ext cx="8559785" cy="6286500"/>
          </a:xfrm>
          <a:prstGeom prst="rect">
            <a:avLst/>
          </a:prstGeom>
        </p:spPr>
        <p:txBody>
          <a:bodyPr anchor="t" rtlCol="false" tIns="0" lIns="0" bIns="0" rIns="0">
            <a:spAutoFit/>
          </a:bodyPr>
          <a:lstStyle/>
          <a:p>
            <a:pPr algn="just" marL="647697" indent="-323848" lvl="1">
              <a:lnSpc>
                <a:spcPts val="4199"/>
              </a:lnSpc>
              <a:buAutoNum type="arabicPeriod" startAt="1"/>
            </a:pPr>
            <a:r>
              <a:rPr lang="en-US" sz="2999">
                <a:solidFill>
                  <a:srgbClr val="000000"/>
                </a:solidFill>
                <a:latin typeface="Poppins"/>
                <a:ea typeface="Poppins"/>
                <a:cs typeface="Poppins"/>
                <a:sym typeface="Poppins"/>
              </a:rPr>
              <a:t>It is clear to use that out of all the different Prediction models we've used, we have found that </a:t>
            </a:r>
            <a:r>
              <a:rPr lang="en-US" sz="2999">
                <a:solidFill>
                  <a:srgbClr val="FF3131"/>
                </a:solidFill>
                <a:latin typeface="Poppins"/>
                <a:ea typeface="Poppins"/>
                <a:cs typeface="Poppins"/>
                <a:sym typeface="Poppins"/>
              </a:rPr>
              <a:t>Random Forest Classification</a:t>
            </a:r>
            <a:r>
              <a:rPr lang="en-US" sz="2999">
                <a:solidFill>
                  <a:srgbClr val="000000"/>
                </a:solidFill>
                <a:latin typeface="Poppins"/>
                <a:ea typeface="Poppins"/>
                <a:cs typeface="Poppins"/>
                <a:sym typeface="Poppins"/>
              </a:rPr>
              <a:t> method has the highest accuracy for predicting fraud in our data set.</a:t>
            </a:r>
          </a:p>
          <a:p>
            <a:pPr algn="just" marL="647697" indent="-323848" lvl="1">
              <a:lnSpc>
                <a:spcPts val="4199"/>
              </a:lnSpc>
              <a:buAutoNum type="arabicPeriod" startAt="1"/>
            </a:pPr>
            <a:r>
              <a:rPr lang="en-US" sz="2999">
                <a:solidFill>
                  <a:srgbClr val="000000"/>
                </a:solidFill>
                <a:latin typeface="Poppins"/>
                <a:ea typeface="Poppins"/>
                <a:cs typeface="Poppins"/>
                <a:sym typeface="Poppins"/>
              </a:rPr>
              <a:t>We have also found that 3 predictors played an impactful part in the predictions, which are Gender, Income_Category and Customer_Age. With </a:t>
            </a:r>
            <a:r>
              <a:rPr lang="en-US" sz="2999">
                <a:solidFill>
                  <a:srgbClr val="FF3131"/>
                </a:solidFill>
                <a:latin typeface="Poppins"/>
                <a:ea typeface="Poppins"/>
                <a:cs typeface="Poppins"/>
                <a:sym typeface="Poppins"/>
              </a:rPr>
              <a:t>Income_Category</a:t>
            </a:r>
            <a:r>
              <a:rPr lang="en-US" sz="2999">
                <a:solidFill>
                  <a:srgbClr val="000000"/>
                </a:solidFill>
                <a:latin typeface="Poppins"/>
                <a:ea typeface="Poppins"/>
                <a:cs typeface="Poppins"/>
                <a:sym typeface="Poppins"/>
              </a:rPr>
              <a:t> being the best predictor out of the 3.</a:t>
            </a:r>
          </a:p>
        </p:txBody>
      </p:sp>
      <p:sp>
        <p:nvSpPr>
          <p:cNvPr name="TextBox 11" id="11"/>
          <p:cNvSpPr txBox="true"/>
          <p:nvPr/>
        </p:nvSpPr>
        <p:spPr>
          <a:xfrm rot="0">
            <a:off x="142875" y="114300"/>
            <a:ext cx="778550" cy="330200"/>
          </a:xfrm>
          <a:prstGeom prst="rect">
            <a:avLst/>
          </a:prstGeom>
        </p:spPr>
        <p:txBody>
          <a:bodyPr anchor="t" rtlCol="false" tIns="0" lIns="0" bIns="0" rIns="0">
            <a:spAutoFit/>
          </a:bodyPr>
          <a:lstStyle/>
          <a:p>
            <a:pPr algn="ctr">
              <a:lnSpc>
                <a:spcPts val="2799"/>
              </a:lnSpc>
              <a:spcBef>
                <a:spcPct val="0"/>
              </a:spcBef>
            </a:pPr>
            <a:r>
              <a:rPr lang="en-US" sz="1999">
                <a:solidFill>
                  <a:srgbClr val="000000"/>
                </a:solidFill>
                <a:latin typeface="Helvetica Now"/>
                <a:ea typeface="Helvetica Now"/>
                <a:cs typeface="Helvetica Now"/>
                <a:sym typeface="Helvetica Now"/>
              </a:rPr>
              <a:t>Regan</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0918" y="1525253"/>
            <a:ext cx="19329836" cy="3618247"/>
            <a:chOff x="0" y="0"/>
            <a:chExt cx="5090986" cy="952954"/>
          </a:xfrm>
        </p:grpSpPr>
        <p:sp>
          <p:nvSpPr>
            <p:cNvPr name="Freeform 3" id="3"/>
            <p:cNvSpPr/>
            <p:nvPr/>
          </p:nvSpPr>
          <p:spPr>
            <a:xfrm flipH="false" flipV="false" rot="0">
              <a:off x="0" y="0"/>
              <a:ext cx="5090986" cy="952954"/>
            </a:xfrm>
            <a:custGeom>
              <a:avLst/>
              <a:gdLst/>
              <a:ahLst/>
              <a:cxnLst/>
              <a:rect r="r" b="b" t="t" l="l"/>
              <a:pathLst>
                <a:path h="952954" w="5090986">
                  <a:moveTo>
                    <a:pt x="0" y="0"/>
                  </a:moveTo>
                  <a:lnTo>
                    <a:pt x="5090986" y="0"/>
                  </a:lnTo>
                  <a:lnTo>
                    <a:pt x="5090986" y="952954"/>
                  </a:lnTo>
                  <a:lnTo>
                    <a:pt x="0" y="952954"/>
                  </a:lnTo>
                  <a:close/>
                </a:path>
              </a:pathLst>
            </a:custGeom>
            <a:solidFill>
              <a:srgbClr val="F7F5FF"/>
            </a:solidFill>
          </p:spPr>
        </p:sp>
        <p:sp>
          <p:nvSpPr>
            <p:cNvPr name="TextBox 4" id="4"/>
            <p:cNvSpPr txBox="true"/>
            <p:nvPr/>
          </p:nvSpPr>
          <p:spPr>
            <a:xfrm>
              <a:off x="0" y="-38100"/>
              <a:ext cx="5090986" cy="99105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533579" y="732930"/>
            <a:ext cx="6127478" cy="612747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694101" y="732930"/>
            <a:ext cx="6127478" cy="612747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5963442" y="732930"/>
            <a:ext cx="6361116" cy="5780664"/>
          </a:xfrm>
          <a:custGeom>
            <a:avLst/>
            <a:gdLst/>
            <a:ahLst/>
            <a:cxnLst/>
            <a:rect r="r" b="b" t="t" l="l"/>
            <a:pathLst>
              <a:path h="5780664" w="6361116">
                <a:moveTo>
                  <a:pt x="0" y="0"/>
                </a:moveTo>
                <a:lnTo>
                  <a:pt x="6361116" y="0"/>
                </a:lnTo>
                <a:lnTo>
                  <a:pt x="6361116" y="5780664"/>
                </a:lnTo>
                <a:lnTo>
                  <a:pt x="0" y="5780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073966" y="7245594"/>
            <a:ext cx="12140068" cy="1214723"/>
          </a:xfrm>
          <a:prstGeom prst="rect">
            <a:avLst/>
          </a:prstGeom>
        </p:spPr>
        <p:txBody>
          <a:bodyPr anchor="t" rtlCol="false" tIns="0" lIns="0" bIns="0" rIns="0">
            <a:spAutoFit/>
          </a:bodyPr>
          <a:lstStyle/>
          <a:p>
            <a:pPr algn="ctr">
              <a:lnSpc>
                <a:spcPts val="9200"/>
              </a:lnSpc>
            </a:pPr>
            <a:r>
              <a:rPr lang="en-US" b="true" sz="9200">
                <a:solidFill>
                  <a:srgbClr val="6644A8"/>
                </a:solidFill>
                <a:latin typeface="Inter Heavy"/>
                <a:ea typeface="Inter Heavy"/>
                <a:cs typeface="Inter Heavy"/>
                <a:sym typeface="Inter Heavy"/>
              </a:rPr>
              <a:t>THANK YOU</a:t>
            </a:r>
          </a:p>
        </p:txBody>
      </p:sp>
      <p:sp>
        <p:nvSpPr>
          <p:cNvPr name="Freeform 13" id="13"/>
          <p:cNvSpPr/>
          <p:nvPr/>
        </p:nvSpPr>
        <p:spPr>
          <a:xfrm flipH="false" flipV="false" rot="0">
            <a:off x="15497330" y="8660342"/>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4" id="14"/>
          <p:cNvSpPr/>
          <p:nvPr/>
        </p:nvSpPr>
        <p:spPr>
          <a:xfrm flipH="true" flipV="false" rot="0">
            <a:off x="1028700" y="8660342"/>
            <a:ext cx="1761970" cy="447100"/>
          </a:xfrm>
          <a:custGeom>
            <a:avLst/>
            <a:gdLst/>
            <a:ahLst/>
            <a:cxnLst/>
            <a:rect r="r" b="b" t="t" l="l"/>
            <a:pathLst>
              <a:path h="447100" w="1761970">
                <a:moveTo>
                  <a:pt x="1761970" y="0"/>
                </a:moveTo>
                <a:lnTo>
                  <a:pt x="0" y="0"/>
                </a:lnTo>
                <a:lnTo>
                  <a:pt x="0" y="447100"/>
                </a:lnTo>
                <a:lnTo>
                  <a:pt x="1761970" y="447100"/>
                </a:lnTo>
                <a:lnTo>
                  <a:pt x="176197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18120" y="746125"/>
            <a:ext cx="6451759" cy="660400"/>
          </a:xfrm>
          <a:prstGeom prst="rect">
            <a:avLst/>
          </a:prstGeom>
        </p:spPr>
        <p:txBody>
          <a:bodyPr anchor="t" rtlCol="false" tIns="0" lIns="0" bIns="0" rIns="0">
            <a:spAutoFit/>
          </a:bodyPr>
          <a:lstStyle/>
          <a:p>
            <a:pPr algn="ctr">
              <a:lnSpc>
                <a:spcPts val="5000"/>
              </a:lnSpc>
              <a:spcBef>
                <a:spcPct val="0"/>
              </a:spcBef>
            </a:pPr>
            <a:r>
              <a:rPr lang="en-US" b="true" sz="5000">
                <a:solidFill>
                  <a:srgbClr val="6644A8"/>
                </a:solidFill>
                <a:latin typeface="Inter Heavy"/>
                <a:ea typeface="Inter Heavy"/>
                <a:cs typeface="Inter Heavy"/>
                <a:sym typeface="Inter Heavy"/>
              </a:rPr>
              <a:t>TASK DISTRIBUTION</a:t>
            </a:r>
          </a:p>
        </p:txBody>
      </p:sp>
      <p:grpSp>
        <p:nvGrpSpPr>
          <p:cNvPr name="Group 3" id="3"/>
          <p:cNvGrpSpPr/>
          <p:nvPr/>
        </p:nvGrpSpPr>
        <p:grpSpPr>
          <a:xfrm rot="0">
            <a:off x="-5951174" y="916892"/>
            <a:ext cx="8453215" cy="845321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785959" y="916892"/>
            <a:ext cx="8453215" cy="84532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C3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497330" y="1028700"/>
            <a:ext cx="1761970" cy="447100"/>
          </a:xfrm>
          <a:custGeom>
            <a:avLst/>
            <a:gdLst/>
            <a:ahLst/>
            <a:cxnLst/>
            <a:rect r="r" b="b" t="t" l="l"/>
            <a:pathLst>
              <a:path h="447100" w="1761970">
                <a:moveTo>
                  <a:pt x="0" y="0"/>
                </a:moveTo>
                <a:lnTo>
                  <a:pt x="1761970" y="0"/>
                </a:lnTo>
                <a:lnTo>
                  <a:pt x="1761970" y="447100"/>
                </a:lnTo>
                <a:lnTo>
                  <a:pt x="0" y="447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aphicFrame>
        <p:nvGraphicFramePr>
          <p:cNvPr name="Table 10" id="10"/>
          <p:cNvGraphicFramePr>
            <a:graphicFrameLocks noGrp="true"/>
          </p:cNvGraphicFramePr>
          <p:nvPr/>
        </p:nvGraphicFramePr>
        <p:xfrm>
          <a:off x="1028700" y="1406525"/>
          <a:ext cx="16230600" cy="8277795"/>
        </p:xfrm>
        <a:graphic>
          <a:graphicData uri="http://schemas.openxmlformats.org/drawingml/2006/table">
            <a:tbl>
              <a:tblPr/>
              <a:tblGrid>
                <a:gridCol w="5410200"/>
                <a:gridCol w="5410200"/>
                <a:gridCol w="5410200"/>
              </a:tblGrid>
              <a:tr h="1397908">
                <a:tc>
                  <a:txBody>
                    <a:bodyPr anchor="t" rtlCol="false"/>
                    <a:lstStyle/>
                    <a:p>
                      <a:pPr algn="ctr">
                        <a:lnSpc>
                          <a:spcPts val="4199"/>
                        </a:lnSpc>
                        <a:defRPr/>
                      </a:pPr>
                      <a:r>
                        <a:rPr lang="en-US" sz="2999" b="true">
                          <a:solidFill>
                            <a:srgbClr val="000000"/>
                          </a:solidFill>
                          <a:latin typeface="Helvetica Now Bold"/>
                          <a:ea typeface="Helvetica Now Bold"/>
                          <a:cs typeface="Helvetica Now Bold"/>
                          <a:sym typeface="Helvetica Now Bold"/>
                        </a:rPr>
                        <a:t>Main Task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BBE4"/>
                    </a:solidFill>
                  </a:tcPr>
                </a:tc>
                <a:tc>
                  <a:txBody>
                    <a:bodyPr anchor="t" rtlCol="false"/>
                    <a:lstStyle/>
                    <a:p>
                      <a:pPr algn="ctr">
                        <a:lnSpc>
                          <a:spcPts val="4199"/>
                        </a:lnSpc>
                        <a:defRPr/>
                      </a:pPr>
                      <a:r>
                        <a:rPr lang="en-US" sz="2999" b="true">
                          <a:solidFill>
                            <a:srgbClr val="000000"/>
                          </a:solidFill>
                          <a:latin typeface="Helvetica Now Bold"/>
                          <a:ea typeface="Helvetica Now Bold"/>
                          <a:cs typeface="Helvetica Now Bold"/>
                          <a:sym typeface="Helvetica Now Bold"/>
                        </a:rPr>
                        <a:t>Assigned To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BBE4"/>
                    </a:solidFill>
                  </a:tcPr>
                </a:tc>
                <a:tc>
                  <a:txBody>
                    <a:bodyPr anchor="t" rtlCol="false"/>
                    <a:lstStyle/>
                    <a:p>
                      <a:pPr algn="ctr">
                        <a:lnSpc>
                          <a:spcPts val="4199"/>
                        </a:lnSpc>
                        <a:defRPr/>
                      </a:pPr>
                      <a:r>
                        <a:rPr lang="en-US" sz="2999" b="true">
                          <a:solidFill>
                            <a:srgbClr val="000000"/>
                          </a:solidFill>
                          <a:latin typeface="Helvetica Now Bold"/>
                          <a:ea typeface="Helvetica Now Bold"/>
                          <a:cs typeface="Helvetica Now Bold"/>
                          <a:sym typeface="Helvetica Now Bold"/>
                        </a:rPr>
                        <a:t>Metric Number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99BBE4"/>
                    </a:solidFill>
                  </a:tcPr>
                </a:tc>
              </a:tr>
              <a:tr h="1578892">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Data Preparation &amp; Visualization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Khoo Ze Hou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U2321831K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r>
              <a:tr h="1578892">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Model Selection (Classification)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Su Kai Cheng, Joseph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U2422890F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r>
              <a:tr h="1710160">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Model Selection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Suhanesh Balakrishnan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U2322386F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r>
              <a:tr h="2011943">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Individual Predictor &amp; Conclusion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Chew Chern Wei, Regan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c>
                  <a:txBody>
                    <a:bodyPr anchor="t" rtlCol="false"/>
                    <a:lstStyle/>
                    <a:p>
                      <a:pPr algn="ctr">
                        <a:lnSpc>
                          <a:spcPts val="4199"/>
                        </a:lnSpc>
                        <a:defRPr/>
                      </a:pPr>
                      <a:r>
                        <a:rPr lang="en-US" sz="2999">
                          <a:solidFill>
                            <a:srgbClr val="000000"/>
                          </a:solidFill>
                          <a:latin typeface="Helvetica Now"/>
                          <a:ea typeface="Helvetica Now"/>
                          <a:cs typeface="Helvetica Now"/>
                          <a:sym typeface="Helvetica Now"/>
                        </a:rPr>
                        <a:t>U2321414K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FB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DAGjvEko5sY</dc:identifier>
  <dcterms:modified xsi:type="dcterms:W3CDTF">2011-08-01T06:04:30Z</dcterms:modified>
  <cp:revision>1</cp:revision>
  <dc:title>MA0218: Mini Project Presentation</dc:title>
</cp:coreProperties>
</file>